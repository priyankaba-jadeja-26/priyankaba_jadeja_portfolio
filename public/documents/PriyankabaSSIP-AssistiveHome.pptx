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94610"/>
  </p:normalViewPr>
  <p:slideViewPr>
    <p:cSldViewPr snapToGrid="0" snapToObjects="1">
      <p:cViewPr varScale="1">
        <p:scale>
          <a:sx n="109" d="100"/>
          <a:sy n="109" d="100"/>
        </p:scale>
        <p:origin x="97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6364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554"/>
        </a:solidFill>
        <a:effectLst/>
      </p:bgPr>
    </p:bg>
    <p:spTree>
      <p:nvGrpSpPr>
        <p:cNvPr id="1" name=""/>
        <p:cNvGrpSpPr/>
        <p:nvPr/>
      </p:nvGrpSpPr>
      <p:grpSpPr>
        <a:xfrm>
          <a:off x="0" y="0"/>
          <a:ext cx="0" cy="0"/>
          <a:chOff x="0" y="0"/>
          <a:chExt cx="0" cy="0"/>
        </a:xfrm>
      </p:grpSpPr>
      <p:sp>
        <p:nvSpPr>
          <p:cNvPr id="2" name="Shape 0"/>
          <p:cNvSpPr/>
          <p:nvPr/>
        </p:nvSpPr>
        <p:spPr>
          <a:xfrm>
            <a:off x="0" y="0"/>
            <a:ext cx="5394960" cy="5143500"/>
          </a:xfrm>
          <a:prstGeom prst="rect">
            <a:avLst/>
          </a:prstGeom>
          <a:solidFill>
            <a:srgbClr val="0A1145"/>
          </a:solidFill>
          <a:ln w="12700">
            <a:solidFill>
              <a:srgbClr val="0A1145"/>
            </a:solidFill>
            <a:prstDash val="solid"/>
          </a:ln>
        </p:spPr>
      </p:sp>
      <p:sp>
        <p:nvSpPr>
          <p:cNvPr id="3" name="Shape 1"/>
          <p:cNvSpPr/>
          <p:nvPr/>
        </p:nvSpPr>
        <p:spPr>
          <a:xfrm>
            <a:off x="0" y="0"/>
            <a:ext cx="73152" cy="5143500"/>
          </a:xfrm>
          <a:prstGeom prst="rect">
            <a:avLst/>
          </a:prstGeom>
          <a:solidFill>
            <a:srgbClr val="00E5FF"/>
          </a:solidFill>
          <a:ln w="12700">
            <a:solidFill>
              <a:srgbClr val="00E5FF"/>
            </a:solidFill>
            <a:prstDash val="solid"/>
          </a:ln>
        </p:spPr>
      </p:sp>
      <p:sp>
        <p:nvSpPr>
          <p:cNvPr id="4" name="Shape 2"/>
          <p:cNvSpPr/>
          <p:nvPr/>
        </p:nvSpPr>
        <p:spPr>
          <a:xfrm>
            <a:off x="347472" y="292608"/>
            <a:ext cx="1828800" cy="301752"/>
          </a:xfrm>
          <a:prstGeom prst="rect">
            <a:avLst/>
          </a:prstGeom>
          <a:solidFill>
            <a:srgbClr val="00BCD4"/>
          </a:solidFill>
          <a:ln w="12700">
            <a:solidFill>
              <a:srgbClr val="00BCD4"/>
            </a:solidFill>
            <a:prstDash val="solid"/>
          </a:ln>
        </p:spPr>
      </p:sp>
      <p:sp>
        <p:nvSpPr>
          <p:cNvPr id="5" name="Text 3"/>
          <p:cNvSpPr/>
          <p:nvPr/>
        </p:nvSpPr>
        <p:spPr>
          <a:xfrm>
            <a:off x="347472" y="292608"/>
            <a:ext cx="1828800" cy="301752"/>
          </a:xfrm>
          <a:prstGeom prst="rect">
            <a:avLst/>
          </a:prstGeom>
          <a:noFill/>
          <a:ln/>
        </p:spPr>
        <p:txBody>
          <a:bodyPr wrap="square" lIns="0" tIns="0" rIns="0" bIns="0" rtlCol="0" anchor="ctr"/>
          <a:lstStyle/>
          <a:p>
            <a:pPr marL="0" indent="0" algn="ctr">
              <a:buNone/>
            </a:pPr>
            <a:r>
              <a:rPr lang="en-US" sz="750" b="1" dirty="0">
                <a:solidFill>
                  <a:srgbClr val="FFFFFF"/>
                </a:solidFill>
                <a:latin typeface="Nunito" pitchFamily="34" charset="0"/>
                <a:ea typeface="Nunito" pitchFamily="34" charset="-122"/>
                <a:cs typeface="Nunito" pitchFamily="34" charset="-120"/>
              </a:rPr>
              <a:t>SSIP RESEARCH PROPOSAL</a:t>
            </a:r>
            <a:endParaRPr lang="en-US" sz="750" dirty="0"/>
          </a:p>
        </p:txBody>
      </p:sp>
      <p:sp>
        <p:nvSpPr>
          <p:cNvPr id="6" name="Text 4"/>
          <p:cNvSpPr/>
          <p:nvPr/>
        </p:nvSpPr>
        <p:spPr>
          <a:xfrm>
            <a:off x="347472" y="685800"/>
            <a:ext cx="548640" cy="274320"/>
          </a:xfrm>
          <a:prstGeom prst="rect">
            <a:avLst/>
          </a:prstGeom>
          <a:noFill/>
          <a:ln/>
        </p:spPr>
        <p:txBody>
          <a:bodyPr wrap="square" lIns="0" tIns="0" rIns="0" bIns="0" rtlCol="0" anchor="ctr"/>
          <a:lstStyle/>
          <a:p>
            <a:pPr marL="0" indent="0">
              <a:buNone/>
            </a:pPr>
            <a:r>
              <a:rPr lang="en-US" sz="1100" b="1" dirty="0">
                <a:solidFill>
                  <a:srgbClr val="00E5FF"/>
                </a:solidFill>
                <a:latin typeface="Nunito" pitchFamily="34" charset="0"/>
                <a:ea typeface="Nunito" pitchFamily="34" charset="-122"/>
                <a:cs typeface="Nunito" pitchFamily="34" charset="-120"/>
              </a:rPr>
              <a:t>01.</a:t>
            </a:r>
            <a:endParaRPr lang="en-US" sz="1100" dirty="0"/>
          </a:p>
        </p:txBody>
      </p:sp>
      <p:sp>
        <p:nvSpPr>
          <p:cNvPr id="7" name="Text 5"/>
          <p:cNvSpPr/>
          <p:nvPr/>
        </p:nvSpPr>
        <p:spPr>
          <a:xfrm>
            <a:off x="347472" y="960120"/>
            <a:ext cx="4892040" cy="1828800"/>
          </a:xfrm>
          <a:prstGeom prst="rect">
            <a:avLst/>
          </a:prstGeom>
          <a:noFill/>
          <a:ln/>
        </p:spPr>
        <p:txBody>
          <a:bodyPr wrap="square" lIns="0" tIns="0" rIns="0" bIns="0" rtlCol="0" anchor="ctr"/>
          <a:lstStyle/>
          <a:p>
            <a:pPr marL="0" indent="0">
              <a:buNone/>
            </a:pPr>
            <a:r>
              <a:rPr lang="en-US" sz="2800" b="1" dirty="0">
                <a:solidFill>
                  <a:srgbClr val="FFFFFF"/>
                </a:solidFill>
                <a:latin typeface="Nunito" pitchFamily="34" charset="0"/>
                <a:ea typeface="Nunito" pitchFamily="34" charset="-122"/>
                <a:cs typeface="Nunito" pitchFamily="34" charset="-120"/>
              </a:rPr>
              <a:t>AI &amp; IoT-Based Brain-Controlled</a:t>
            </a:r>
            <a:endParaRPr lang="en-US" sz="2800" dirty="0"/>
          </a:p>
          <a:p>
            <a:pPr marL="0" indent="0">
              <a:buNone/>
            </a:pPr>
            <a:r>
              <a:rPr lang="en-US" sz="2800" b="1" dirty="0">
                <a:solidFill>
                  <a:srgbClr val="FFFFFF"/>
                </a:solidFill>
                <a:latin typeface="Nunito" pitchFamily="34" charset="0"/>
                <a:ea typeface="Nunito" pitchFamily="34" charset="-122"/>
                <a:cs typeface="Nunito" pitchFamily="34" charset="-120"/>
              </a:rPr>
              <a:t>Assistive Home System</a:t>
            </a:r>
            <a:endParaRPr lang="en-US" sz="2800" dirty="0"/>
          </a:p>
        </p:txBody>
      </p:sp>
      <p:sp>
        <p:nvSpPr>
          <p:cNvPr id="8" name="Shape 6"/>
          <p:cNvSpPr/>
          <p:nvPr/>
        </p:nvSpPr>
        <p:spPr>
          <a:xfrm>
            <a:off x="347472" y="2834640"/>
            <a:ext cx="3200400" cy="36576"/>
          </a:xfrm>
          <a:prstGeom prst="rect">
            <a:avLst/>
          </a:prstGeom>
          <a:solidFill>
            <a:srgbClr val="00E5FF"/>
          </a:solidFill>
          <a:ln w="12700">
            <a:solidFill>
              <a:srgbClr val="00E5FF"/>
            </a:solidFill>
            <a:prstDash val="solid"/>
          </a:ln>
        </p:spPr>
      </p:sp>
      <p:sp>
        <p:nvSpPr>
          <p:cNvPr id="9" name="Text 7"/>
          <p:cNvSpPr/>
          <p:nvPr/>
        </p:nvSpPr>
        <p:spPr>
          <a:xfrm>
            <a:off x="347472" y="2926080"/>
            <a:ext cx="4892040" cy="640080"/>
          </a:xfrm>
          <a:prstGeom prst="rect">
            <a:avLst/>
          </a:prstGeom>
          <a:noFill/>
          <a:ln/>
        </p:spPr>
        <p:txBody>
          <a:bodyPr wrap="square" lIns="0" tIns="0" rIns="0" bIns="0" rtlCol="0" anchor="ctr"/>
          <a:lstStyle/>
          <a:p>
            <a:pPr marL="0" indent="0">
              <a:buNone/>
            </a:pPr>
            <a:r>
              <a:rPr lang="en-US" sz="1200" dirty="0">
                <a:solidFill>
                  <a:srgbClr val="B0BEC5"/>
                </a:solidFill>
                <a:latin typeface="Calibri" pitchFamily="34" charset="0"/>
                <a:ea typeface="Calibri" pitchFamily="34" charset="-122"/>
                <a:cs typeface="Calibri" pitchFamily="34" charset="-120"/>
              </a:rPr>
              <a:t>A System Built to Transform Neural Signals</a:t>
            </a:r>
            <a:endParaRPr lang="en-US" sz="1200" dirty="0"/>
          </a:p>
          <a:p>
            <a:pPr marL="0" indent="0">
              <a:buNone/>
            </a:pPr>
            <a:r>
              <a:rPr lang="en-US" sz="1200" dirty="0">
                <a:solidFill>
                  <a:srgbClr val="B0BEC5"/>
                </a:solidFill>
                <a:latin typeface="Calibri" pitchFamily="34" charset="0"/>
                <a:ea typeface="Calibri" pitchFamily="34" charset="-122"/>
                <a:cs typeface="Calibri" pitchFamily="34" charset="-120"/>
              </a:rPr>
              <a:t>into Intelligent Assistive Living.</a:t>
            </a:r>
            <a:endParaRPr lang="en-US" sz="1200" dirty="0"/>
          </a:p>
        </p:txBody>
      </p:sp>
      <p:sp>
        <p:nvSpPr>
          <p:cNvPr id="10" name="Shape 8"/>
          <p:cNvSpPr/>
          <p:nvPr/>
        </p:nvSpPr>
        <p:spPr>
          <a:xfrm>
            <a:off x="347472" y="3657600"/>
            <a:ext cx="4892040" cy="1005840"/>
          </a:xfrm>
          <a:prstGeom prst="rect">
            <a:avLst/>
          </a:prstGeom>
          <a:solidFill>
            <a:srgbClr val="1A237E"/>
          </a:solidFill>
          <a:ln w="12700">
            <a:solidFill>
              <a:srgbClr val="1A237E"/>
            </a:solidFill>
            <a:prstDash val="solid"/>
          </a:ln>
        </p:spPr>
      </p:sp>
      <p:sp>
        <p:nvSpPr>
          <p:cNvPr id="11" name="Shape 9"/>
          <p:cNvSpPr/>
          <p:nvPr/>
        </p:nvSpPr>
        <p:spPr>
          <a:xfrm>
            <a:off x="347472" y="3657600"/>
            <a:ext cx="4892040" cy="54864"/>
          </a:xfrm>
          <a:prstGeom prst="rect">
            <a:avLst/>
          </a:prstGeom>
          <a:solidFill>
            <a:srgbClr val="00BCD4"/>
          </a:solidFill>
          <a:ln w="12700">
            <a:solidFill>
              <a:srgbClr val="00BCD4"/>
            </a:solidFill>
            <a:prstDash val="solid"/>
          </a:ln>
        </p:spPr>
      </p:sp>
      <p:sp>
        <p:nvSpPr>
          <p:cNvPr id="12" name="Text 10"/>
          <p:cNvSpPr/>
          <p:nvPr/>
        </p:nvSpPr>
        <p:spPr>
          <a:xfrm>
            <a:off x="502920" y="3794760"/>
            <a:ext cx="4572000" cy="274320"/>
          </a:xfrm>
          <a:prstGeom prst="rect">
            <a:avLst/>
          </a:prstGeom>
          <a:noFill/>
          <a:ln/>
        </p:spPr>
        <p:txBody>
          <a:bodyPr wrap="square" lIns="0" tIns="0" rIns="0" bIns="0" rtlCol="0" anchor="ctr"/>
          <a:lstStyle/>
          <a:p>
            <a:pPr marL="0" indent="0">
              <a:buNone/>
            </a:pPr>
            <a:r>
              <a:rPr lang="en-US" sz="900" b="1" dirty="0">
                <a:solidFill>
                  <a:srgbClr val="00E5FF"/>
                </a:solidFill>
              </a:rPr>
              <a:t>Presented by: </a:t>
            </a:r>
            <a:r>
              <a:rPr lang="en-US" sz="900" dirty="0">
                <a:solidFill>
                  <a:srgbClr val="FFFFFF"/>
                </a:solidFill>
              </a:rPr>
              <a:t>Priyankaba P. Jadeja</a:t>
            </a:r>
            <a:r>
              <a:rPr lang="en-US" sz="850" dirty="0">
                <a:solidFill>
                  <a:srgbClr val="B0BEC5"/>
                </a:solidFill>
              </a:rPr>
              <a:t>   |   MSc (CA &amp; IT), Sem 4   |   KSKV Kachchh University, Bhuj</a:t>
            </a:r>
            <a:endParaRPr lang="en-US" sz="900" dirty="0"/>
          </a:p>
        </p:txBody>
      </p:sp>
      <p:sp>
        <p:nvSpPr>
          <p:cNvPr id="13" name="Text 11"/>
          <p:cNvSpPr/>
          <p:nvPr/>
        </p:nvSpPr>
        <p:spPr>
          <a:xfrm>
            <a:off x="502920" y="4114800"/>
            <a:ext cx="4572000" cy="274320"/>
          </a:xfrm>
          <a:prstGeom prst="rect">
            <a:avLst/>
          </a:prstGeom>
          <a:noFill/>
          <a:ln/>
        </p:spPr>
        <p:txBody>
          <a:bodyPr wrap="square" lIns="0" tIns="0" rIns="0" bIns="0" rtlCol="0" anchor="ctr"/>
          <a:lstStyle/>
          <a:p>
            <a:pPr marL="0" indent="0">
              <a:buNone/>
            </a:pPr>
            <a:r>
              <a:rPr lang="en-US" sz="900" b="1" dirty="0">
                <a:solidFill>
                  <a:srgbClr val="00E5FF"/>
                </a:solidFill>
              </a:rPr>
              <a:t>Mentor: </a:t>
            </a:r>
            <a:r>
              <a:rPr lang="en-US" sz="900" dirty="0">
                <a:solidFill>
                  <a:srgbClr val="FFFFFF"/>
                </a:solidFill>
              </a:rPr>
              <a:t>Dr. Mahesh D. Mulani</a:t>
            </a:r>
            <a:r>
              <a:rPr lang="en-US" sz="850" dirty="0">
                <a:solidFill>
                  <a:srgbClr val="B0BEC5"/>
                </a:solidFill>
              </a:rPr>
              <a:t>   |   Asst. Prof. &amp; HoD, CS, KSKV Kachchh University</a:t>
            </a:r>
            <a:endParaRPr lang="en-US" sz="900" dirty="0"/>
          </a:p>
        </p:txBody>
      </p:sp>
      <p:sp>
        <p:nvSpPr>
          <p:cNvPr id="14" name="Shape 12"/>
          <p:cNvSpPr/>
          <p:nvPr/>
        </p:nvSpPr>
        <p:spPr>
          <a:xfrm>
            <a:off x="5486400" y="-548640"/>
            <a:ext cx="4023360" cy="4023360"/>
          </a:xfrm>
          <a:prstGeom prst="ellipse">
            <a:avLst/>
          </a:prstGeom>
          <a:solidFill>
            <a:srgbClr val="0D1554">
              <a:alpha val="0"/>
            </a:srgbClr>
          </a:solidFill>
          <a:ln w="355600">
            <a:solidFill>
              <a:srgbClr val="00BCD4">
                <a:alpha val="40000"/>
              </a:srgbClr>
            </a:solidFill>
            <a:prstDash val="solid"/>
          </a:ln>
        </p:spPr>
      </p:sp>
      <p:sp>
        <p:nvSpPr>
          <p:cNvPr id="15" name="Shape 13"/>
          <p:cNvSpPr/>
          <p:nvPr/>
        </p:nvSpPr>
        <p:spPr>
          <a:xfrm>
            <a:off x="6492240" y="1097280"/>
            <a:ext cx="2377440" cy="2377440"/>
          </a:xfrm>
          <a:prstGeom prst="ellipse">
            <a:avLst/>
          </a:prstGeom>
          <a:solidFill>
            <a:srgbClr val="0D1554">
              <a:alpha val="0"/>
            </a:srgbClr>
          </a:solidFill>
          <a:ln w="203200">
            <a:solidFill>
              <a:srgbClr val="00E5FF">
                <a:alpha val="28000"/>
              </a:srgbClr>
            </a:solidFill>
            <a:prstDash val="solid"/>
          </a:ln>
        </p:spPr>
      </p:sp>
      <p:sp>
        <p:nvSpPr>
          <p:cNvPr id="16" name="Shape 14"/>
          <p:cNvSpPr/>
          <p:nvPr/>
        </p:nvSpPr>
        <p:spPr>
          <a:xfrm>
            <a:off x="8229600" y="3474720"/>
            <a:ext cx="640080" cy="640080"/>
          </a:xfrm>
          <a:prstGeom prst="ellipse">
            <a:avLst/>
          </a:prstGeom>
          <a:solidFill>
            <a:srgbClr val="00BCD4"/>
          </a:solidFill>
          <a:ln w="12700">
            <a:solidFill>
              <a:srgbClr val="00BCD4"/>
            </a:solidFill>
            <a:prstDash val="solid"/>
          </a:ln>
        </p:spPr>
      </p:sp>
      <p:sp>
        <p:nvSpPr>
          <p:cNvPr id="17" name="Shape 15"/>
          <p:cNvSpPr/>
          <p:nvPr/>
        </p:nvSpPr>
        <p:spPr>
          <a:xfrm>
            <a:off x="5669280" y="3840480"/>
            <a:ext cx="365760" cy="365760"/>
          </a:xfrm>
          <a:prstGeom prst="ellipse">
            <a:avLst/>
          </a:prstGeom>
          <a:solidFill>
            <a:srgbClr val="00E5FF">
              <a:alpha val="40000"/>
            </a:srgbClr>
          </a:solidFill>
          <a:ln w="12700">
            <a:solidFill>
              <a:srgbClr val="00E5FF"/>
            </a:solidFill>
            <a:prstDash val="solid"/>
          </a:ln>
        </p:spPr>
      </p:sp>
      <p:sp>
        <p:nvSpPr>
          <p:cNvPr id="18" name="Text 16"/>
          <p:cNvSpPr/>
          <p:nvPr/>
        </p:nvSpPr>
        <p:spPr>
          <a:xfrm>
            <a:off x="5486400" y="2286000"/>
            <a:ext cx="35661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Nunito" pitchFamily="34" charset="0"/>
                <a:ea typeface="Nunito" pitchFamily="34" charset="-122"/>
                <a:cs typeface="Nunito" pitchFamily="34" charset="-120"/>
              </a:rPr>
              <a:t>BCI | AI | IoT</a:t>
            </a:r>
            <a:endParaRPr lang="en-US" sz="2200" dirty="0"/>
          </a:p>
        </p:txBody>
      </p:sp>
      <p:sp>
        <p:nvSpPr>
          <p:cNvPr id="19" name="Text 17"/>
          <p:cNvSpPr/>
          <p:nvPr/>
        </p:nvSpPr>
        <p:spPr>
          <a:xfrm>
            <a:off x="5486400" y="2788920"/>
            <a:ext cx="3566160" cy="36576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Brain → Signal → Intelligence → Action</a:t>
            </a:r>
            <a:endParaRPr lang="en-US" sz="1000" dirty="0"/>
          </a:p>
        </p:txBody>
      </p:sp>
      <p:sp>
        <p:nvSpPr>
          <p:cNvPr id="20" name="Shape 18"/>
          <p:cNvSpPr/>
          <p:nvPr/>
        </p:nvSpPr>
        <p:spPr>
          <a:xfrm>
            <a:off x="0" y="4818888"/>
            <a:ext cx="9144000" cy="324612"/>
          </a:xfrm>
          <a:prstGeom prst="rect">
            <a:avLst/>
          </a:prstGeom>
          <a:solidFill>
            <a:srgbClr val="060C38"/>
          </a:solidFill>
          <a:ln w="12700">
            <a:solidFill>
              <a:srgbClr val="060C38"/>
            </a:solidFill>
            <a:prstDash val="solid"/>
          </a:ln>
        </p:spPr>
      </p:sp>
      <p:sp>
        <p:nvSpPr>
          <p:cNvPr id="21" name="Shape 19"/>
          <p:cNvSpPr/>
          <p:nvPr/>
        </p:nvSpPr>
        <p:spPr>
          <a:xfrm>
            <a:off x="0" y="4818888"/>
            <a:ext cx="118872" cy="324612"/>
          </a:xfrm>
          <a:prstGeom prst="rect">
            <a:avLst/>
          </a:prstGeom>
          <a:solidFill>
            <a:srgbClr val="00E5FF"/>
          </a:solidFill>
          <a:ln w="12700">
            <a:solidFill>
              <a:srgbClr val="00E5FF"/>
            </a:solidFill>
            <a:prstDash val="solid"/>
          </a:ln>
        </p:spPr>
      </p:sp>
      <p:sp>
        <p:nvSpPr>
          <p:cNvPr id="22" name="Text 20"/>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23" name="Text 21"/>
          <p:cNvSpPr/>
          <p:nvPr/>
        </p:nvSpPr>
        <p:spPr>
          <a:xfrm>
            <a:off x="3931920" y="4841748"/>
            <a:ext cx="1828800" cy="274320"/>
          </a:xfrm>
          <a:prstGeom prst="rect">
            <a:avLst/>
          </a:prstGeom>
          <a:noFill/>
          <a:ln/>
        </p:spPr>
        <p:txBody>
          <a:bodyPr wrap="square" lIns="0" tIns="0" rIns="0" bIns="0" rtlCol="0" anchor="ctr"/>
          <a:lstStyle/>
          <a:p>
            <a:pPr marL="0" indent="0" algn="ctr">
              <a:buNone/>
            </a:pPr>
            <a:r>
              <a:rPr lang="en-US" sz="850" dirty="0">
                <a:solidFill>
                  <a:srgbClr val="7986CB"/>
                </a:solidFill>
                <a:latin typeface="Calibri" pitchFamily="34" charset="0"/>
                <a:ea typeface="Calibri" pitchFamily="34" charset="-122"/>
                <a:cs typeface="Calibri" pitchFamily="34" charset="-120"/>
              </a:rPr>
              <a:t>Priyankaba Jadeja</a:t>
            </a:r>
            <a:endParaRPr lang="en-US" sz="850" dirty="0"/>
          </a:p>
        </p:txBody>
      </p:sp>
      <p:sp>
        <p:nvSpPr>
          <p:cNvPr id="24" name="Text 22"/>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01 / 17</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554"/>
        </a:solidFill>
        <a:effectLst/>
      </p:bgPr>
    </p:bg>
    <p:spTree>
      <p:nvGrpSpPr>
        <p:cNvPr id="1" name=""/>
        <p:cNvGrpSpPr/>
        <p:nvPr/>
      </p:nvGrpSpPr>
      <p:grpSpPr>
        <a:xfrm>
          <a:off x="0" y="0"/>
          <a:ext cx="0" cy="0"/>
          <a:chOff x="0" y="0"/>
          <a:chExt cx="0" cy="0"/>
        </a:xfrm>
      </p:grpSpPr>
      <p:sp>
        <p:nvSpPr>
          <p:cNvPr id="2" name="Shape 0"/>
          <p:cNvSpPr/>
          <p:nvPr/>
        </p:nvSpPr>
        <p:spPr>
          <a:xfrm>
            <a:off x="0" y="0"/>
            <a:ext cx="3291840" cy="4818888"/>
          </a:xfrm>
          <a:prstGeom prst="rect">
            <a:avLst/>
          </a:prstGeom>
          <a:solidFill>
            <a:srgbClr val="006064"/>
          </a:solidFill>
          <a:ln w="12700">
            <a:solidFill>
              <a:srgbClr val="006064"/>
            </a:solidFill>
            <a:prstDash val="solid"/>
          </a:ln>
        </p:spPr>
      </p:sp>
      <p:sp>
        <p:nvSpPr>
          <p:cNvPr id="4" name="Text 2"/>
          <p:cNvSpPr/>
          <p:nvPr/>
        </p:nvSpPr>
        <p:spPr>
          <a:xfrm>
            <a:off x="228600" y="201168"/>
            <a:ext cx="2834640" cy="320040"/>
          </a:xfrm>
          <a:prstGeom prst="rect">
            <a:avLst/>
          </a:prstGeom>
          <a:noFill/>
          <a:ln/>
        </p:spPr>
        <p:txBody>
          <a:bodyPr wrap="square" lIns="0" tIns="0" rIns="0" bIns="0" rtlCol="0" anchor="ctr"/>
          <a:lstStyle/>
          <a:p>
            <a:pPr marL="0" indent="0">
              <a:buNone/>
            </a:pPr>
            <a:r>
              <a:rPr lang="en-US" sz="900" b="1" kern="0" spc="100" dirty="0">
                <a:solidFill>
                  <a:srgbClr val="80DEEA"/>
                </a:solidFill>
                <a:latin typeface="Nunito" pitchFamily="34" charset="0"/>
                <a:ea typeface="Nunito" pitchFamily="34" charset="-122"/>
                <a:cs typeface="Nunito" pitchFamily="34" charset="-120"/>
              </a:rPr>
              <a:t>02. Applicant Details</a:t>
            </a:r>
            <a:endParaRPr lang="en-US" sz="900" dirty="0"/>
          </a:p>
        </p:txBody>
      </p:sp>
      <p:sp>
        <p:nvSpPr>
          <p:cNvPr id="5" name="Text 3"/>
          <p:cNvSpPr/>
          <p:nvPr/>
        </p:nvSpPr>
        <p:spPr>
          <a:xfrm>
            <a:off x="228600" y="2651760"/>
            <a:ext cx="2834640" cy="914400"/>
          </a:xfrm>
          <a:prstGeom prst="rect">
            <a:avLst/>
          </a:prstGeom>
          <a:noFill/>
          <a:ln/>
        </p:spPr>
        <p:txBody>
          <a:bodyPr wrap="square" lIns="0" tIns="0" rIns="0" bIns="0" rtlCol="0" anchor="ctr"/>
          <a:lstStyle/>
          <a:p>
            <a:pPr marL="0" indent="0">
              <a:buNone/>
            </a:pPr>
            <a:r>
              <a:rPr lang="en-US" sz="2200" b="1" dirty="0">
                <a:solidFill>
                  <a:srgbClr val="FFFFFF"/>
                </a:solidFill>
                <a:latin typeface="Nunito" pitchFamily="34" charset="0"/>
                <a:ea typeface="Nunito" pitchFamily="34" charset="-122"/>
                <a:cs typeface="Nunito" pitchFamily="34" charset="-120"/>
              </a:rPr>
              <a:t>Priyankaba</a:t>
            </a:r>
            <a:r>
              <a:rPr lang="en-US" sz="2200" dirty="0"/>
              <a:t> </a:t>
            </a:r>
            <a:r>
              <a:rPr lang="en-US" sz="2200" b="1" dirty="0">
                <a:solidFill>
                  <a:srgbClr val="FFFFFF"/>
                </a:solidFill>
                <a:latin typeface="Nunito" pitchFamily="34" charset="0"/>
                <a:ea typeface="Nunito" pitchFamily="34" charset="-122"/>
                <a:cs typeface="Nunito" pitchFamily="34" charset="-120"/>
              </a:rPr>
              <a:t>P. Jadeja</a:t>
            </a:r>
            <a:endParaRPr lang="en-US" sz="2200" dirty="0"/>
          </a:p>
        </p:txBody>
      </p:sp>
      <p:sp>
        <p:nvSpPr>
          <p:cNvPr id="6" name="Text 4"/>
          <p:cNvSpPr/>
          <p:nvPr/>
        </p:nvSpPr>
        <p:spPr>
          <a:xfrm>
            <a:off x="228600" y="3566160"/>
            <a:ext cx="2834640" cy="320040"/>
          </a:xfrm>
          <a:prstGeom prst="rect">
            <a:avLst/>
          </a:prstGeom>
          <a:noFill/>
          <a:ln/>
        </p:spPr>
        <p:txBody>
          <a:bodyPr wrap="square" lIns="0" tIns="0" rIns="0" bIns="0" rtlCol="0" anchor="ctr"/>
          <a:lstStyle/>
          <a:p>
            <a:pPr marL="0" indent="0">
              <a:buNone/>
            </a:pPr>
            <a:r>
              <a:rPr lang="en-US" sz="1100" dirty="0">
                <a:solidFill>
                  <a:srgbClr val="80DEEA"/>
                </a:solidFill>
                <a:latin typeface="Calibri" pitchFamily="34" charset="0"/>
                <a:ea typeface="Calibri" pitchFamily="34" charset="-122"/>
                <a:cs typeface="Calibri" pitchFamily="34" charset="-120"/>
              </a:rPr>
              <a:t>MSc (CA &amp; IT), Semester 4</a:t>
            </a:r>
            <a:endParaRPr lang="en-US" sz="1100" dirty="0"/>
          </a:p>
        </p:txBody>
      </p:sp>
      <p:sp>
        <p:nvSpPr>
          <p:cNvPr id="7" name="Text 5"/>
          <p:cNvSpPr/>
          <p:nvPr/>
        </p:nvSpPr>
        <p:spPr>
          <a:xfrm>
            <a:off x="228600" y="3886200"/>
            <a:ext cx="2834640" cy="594360"/>
          </a:xfrm>
          <a:prstGeom prst="rect">
            <a:avLst/>
          </a:prstGeom>
          <a:noFill/>
          <a:ln/>
        </p:spPr>
        <p:txBody>
          <a:bodyPr wrap="square" lIns="0" tIns="0" rIns="0" bIns="0" rtlCol="0" anchor="ctr"/>
          <a:lstStyle/>
          <a:p>
            <a:pPr marL="0" indent="0">
              <a:buNone/>
            </a:pPr>
            <a:r>
              <a:rPr lang="en-US" sz="1000" dirty="0">
                <a:solidFill>
                  <a:srgbClr val="B0BEC5"/>
                </a:solidFill>
                <a:latin typeface="Calibri" pitchFamily="34" charset="0"/>
                <a:ea typeface="Calibri" pitchFamily="34" charset="-122"/>
                <a:cs typeface="Calibri" pitchFamily="34" charset="-120"/>
              </a:rPr>
              <a:t>Dept. of Computer Science</a:t>
            </a:r>
            <a:endParaRPr lang="en-US" sz="1000" dirty="0"/>
          </a:p>
          <a:p>
            <a:pPr marL="0" indent="0">
              <a:buNone/>
            </a:pPr>
            <a:r>
              <a:rPr lang="en-US" sz="1000" dirty="0">
                <a:solidFill>
                  <a:srgbClr val="B0BEC5"/>
                </a:solidFill>
                <a:latin typeface="Calibri" pitchFamily="34" charset="0"/>
                <a:ea typeface="Calibri" pitchFamily="34" charset="-122"/>
                <a:cs typeface="Calibri" pitchFamily="34" charset="-120"/>
              </a:rPr>
              <a:t>KSKV Kachchh University, Bhuj</a:t>
            </a:r>
            <a:endParaRPr lang="en-US" sz="1000" dirty="0"/>
          </a:p>
        </p:txBody>
      </p:sp>
      <p:sp>
        <p:nvSpPr>
          <p:cNvPr id="8" name="Shape 6"/>
          <p:cNvSpPr/>
          <p:nvPr/>
        </p:nvSpPr>
        <p:spPr>
          <a:xfrm>
            <a:off x="3493008" y="502920"/>
            <a:ext cx="2651760" cy="1737360"/>
          </a:xfrm>
          <a:prstGeom prst="rect">
            <a:avLst/>
          </a:prstGeom>
          <a:solidFill>
            <a:srgbClr val="1E2B8F"/>
          </a:solidFill>
          <a:ln w="12700">
            <a:solidFill>
              <a:srgbClr val="1E2B8F"/>
            </a:solidFill>
            <a:prstDash val="solid"/>
          </a:ln>
          <a:effectLst>
            <a:outerShdw blurRad="101600" dist="38100" dir="8100000" algn="bl" rotWithShape="0">
              <a:srgbClr val="000000">
                <a:alpha val="20000"/>
              </a:srgbClr>
            </a:outerShdw>
          </a:effectLst>
        </p:spPr>
      </p:sp>
      <p:sp>
        <p:nvSpPr>
          <p:cNvPr id="9" name="Shape 7"/>
          <p:cNvSpPr/>
          <p:nvPr/>
        </p:nvSpPr>
        <p:spPr>
          <a:xfrm>
            <a:off x="3493008" y="502920"/>
            <a:ext cx="2651760" cy="64008"/>
          </a:xfrm>
          <a:prstGeom prst="rect">
            <a:avLst/>
          </a:prstGeom>
          <a:solidFill>
            <a:srgbClr val="00BCD4"/>
          </a:solidFill>
          <a:ln w="12700">
            <a:solidFill>
              <a:srgbClr val="00BCD4"/>
            </a:solidFill>
            <a:prstDash val="solid"/>
          </a:ln>
        </p:spPr>
      </p:sp>
      <p:sp>
        <p:nvSpPr>
          <p:cNvPr id="10" name="Text 8"/>
          <p:cNvSpPr/>
          <p:nvPr/>
        </p:nvSpPr>
        <p:spPr>
          <a:xfrm>
            <a:off x="3657600" y="658368"/>
            <a:ext cx="2377440" cy="274320"/>
          </a:xfrm>
          <a:prstGeom prst="rect">
            <a:avLst/>
          </a:prstGeom>
          <a:noFill/>
          <a:ln/>
        </p:spPr>
        <p:txBody>
          <a:bodyPr wrap="square" lIns="0" tIns="0" rIns="0" bIns="0" rtlCol="0" anchor="ctr"/>
          <a:lstStyle/>
          <a:p>
            <a:pPr marL="0" indent="0">
              <a:buNone/>
            </a:pPr>
            <a:r>
              <a:rPr lang="en-US" sz="850" b="1" dirty="0">
                <a:solidFill>
                  <a:srgbClr val="00BCD4"/>
                </a:solidFill>
                <a:latin typeface="Nunito" pitchFamily="34" charset="0"/>
                <a:ea typeface="Nunito" pitchFamily="34" charset="-122"/>
                <a:cs typeface="Nunito" pitchFamily="34" charset="-120"/>
              </a:rPr>
              <a:t>Date of Birth</a:t>
            </a:r>
            <a:endParaRPr lang="en-US" sz="850" dirty="0"/>
          </a:p>
        </p:txBody>
      </p:sp>
      <p:sp>
        <p:nvSpPr>
          <p:cNvPr id="11" name="Text 9"/>
          <p:cNvSpPr/>
          <p:nvPr/>
        </p:nvSpPr>
        <p:spPr>
          <a:xfrm>
            <a:off x="3657600" y="960120"/>
            <a:ext cx="2377440" cy="1097280"/>
          </a:xfrm>
          <a:prstGeom prst="rect">
            <a:avLst/>
          </a:prstGeom>
          <a:noFill/>
          <a:ln/>
        </p:spPr>
        <p:txBody>
          <a:bodyPr wrap="square" lIns="0" tIns="0" rIns="0" bIns="0" rtlCol="0" anchor="ctr"/>
          <a:lstStyle/>
          <a:p>
            <a:pPr marL="0" indent="0">
              <a:buNone/>
            </a:pPr>
            <a:r>
              <a:rPr lang="en-US" sz="1300" b="1" dirty="0">
                <a:solidFill>
                  <a:srgbClr val="FFFFFF"/>
                </a:solidFill>
                <a:latin typeface="Nunito" pitchFamily="34" charset="0"/>
                <a:ea typeface="Nunito" pitchFamily="34" charset="-122"/>
                <a:cs typeface="Nunito" pitchFamily="34" charset="-120"/>
              </a:rPr>
              <a:t>26 / 11 / 2005</a:t>
            </a:r>
            <a:endParaRPr lang="en-US" sz="1300" dirty="0"/>
          </a:p>
        </p:txBody>
      </p:sp>
      <p:sp>
        <p:nvSpPr>
          <p:cNvPr id="12" name="Shape 10"/>
          <p:cNvSpPr/>
          <p:nvPr/>
        </p:nvSpPr>
        <p:spPr>
          <a:xfrm>
            <a:off x="6254496" y="502920"/>
            <a:ext cx="2651760" cy="1737360"/>
          </a:xfrm>
          <a:prstGeom prst="rect">
            <a:avLst/>
          </a:prstGeom>
          <a:solidFill>
            <a:srgbClr val="1E2B8F"/>
          </a:solidFill>
          <a:ln w="12700">
            <a:solidFill>
              <a:srgbClr val="1E2B8F"/>
            </a:solidFill>
            <a:prstDash val="solid"/>
          </a:ln>
          <a:effectLst>
            <a:outerShdw blurRad="101600" dist="38100" dir="8100000" algn="bl" rotWithShape="0">
              <a:srgbClr val="000000">
                <a:alpha val="20000"/>
              </a:srgbClr>
            </a:outerShdw>
          </a:effectLst>
        </p:spPr>
      </p:sp>
      <p:sp>
        <p:nvSpPr>
          <p:cNvPr id="13" name="Shape 11"/>
          <p:cNvSpPr/>
          <p:nvPr/>
        </p:nvSpPr>
        <p:spPr>
          <a:xfrm>
            <a:off x="6254496" y="502920"/>
            <a:ext cx="2651760" cy="64008"/>
          </a:xfrm>
          <a:prstGeom prst="rect">
            <a:avLst/>
          </a:prstGeom>
          <a:solidFill>
            <a:srgbClr val="00E5FF"/>
          </a:solidFill>
          <a:ln w="12700">
            <a:solidFill>
              <a:srgbClr val="00E5FF"/>
            </a:solidFill>
            <a:prstDash val="solid"/>
          </a:ln>
        </p:spPr>
      </p:sp>
      <p:sp>
        <p:nvSpPr>
          <p:cNvPr id="14" name="Text 12"/>
          <p:cNvSpPr/>
          <p:nvPr/>
        </p:nvSpPr>
        <p:spPr>
          <a:xfrm>
            <a:off x="6419088" y="658368"/>
            <a:ext cx="2377440" cy="274320"/>
          </a:xfrm>
          <a:prstGeom prst="rect">
            <a:avLst/>
          </a:prstGeom>
          <a:noFill/>
          <a:ln/>
        </p:spPr>
        <p:txBody>
          <a:bodyPr wrap="square" lIns="0" tIns="0" rIns="0" bIns="0" rtlCol="0" anchor="ctr"/>
          <a:lstStyle/>
          <a:p>
            <a:pPr marL="0" indent="0">
              <a:buNone/>
            </a:pPr>
            <a:r>
              <a:rPr lang="en-US" sz="850" b="1" dirty="0">
                <a:solidFill>
                  <a:srgbClr val="00E5FF"/>
                </a:solidFill>
                <a:latin typeface="Nunito" pitchFamily="34" charset="0"/>
                <a:ea typeface="Nunito" pitchFamily="34" charset="-122"/>
                <a:cs typeface="Nunito" pitchFamily="34" charset="-120"/>
              </a:rPr>
              <a:t>WhatsApp</a:t>
            </a:r>
            <a:endParaRPr lang="en-US" sz="850" dirty="0"/>
          </a:p>
        </p:txBody>
      </p:sp>
      <p:sp>
        <p:nvSpPr>
          <p:cNvPr id="15" name="Text 13"/>
          <p:cNvSpPr/>
          <p:nvPr/>
        </p:nvSpPr>
        <p:spPr>
          <a:xfrm>
            <a:off x="6419088" y="960120"/>
            <a:ext cx="2377440" cy="1097280"/>
          </a:xfrm>
          <a:prstGeom prst="rect">
            <a:avLst/>
          </a:prstGeom>
          <a:noFill/>
          <a:ln/>
        </p:spPr>
        <p:txBody>
          <a:bodyPr wrap="square" lIns="0" tIns="0" rIns="0" bIns="0" rtlCol="0" anchor="ctr"/>
          <a:lstStyle/>
          <a:p>
            <a:pPr marL="0" indent="0">
              <a:buNone/>
            </a:pPr>
            <a:r>
              <a:rPr lang="en-US" sz="1300" b="1" dirty="0">
                <a:solidFill>
                  <a:srgbClr val="FFFFFF"/>
                </a:solidFill>
                <a:latin typeface="Nunito" pitchFamily="34" charset="0"/>
                <a:ea typeface="Nunito" pitchFamily="34" charset="-122"/>
                <a:cs typeface="Nunito" pitchFamily="34" charset="-120"/>
              </a:rPr>
              <a:t>+91 72858 46840</a:t>
            </a:r>
            <a:endParaRPr lang="en-US" sz="1300" dirty="0"/>
          </a:p>
        </p:txBody>
      </p:sp>
      <p:sp>
        <p:nvSpPr>
          <p:cNvPr id="16" name="Shape 14"/>
          <p:cNvSpPr/>
          <p:nvPr/>
        </p:nvSpPr>
        <p:spPr>
          <a:xfrm>
            <a:off x="3493008" y="2350008"/>
            <a:ext cx="2651760" cy="1737360"/>
          </a:xfrm>
          <a:prstGeom prst="rect">
            <a:avLst/>
          </a:prstGeom>
          <a:solidFill>
            <a:srgbClr val="1E2B8F"/>
          </a:solidFill>
          <a:ln w="12700">
            <a:solidFill>
              <a:srgbClr val="1E2B8F"/>
            </a:solidFill>
            <a:prstDash val="solid"/>
          </a:ln>
          <a:effectLst>
            <a:outerShdw blurRad="101600" dist="38100" dir="8100000" algn="bl" rotWithShape="0">
              <a:srgbClr val="000000">
                <a:alpha val="20000"/>
              </a:srgbClr>
            </a:outerShdw>
          </a:effectLst>
        </p:spPr>
      </p:sp>
      <p:sp>
        <p:nvSpPr>
          <p:cNvPr id="17" name="Shape 15"/>
          <p:cNvSpPr/>
          <p:nvPr/>
        </p:nvSpPr>
        <p:spPr>
          <a:xfrm>
            <a:off x="3493008" y="2350008"/>
            <a:ext cx="2651760" cy="64008"/>
          </a:xfrm>
          <a:prstGeom prst="rect">
            <a:avLst/>
          </a:prstGeom>
          <a:solidFill>
            <a:srgbClr val="00BCD4"/>
          </a:solidFill>
          <a:ln w="12700">
            <a:solidFill>
              <a:srgbClr val="00BCD4"/>
            </a:solidFill>
            <a:prstDash val="solid"/>
          </a:ln>
        </p:spPr>
      </p:sp>
      <p:sp>
        <p:nvSpPr>
          <p:cNvPr id="18" name="Text 16"/>
          <p:cNvSpPr/>
          <p:nvPr/>
        </p:nvSpPr>
        <p:spPr>
          <a:xfrm>
            <a:off x="3657600" y="2505456"/>
            <a:ext cx="2377440" cy="274320"/>
          </a:xfrm>
          <a:prstGeom prst="rect">
            <a:avLst/>
          </a:prstGeom>
          <a:noFill/>
          <a:ln/>
        </p:spPr>
        <p:txBody>
          <a:bodyPr wrap="square" lIns="0" tIns="0" rIns="0" bIns="0" rtlCol="0" anchor="ctr"/>
          <a:lstStyle/>
          <a:p>
            <a:pPr marL="0" indent="0">
              <a:buNone/>
            </a:pPr>
            <a:r>
              <a:rPr lang="en-US" sz="850" b="1" dirty="0">
                <a:solidFill>
                  <a:srgbClr val="00BCD4"/>
                </a:solidFill>
                <a:latin typeface="Nunito" pitchFamily="34" charset="0"/>
                <a:ea typeface="Nunito" pitchFamily="34" charset="-122"/>
                <a:cs typeface="Nunito" pitchFamily="34" charset="-120"/>
              </a:rPr>
              <a:t>Email</a:t>
            </a:r>
            <a:endParaRPr lang="en-US" sz="850" dirty="0"/>
          </a:p>
        </p:txBody>
      </p:sp>
      <p:sp>
        <p:nvSpPr>
          <p:cNvPr id="19" name="Text 17"/>
          <p:cNvSpPr/>
          <p:nvPr/>
        </p:nvSpPr>
        <p:spPr>
          <a:xfrm>
            <a:off x="3657600" y="2807208"/>
            <a:ext cx="2377440" cy="1097280"/>
          </a:xfrm>
          <a:prstGeom prst="rect">
            <a:avLst/>
          </a:prstGeom>
          <a:noFill/>
          <a:ln/>
        </p:spPr>
        <p:txBody>
          <a:bodyPr wrap="square" lIns="0" tIns="0" rIns="0" bIns="0" rtlCol="0" anchor="ctr"/>
          <a:lstStyle/>
          <a:p>
            <a:pPr marL="0" indent="0">
              <a:buNone/>
            </a:pPr>
            <a:r>
              <a:rPr lang="en-US" sz="1300" b="1" dirty="0">
                <a:solidFill>
                  <a:srgbClr val="FFFFFF"/>
                </a:solidFill>
                <a:latin typeface="Nunito" pitchFamily="34" charset="0"/>
                <a:ea typeface="Nunito" pitchFamily="34" charset="-122"/>
                <a:cs typeface="Nunito" pitchFamily="34" charset="-120"/>
              </a:rPr>
              <a:t>priyankaba2611@gmail.com</a:t>
            </a:r>
            <a:endParaRPr lang="en-US" sz="1300" dirty="0"/>
          </a:p>
        </p:txBody>
      </p:sp>
      <p:sp>
        <p:nvSpPr>
          <p:cNvPr id="20" name="Shape 18"/>
          <p:cNvSpPr/>
          <p:nvPr/>
        </p:nvSpPr>
        <p:spPr>
          <a:xfrm>
            <a:off x="6254496" y="2350008"/>
            <a:ext cx="2651760" cy="1737360"/>
          </a:xfrm>
          <a:prstGeom prst="rect">
            <a:avLst/>
          </a:prstGeom>
          <a:solidFill>
            <a:srgbClr val="1E2B8F"/>
          </a:solidFill>
          <a:ln w="12700">
            <a:solidFill>
              <a:srgbClr val="1E2B8F"/>
            </a:solidFill>
            <a:prstDash val="solid"/>
          </a:ln>
          <a:effectLst>
            <a:outerShdw blurRad="101600" dist="38100" dir="8100000" algn="bl" rotWithShape="0">
              <a:srgbClr val="000000">
                <a:alpha val="20000"/>
              </a:srgbClr>
            </a:outerShdw>
          </a:effectLst>
        </p:spPr>
      </p:sp>
      <p:sp>
        <p:nvSpPr>
          <p:cNvPr id="21" name="Shape 19"/>
          <p:cNvSpPr/>
          <p:nvPr/>
        </p:nvSpPr>
        <p:spPr>
          <a:xfrm>
            <a:off x="6254496" y="2350008"/>
            <a:ext cx="2651760" cy="64008"/>
          </a:xfrm>
          <a:prstGeom prst="rect">
            <a:avLst/>
          </a:prstGeom>
          <a:solidFill>
            <a:srgbClr val="FF7043"/>
          </a:solidFill>
          <a:ln w="12700">
            <a:solidFill>
              <a:srgbClr val="FF7043"/>
            </a:solidFill>
            <a:prstDash val="solid"/>
          </a:ln>
        </p:spPr>
      </p:sp>
      <p:sp>
        <p:nvSpPr>
          <p:cNvPr id="22" name="Text 20"/>
          <p:cNvSpPr/>
          <p:nvPr/>
        </p:nvSpPr>
        <p:spPr>
          <a:xfrm>
            <a:off x="6419088" y="2505456"/>
            <a:ext cx="2377440" cy="274320"/>
          </a:xfrm>
          <a:prstGeom prst="rect">
            <a:avLst/>
          </a:prstGeom>
          <a:noFill/>
          <a:ln/>
        </p:spPr>
        <p:txBody>
          <a:bodyPr wrap="square" lIns="0" tIns="0" rIns="0" bIns="0" rtlCol="0" anchor="ctr"/>
          <a:lstStyle/>
          <a:p>
            <a:pPr marL="0" indent="0">
              <a:buNone/>
            </a:pPr>
            <a:r>
              <a:rPr lang="en-US" sz="850" b="1" dirty="0">
                <a:solidFill>
                  <a:srgbClr val="FF7043"/>
                </a:solidFill>
                <a:latin typeface="Nunito" pitchFamily="34" charset="0"/>
                <a:ea typeface="Nunito" pitchFamily="34" charset="-122"/>
                <a:cs typeface="Nunito" pitchFamily="34" charset="-120"/>
              </a:rPr>
              <a:t>Address</a:t>
            </a:r>
            <a:endParaRPr lang="en-US" sz="850" dirty="0"/>
          </a:p>
        </p:txBody>
      </p:sp>
      <p:sp>
        <p:nvSpPr>
          <p:cNvPr id="23" name="Text 21"/>
          <p:cNvSpPr/>
          <p:nvPr/>
        </p:nvSpPr>
        <p:spPr>
          <a:xfrm>
            <a:off x="6419088" y="2807208"/>
            <a:ext cx="2377440" cy="1097280"/>
          </a:xfrm>
          <a:prstGeom prst="rect">
            <a:avLst/>
          </a:prstGeom>
          <a:noFill/>
          <a:ln/>
        </p:spPr>
        <p:txBody>
          <a:bodyPr wrap="square" lIns="0" tIns="0" rIns="0" bIns="0" rtlCol="0" anchor="ctr"/>
          <a:lstStyle/>
          <a:p>
            <a:pPr marL="0" indent="0">
              <a:buNone/>
            </a:pPr>
            <a:r>
              <a:rPr lang="en-US" sz="1300" b="1" dirty="0">
                <a:solidFill>
                  <a:srgbClr val="FFFFFF"/>
                </a:solidFill>
                <a:latin typeface="Nunito" pitchFamily="34" charset="0"/>
                <a:ea typeface="Nunito" pitchFamily="34" charset="-122"/>
                <a:cs typeface="Nunito" pitchFamily="34" charset="-120"/>
              </a:rPr>
              <a:t>Dept. of CS</a:t>
            </a:r>
            <a:endParaRPr lang="en-US" sz="1300" dirty="0"/>
          </a:p>
          <a:p>
            <a:pPr marL="0" indent="0">
              <a:buNone/>
            </a:pPr>
            <a:r>
              <a:rPr lang="en-US" sz="1300" b="1" dirty="0">
                <a:solidFill>
                  <a:srgbClr val="FFFFFF"/>
                </a:solidFill>
                <a:latin typeface="Nunito" pitchFamily="34" charset="0"/>
                <a:ea typeface="Nunito" pitchFamily="34" charset="-122"/>
                <a:cs typeface="Nunito" pitchFamily="34" charset="-120"/>
              </a:rPr>
              <a:t>KSKV Kachchh University, Bhuj</a:t>
            </a:r>
            <a:endParaRPr lang="en-US" sz="1300" dirty="0"/>
          </a:p>
        </p:txBody>
      </p:sp>
      <p:sp>
        <p:nvSpPr>
          <p:cNvPr id="24" name="Text 22"/>
          <p:cNvSpPr/>
          <p:nvPr/>
        </p:nvSpPr>
        <p:spPr>
          <a:xfrm>
            <a:off x="3493008" y="4572000"/>
            <a:ext cx="914400" cy="201168"/>
          </a:xfrm>
          <a:prstGeom prst="rect">
            <a:avLst/>
          </a:prstGeom>
          <a:noFill/>
          <a:ln/>
        </p:spPr>
        <p:txBody>
          <a:bodyPr wrap="square" lIns="0" tIns="0" rIns="0" bIns="0" rtlCol="0" anchor="ctr"/>
          <a:lstStyle/>
          <a:p>
            <a:pPr marL="0" indent="0">
              <a:buNone/>
            </a:pPr>
            <a:r>
              <a:rPr lang="en-US" sz="750" b="1" dirty="0">
                <a:solidFill>
                  <a:srgbClr val="00E5FF"/>
                </a:solidFill>
                <a:latin typeface="Nunito" pitchFamily="34" charset="0"/>
                <a:ea typeface="Nunito" pitchFamily="34" charset="-122"/>
                <a:cs typeface="Nunito" pitchFamily="34" charset="-120"/>
              </a:rPr>
              <a:t>SKILLS</a:t>
            </a:r>
            <a:endParaRPr lang="en-US" sz="750" dirty="0"/>
          </a:p>
        </p:txBody>
      </p:sp>
      <p:sp>
        <p:nvSpPr>
          <p:cNvPr id="25" name="Shape 23"/>
          <p:cNvSpPr/>
          <p:nvPr/>
        </p:nvSpPr>
        <p:spPr>
          <a:xfrm>
            <a:off x="4224528" y="4572000"/>
            <a:ext cx="886968" cy="201168"/>
          </a:xfrm>
          <a:prstGeom prst="rect">
            <a:avLst/>
          </a:prstGeom>
          <a:solidFill>
            <a:srgbClr val="00BCD4">
              <a:alpha val="45000"/>
            </a:srgbClr>
          </a:solidFill>
          <a:ln w="12700">
            <a:solidFill>
              <a:srgbClr val="00BCD4"/>
            </a:solidFill>
            <a:prstDash val="solid"/>
          </a:ln>
        </p:spPr>
      </p:sp>
      <p:sp>
        <p:nvSpPr>
          <p:cNvPr id="26" name="Text 24"/>
          <p:cNvSpPr/>
          <p:nvPr/>
        </p:nvSpPr>
        <p:spPr>
          <a:xfrm>
            <a:off x="4224528" y="4572000"/>
            <a:ext cx="886968"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Nunito" pitchFamily="34" charset="0"/>
                <a:ea typeface="Nunito" pitchFamily="34" charset="-122"/>
                <a:cs typeface="Nunito" pitchFamily="34" charset="-120"/>
              </a:rPr>
              <a:t>Python</a:t>
            </a:r>
            <a:endParaRPr lang="en-US" sz="750" dirty="0"/>
          </a:p>
        </p:txBody>
      </p:sp>
      <p:sp>
        <p:nvSpPr>
          <p:cNvPr id="27" name="Shape 25"/>
          <p:cNvSpPr/>
          <p:nvPr/>
        </p:nvSpPr>
        <p:spPr>
          <a:xfrm>
            <a:off x="5184648" y="4572000"/>
            <a:ext cx="886968" cy="201168"/>
          </a:xfrm>
          <a:prstGeom prst="rect">
            <a:avLst/>
          </a:prstGeom>
          <a:solidFill>
            <a:srgbClr val="00BCD4">
              <a:alpha val="45000"/>
            </a:srgbClr>
          </a:solidFill>
          <a:ln w="12700">
            <a:solidFill>
              <a:srgbClr val="00BCD4"/>
            </a:solidFill>
            <a:prstDash val="solid"/>
          </a:ln>
        </p:spPr>
      </p:sp>
      <p:sp>
        <p:nvSpPr>
          <p:cNvPr id="28" name="Text 26"/>
          <p:cNvSpPr/>
          <p:nvPr/>
        </p:nvSpPr>
        <p:spPr>
          <a:xfrm>
            <a:off x="5184648" y="4572000"/>
            <a:ext cx="886968"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Nunito" pitchFamily="34" charset="0"/>
                <a:ea typeface="Nunito" pitchFamily="34" charset="-122"/>
                <a:cs typeface="Nunito" pitchFamily="34" charset="-120"/>
              </a:rPr>
              <a:t>AI &amp; ML</a:t>
            </a:r>
            <a:endParaRPr lang="en-US" sz="750" dirty="0"/>
          </a:p>
        </p:txBody>
      </p:sp>
      <p:sp>
        <p:nvSpPr>
          <p:cNvPr id="29" name="Shape 27"/>
          <p:cNvSpPr/>
          <p:nvPr/>
        </p:nvSpPr>
        <p:spPr>
          <a:xfrm>
            <a:off x="6144768" y="4572000"/>
            <a:ext cx="886968" cy="201168"/>
          </a:xfrm>
          <a:prstGeom prst="rect">
            <a:avLst/>
          </a:prstGeom>
          <a:solidFill>
            <a:srgbClr val="00BCD4">
              <a:alpha val="45000"/>
            </a:srgbClr>
          </a:solidFill>
          <a:ln w="12700">
            <a:solidFill>
              <a:srgbClr val="00BCD4"/>
            </a:solidFill>
            <a:prstDash val="solid"/>
          </a:ln>
        </p:spPr>
      </p:sp>
      <p:sp>
        <p:nvSpPr>
          <p:cNvPr id="30" name="Text 28"/>
          <p:cNvSpPr/>
          <p:nvPr/>
        </p:nvSpPr>
        <p:spPr>
          <a:xfrm>
            <a:off x="6144768" y="4572000"/>
            <a:ext cx="886968"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Nunito" pitchFamily="34" charset="0"/>
                <a:ea typeface="Nunito" pitchFamily="34" charset="-122"/>
                <a:cs typeface="Nunito" pitchFamily="34" charset="-120"/>
              </a:rPr>
              <a:t>JavaScript</a:t>
            </a:r>
            <a:endParaRPr lang="en-US" sz="750" dirty="0"/>
          </a:p>
        </p:txBody>
      </p:sp>
      <p:sp>
        <p:nvSpPr>
          <p:cNvPr id="31" name="Shape 29"/>
          <p:cNvSpPr/>
          <p:nvPr/>
        </p:nvSpPr>
        <p:spPr>
          <a:xfrm>
            <a:off x="7104888" y="4572000"/>
            <a:ext cx="886968" cy="201168"/>
          </a:xfrm>
          <a:prstGeom prst="rect">
            <a:avLst/>
          </a:prstGeom>
          <a:solidFill>
            <a:srgbClr val="00BCD4">
              <a:alpha val="45000"/>
            </a:srgbClr>
          </a:solidFill>
          <a:ln w="12700">
            <a:solidFill>
              <a:srgbClr val="00BCD4"/>
            </a:solidFill>
            <a:prstDash val="solid"/>
          </a:ln>
        </p:spPr>
      </p:sp>
      <p:sp>
        <p:nvSpPr>
          <p:cNvPr id="32" name="Text 30"/>
          <p:cNvSpPr/>
          <p:nvPr/>
        </p:nvSpPr>
        <p:spPr>
          <a:xfrm>
            <a:off x="7104888" y="4572000"/>
            <a:ext cx="886968"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Nunito" pitchFamily="34" charset="0"/>
                <a:ea typeface="Nunito" pitchFamily="34" charset="-122"/>
                <a:cs typeface="Nunito" pitchFamily="34" charset="-120"/>
              </a:rPr>
              <a:t>Raspberry Pi</a:t>
            </a:r>
            <a:endParaRPr lang="en-US" sz="750" dirty="0"/>
          </a:p>
        </p:txBody>
      </p:sp>
      <p:sp>
        <p:nvSpPr>
          <p:cNvPr id="33" name="Shape 31"/>
          <p:cNvSpPr/>
          <p:nvPr/>
        </p:nvSpPr>
        <p:spPr>
          <a:xfrm>
            <a:off x="8065008" y="4572000"/>
            <a:ext cx="886968" cy="201168"/>
          </a:xfrm>
          <a:prstGeom prst="rect">
            <a:avLst/>
          </a:prstGeom>
          <a:solidFill>
            <a:srgbClr val="00BCD4">
              <a:alpha val="45000"/>
            </a:srgbClr>
          </a:solidFill>
          <a:ln w="12700">
            <a:solidFill>
              <a:srgbClr val="00BCD4"/>
            </a:solidFill>
            <a:prstDash val="solid"/>
          </a:ln>
        </p:spPr>
      </p:sp>
      <p:sp>
        <p:nvSpPr>
          <p:cNvPr id="34" name="Text 32"/>
          <p:cNvSpPr/>
          <p:nvPr/>
        </p:nvSpPr>
        <p:spPr>
          <a:xfrm>
            <a:off x="8065008" y="4572000"/>
            <a:ext cx="886968"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Nunito" pitchFamily="34" charset="0"/>
                <a:ea typeface="Nunito" pitchFamily="34" charset="-122"/>
                <a:cs typeface="Nunito" pitchFamily="34" charset="-120"/>
              </a:rPr>
              <a:t>HTML/CSS</a:t>
            </a:r>
            <a:endParaRPr lang="en-US" sz="750" dirty="0"/>
          </a:p>
        </p:txBody>
      </p:sp>
      <p:sp>
        <p:nvSpPr>
          <p:cNvPr id="35" name="Shape 33"/>
          <p:cNvSpPr/>
          <p:nvPr/>
        </p:nvSpPr>
        <p:spPr>
          <a:xfrm>
            <a:off x="0" y="4818888"/>
            <a:ext cx="9144000" cy="324612"/>
          </a:xfrm>
          <a:prstGeom prst="rect">
            <a:avLst/>
          </a:prstGeom>
          <a:solidFill>
            <a:srgbClr val="060C38"/>
          </a:solidFill>
          <a:ln w="12700">
            <a:solidFill>
              <a:srgbClr val="060C38"/>
            </a:solidFill>
            <a:prstDash val="solid"/>
          </a:ln>
        </p:spPr>
      </p:sp>
      <p:sp>
        <p:nvSpPr>
          <p:cNvPr id="36" name="Shape 34"/>
          <p:cNvSpPr/>
          <p:nvPr/>
        </p:nvSpPr>
        <p:spPr>
          <a:xfrm>
            <a:off x="0" y="4818888"/>
            <a:ext cx="118872" cy="324612"/>
          </a:xfrm>
          <a:prstGeom prst="rect">
            <a:avLst/>
          </a:prstGeom>
          <a:solidFill>
            <a:srgbClr val="00E5FF"/>
          </a:solidFill>
          <a:ln w="12700">
            <a:solidFill>
              <a:srgbClr val="00E5FF"/>
            </a:solidFill>
            <a:prstDash val="solid"/>
          </a:ln>
        </p:spPr>
      </p:sp>
      <p:sp>
        <p:nvSpPr>
          <p:cNvPr id="37" name="Text 35"/>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38" name="Text 36"/>
          <p:cNvSpPr/>
          <p:nvPr/>
        </p:nvSpPr>
        <p:spPr>
          <a:xfrm>
            <a:off x="3931920" y="4841748"/>
            <a:ext cx="1828800" cy="274320"/>
          </a:xfrm>
          <a:prstGeom prst="rect">
            <a:avLst/>
          </a:prstGeom>
          <a:noFill/>
          <a:ln/>
        </p:spPr>
        <p:txBody>
          <a:bodyPr wrap="square" lIns="0" tIns="0" rIns="0" bIns="0" rtlCol="0" anchor="ctr"/>
          <a:lstStyle/>
          <a:p>
            <a:pPr marL="0" indent="0" algn="ctr">
              <a:buNone/>
            </a:pPr>
            <a:r>
              <a:rPr lang="en-US" sz="850" dirty="0">
                <a:solidFill>
                  <a:srgbClr val="7986CB"/>
                </a:solidFill>
                <a:latin typeface="Calibri" pitchFamily="34" charset="0"/>
                <a:ea typeface="Calibri" pitchFamily="34" charset="-122"/>
                <a:cs typeface="Calibri" pitchFamily="34" charset="-120"/>
              </a:rPr>
              <a:t>Priyankaba Jadeja</a:t>
            </a:r>
            <a:endParaRPr lang="en-US" sz="850" dirty="0"/>
          </a:p>
        </p:txBody>
      </p:sp>
      <p:sp>
        <p:nvSpPr>
          <p:cNvPr id="39" name="Text 37"/>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02 / 17</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554"/>
        </a:solidFill>
        <a:effectLst/>
      </p:bgPr>
    </p:bg>
    <p:spTree>
      <p:nvGrpSpPr>
        <p:cNvPr id="1" name=""/>
        <p:cNvGrpSpPr/>
        <p:nvPr/>
      </p:nvGrpSpPr>
      <p:grpSpPr>
        <a:xfrm>
          <a:off x="0" y="0"/>
          <a:ext cx="0" cy="0"/>
          <a:chOff x="0" y="0"/>
          <a:chExt cx="0" cy="0"/>
        </a:xfrm>
      </p:grpSpPr>
      <p:sp>
        <p:nvSpPr>
          <p:cNvPr id="2" name="Shape 0"/>
          <p:cNvSpPr/>
          <p:nvPr/>
        </p:nvSpPr>
        <p:spPr>
          <a:xfrm>
            <a:off x="0" y="0"/>
            <a:ext cx="3438144" cy="4818888"/>
          </a:xfrm>
          <a:prstGeom prst="rect">
            <a:avLst/>
          </a:prstGeom>
          <a:solidFill>
            <a:srgbClr val="1A237E"/>
          </a:solidFill>
          <a:ln w="12700">
            <a:solidFill>
              <a:srgbClr val="1A237E"/>
            </a:solidFill>
            <a:prstDash val="solid"/>
          </a:ln>
        </p:spPr>
      </p:sp>
      <p:sp>
        <p:nvSpPr>
          <p:cNvPr id="3" name="Text 1"/>
          <p:cNvSpPr/>
          <p:nvPr/>
        </p:nvSpPr>
        <p:spPr>
          <a:xfrm>
            <a:off x="91440" y="457200"/>
            <a:ext cx="3108960" cy="2743200"/>
          </a:xfrm>
          <a:prstGeom prst="rect">
            <a:avLst/>
          </a:prstGeom>
          <a:noFill/>
          <a:ln/>
        </p:spPr>
        <p:txBody>
          <a:bodyPr wrap="square" lIns="0" tIns="0" rIns="0" bIns="0" rtlCol="0" anchor="ctr"/>
          <a:lstStyle/>
          <a:p>
            <a:pPr marL="0" indent="0" algn="ctr">
              <a:buNone/>
            </a:pPr>
            <a:r>
              <a:rPr lang="en-US" sz="18000" b="1" dirty="0">
                <a:solidFill>
                  <a:srgbClr val="0D2580"/>
                </a:solidFill>
                <a:latin typeface="Nunito" pitchFamily="34" charset="0"/>
                <a:ea typeface="Nunito" pitchFamily="34" charset="-122"/>
                <a:cs typeface="Nunito" pitchFamily="34" charset="-120"/>
              </a:rPr>
              <a:t>M</a:t>
            </a:r>
            <a:endParaRPr lang="en-US" sz="18000" dirty="0"/>
          </a:p>
        </p:txBody>
      </p:sp>
      <p:sp>
        <p:nvSpPr>
          <p:cNvPr id="4" name="Text 2"/>
          <p:cNvSpPr/>
          <p:nvPr/>
        </p:nvSpPr>
        <p:spPr>
          <a:xfrm>
            <a:off x="228600" y="201168"/>
            <a:ext cx="2834640" cy="320040"/>
          </a:xfrm>
          <a:prstGeom prst="rect">
            <a:avLst/>
          </a:prstGeom>
          <a:noFill/>
          <a:ln/>
        </p:spPr>
        <p:txBody>
          <a:bodyPr wrap="square" lIns="0" tIns="0" rIns="0" bIns="0" rtlCol="0" anchor="ctr"/>
          <a:lstStyle/>
          <a:p>
            <a:pPr marL="0" indent="0">
              <a:buNone/>
            </a:pPr>
            <a:r>
              <a:rPr lang="en-US" sz="900" b="1" kern="0" spc="100" dirty="0">
                <a:solidFill>
                  <a:srgbClr val="80DEEA"/>
                </a:solidFill>
                <a:latin typeface="Nunito" pitchFamily="34" charset="0"/>
                <a:ea typeface="Nunito" pitchFamily="34" charset="-122"/>
                <a:cs typeface="Nunito" pitchFamily="34" charset="-120"/>
              </a:rPr>
              <a:t>03. Mentor Details</a:t>
            </a:r>
            <a:endParaRPr lang="en-US" sz="900" dirty="0"/>
          </a:p>
        </p:txBody>
      </p:sp>
      <p:sp>
        <p:nvSpPr>
          <p:cNvPr id="5" name="Text 3"/>
          <p:cNvSpPr/>
          <p:nvPr/>
        </p:nvSpPr>
        <p:spPr>
          <a:xfrm>
            <a:off x="118872" y="2706624"/>
            <a:ext cx="3339084" cy="914400"/>
          </a:xfrm>
          <a:prstGeom prst="rect">
            <a:avLst/>
          </a:prstGeom>
          <a:noFill/>
          <a:ln/>
        </p:spPr>
        <p:txBody>
          <a:bodyPr wrap="square" lIns="0" tIns="0" rIns="0" bIns="0" rtlCol="0" anchor="ctr"/>
          <a:lstStyle/>
          <a:p>
            <a:pPr marL="0" indent="0">
              <a:buNone/>
            </a:pPr>
            <a:r>
              <a:rPr lang="en-US" sz="2000" b="1" dirty="0">
                <a:solidFill>
                  <a:srgbClr val="FFFFFF"/>
                </a:solidFill>
                <a:latin typeface="Nunito" pitchFamily="34" charset="0"/>
                <a:ea typeface="Nunito" pitchFamily="34" charset="-122"/>
                <a:cs typeface="Nunito" pitchFamily="34" charset="-120"/>
              </a:rPr>
              <a:t>Dr. Maheshkumar</a:t>
            </a:r>
            <a:r>
              <a:rPr lang="en-US" sz="2000" dirty="0"/>
              <a:t> </a:t>
            </a:r>
            <a:r>
              <a:rPr lang="en-US" sz="2000" b="1" dirty="0">
                <a:solidFill>
                  <a:srgbClr val="FFFFFF"/>
                </a:solidFill>
                <a:latin typeface="Nunito" pitchFamily="34" charset="0"/>
                <a:ea typeface="Nunito" pitchFamily="34" charset="-122"/>
                <a:cs typeface="Nunito" pitchFamily="34" charset="-120"/>
              </a:rPr>
              <a:t>D. Mulani</a:t>
            </a:r>
            <a:endParaRPr lang="en-US" sz="2000" dirty="0"/>
          </a:p>
        </p:txBody>
      </p:sp>
      <p:sp>
        <p:nvSpPr>
          <p:cNvPr id="6" name="Text 4"/>
          <p:cNvSpPr/>
          <p:nvPr/>
        </p:nvSpPr>
        <p:spPr>
          <a:xfrm>
            <a:off x="140970" y="3383280"/>
            <a:ext cx="2834640" cy="274320"/>
          </a:xfrm>
          <a:prstGeom prst="rect">
            <a:avLst/>
          </a:prstGeom>
          <a:noFill/>
          <a:ln/>
        </p:spPr>
        <p:txBody>
          <a:bodyPr wrap="square" lIns="0" tIns="0" rIns="0" bIns="0" rtlCol="0" anchor="ctr"/>
          <a:lstStyle/>
          <a:p>
            <a:pPr marL="0" indent="0">
              <a:buNone/>
            </a:pPr>
            <a:r>
              <a:rPr lang="en-US" sz="1100" dirty="0">
                <a:solidFill>
                  <a:srgbClr val="80DEEA"/>
                </a:solidFill>
                <a:latin typeface="Calibri" pitchFamily="34" charset="0"/>
                <a:ea typeface="Calibri" pitchFamily="34" charset="-122"/>
                <a:cs typeface="Calibri" pitchFamily="34" charset="-120"/>
              </a:rPr>
              <a:t>Asst. Prof. &amp; HoD</a:t>
            </a:r>
            <a:endParaRPr lang="en-US" sz="1100" dirty="0"/>
          </a:p>
        </p:txBody>
      </p:sp>
      <p:sp>
        <p:nvSpPr>
          <p:cNvPr id="7" name="Text 5"/>
          <p:cNvSpPr/>
          <p:nvPr/>
        </p:nvSpPr>
        <p:spPr>
          <a:xfrm>
            <a:off x="118872" y="3643884"/>
            <a:ext cx="2834640" cy="621792"/>
          </a:xfrm>
          <a:prstGeom prst="rect">
            <a:avLst/>
          </a:prstGeom>
          <a:noFill/>
          <a:ln/>
        </p:spPr>
        <p:txBody>
          <a:bodyPr wrap="square" lIns="0" tIns="0" rIns="0" bIns="0" rtlCol="0" anchor="ctr"/>
          <a:lstStyle/>
          <a:p>
            <a:pPr marL="0" indent="0">
              <a:buNone/>
            </a:pPr>
            <a:r>
              <a:rPr lang="en-US" sz="1000" dirty="0">
                <a:solidFill>
                  <a:srgbClr val="B0BEC5"/>
                </a:solidFill>
                <a:latin typeface="Calibri" pitchFamily="34" charset="0"/>
                <a:ea typeface="Calibri" pitchFamily="34" charset="-122"/>
                <a:cs typeface="Calibri" pitchFamily="34" charset="-120"/>
              </a:rPr>
              <a:t>Dept. of Computer Science</a:t>
            </a:r>
            <a:endParaRPr lang="en-US" sz="1000" dirty="0"/>
          </a:p>
          <a:p>
            <a:pPr marL="0" indent="0">
              <a:buNone/>
            </a:pPr>
            <a:r>
              <a:rPr lang="en-US" sz="1000" dirty="0">
                <a:solidFill>
                  <a:srgbClr val="B0BEC5"/>
                </a:solidFill>
                <a:latin typeface="Calibri" pitchFamily="34" charset="0"/>
                <a:ea typeface="Calibri" pitchFamily="34" charset="-122"/>
                <a:cs typeface="Calibri" pitchFamily="34" charset="-120"/>
              </a:rPr>
              <a:t>KSKV Kachchh University, Bhuj</a:t>
            </a:r>
            <a:endParaRPr lang="en-US" sz="1000" dirty="0"/>
          </a:p>
        </p:txBody>
      </p:sp>
      <p:sp>
        <p:nvSpPr>
          <p:cNvPr id="8" name="Shape 6"/>
          <p:cNvSpPr/>
          <p:nvPr/>
        </p:nvSpPr>
        <p:spPr>
          <a:xfrm>
            <a:off x="3493008" y="502920"/>
            <a:ext cx="1783080" cy="1371600"/>
          </a:xfrm>
          <a:prstGeom prst="rect">
            <a:avLst/>
          </a:prstGeom>
          <a:solidFill>
            <a:srgbClr val="1E2B8F"/>
          </a:solidFill>
          <a:ln w="12700">
            <a:solidFill>
              <a:srgbClr val="1E2B8F"/>
            </a:solidFill>
            <a:prstDash val="solid"/>
          </a:ln>
        </p:spPr>
      </p:sp>
      <p:sp>
        <p:nvSpPr>
          <p:cNvPr id="9" name="Shape 7"/>
          <p:cNvSpPr/>
          <p:nvPr/>
        </p:nvSpPr>
        <p:spPr>
          <a:xfrm>
            <a:off x="3493008" y="502920"/>
            <a:ext cx="1783080" cy="54864"/>
          </a:xfrm>
          <a:prstGeom prst="rect">
            <a:avLst/>
          </a:prstGeom>
          <a:solidFill>
            <a:srgbClr val="00BCD4"/>
          </a:solidFill>
          <a:ln w="12700">
            <a:solidFill>
              <a:srgbClr val="00BCD4"/>
            </a:solidFill>
            <a:prstDash val="solid"/>
          </a:ln>
        </p:spPr>
      </p:sp>
      <p:sp>
        <p:nvSpPr>
          <p:cNvPr id="10" name="Text 8"/>
          <p:cNvSpPr/>
          <p:nvPr/>
        </p:nvSpPr>
        <p:spPr>
          <a:xfrm>
            <a:off x="3621024" y="630936"/>
            <a:ext cx="1600200" cy="256032"/>
          </a:xfrm>
          <a:prstGeom prst="rect">
            <a:avLst/>
          </a:prstGeom>
          <a:noFill/>
          <a:ln/>
        </p:spPr>
        <p:txBody>
          <a:bodyPr wrap="square" lIns="0" tIns="0" rIns="0" bIns="0" rtlCol="0" anchor="ctr"/>
          <a:lstStyle/>
          <a:p>
            <a:pPr marL="0" indent="0">
              <a:buNone/>
            </a:pPr>
            <a:r>
              <a:rPr lang="en-US" sz="800" b="1" dirty="0">
                <a:solidFill>
                  <a:srgbClr val="00BCD4"/>
                </a:solidFill>
                <a:latin typeface="Nunito" pitchFamily="34" charset="0"/>
                <a:ea typeface="Nunito" pitchFamily="34" charset="-122"/>
                <a:cs typeface="Nunito" pitchFamily="34" charset="-120"/>
              </a:rPr>
              <a:t>Designation</a:t>
            </a:r>
            <a:endParaRPr lang="en-US" sz="800" dirty="0"/>
          </a:p>
        </p:txBody>
      </p:sp>
      <p:sp>
        <p:nvSpPr>
          <p:cNvPr id="11" name="Text 9"/>
          <p:cNvSpPr/>
          <p:nvPr/>
        </p:nvSpPr>
        <p:spPr>
          <a:xfrm>
            <a:off x="3621024" y="914400"/>
            <a:ext cx="1600200" cy="868680"/>
          </a:xfrm>
          <a:prstGeom prst="rect">
            <a:avLst/>
          </a:prstGeom>
          <a:noFill/>
          <a:ln/>
        </p:spPr>
        <p:txBody>
          <a:bodyPr wrap="square" lIns="0" tIns="0" rIns="0" bIns="0" rtlCol="0" anchor="ctr"/>
          <a:lstStyle/>
          <a:p>
            <a:pPr marL="0" indent="0">
              <a:buNone/>
            </a:pPr>
            <a:r>
              <a:rPr lang="en-US" sz="1100" b="1" dirty="0">
                <a:solidFill>
                  <a:srgbClr val="FFFFFF"/>
                </a:solidFill>
                <a:latin typeface="Nunito" pitchFamily="34" charset="0"/>
                <a:ea typeface="Nunito" pitchFamily="34" charset="-122"/>
                <a:cs typeface="Nunito" pitchFamily="34" charset="-120"/>
              </a:rPr>
              <a:t>Assistant Professor</a:t>
            </a:r>
            <a:endParaRPr lang="en-US" sz="1100" dirty="0"/>
          </a:p>
          <a:p>
            <a:pPr marL="0" indent="0">
              <a:buNone/>
            </a:pPr>
            <a:r>
              <a:rPr lang="en-US" sz="1100" b="1" dirty="0">
                <a:solidFill>
                  <a:srgbClr val="FFFFFF"/>
                </a:solidFill>
                <a:latin typeface="Nunito" pitchFamily="34" charset="0"/>
                <a:ea typeface="Nunito" pitchFamily="34" charset="-122"/>
                <a:cs typeface="Nunito" pitchFamily="34" charset="-120"/>
              </a:rPr>
              <a:t>&amp; Head of Dept.</a:t>
            </a:r>
            <a:endParaRPr lang="en-US" sz="1100" dirty="0"/>
          </a:p>
        </p:txBody>
      </p:sp>
      <p:sp>
        <p:nvSpPr>
          <p:cNvPr id="12" name="Shape 10"/>
          <p:cNvSpPr/>
          <p:nvPr/>
        </p:nvSpPr>
        <p:spPr>
          <a:xfrm>
            <a:off x="5367528" y="502920"/>
            <a:ext cx="1783080" cy="1371600"/>
          </a:xfrm>
          <a:prstGeom prst="rect">
            <a:avLst/>
          </a:prstGeom>
          <a:solidFill>
            <a:srgbClr val="1E2B8F"/>
          </a:solidFill>
          <a:ln w="12700">
            <a:solidFill>
              <a:srgbClr val="1E2B8F"/>
            </a:solidFill>
            <a:prstDash val="solid"/>
          </a:ln>
        </p:spPr>
      </p:sp>
      <p:sp>
        <p:nvSpPr>
          <p:cNvPr id="13" name="Shape 11"/>
          <p:cNvSpPr/>
          <p:nvPr/>
        </p:nvSpPr>
        <p:spPr>
          <a:xfrm>
            <a:off x="5367528" y="502920"/>
            <a:ext cx="1783080" cy="54864"/>
          </a:xfrm>
          <a:prstGeom prst="rect">
            <a:avLst/>
          </a:prstGeom>
          <a:solidFill>
            <a:srgbClr val="00E5FF"/>
          </a:solidFill>
          <a:ln w="12700">
            <a:solidFill>
              <a:srgbClr val="00E5FF"/>
            </a:solidFill>
            <a:prstDash val="solid"/>
          </a:ln>
        </p:spPr>
      </p:sp>
      <p:sp>
        <p:nvSpPr>
          <p:cNvPr id="14" name="Text 12"/>
          <p:cNvSpPr/>
          <p:nvPr/>
        </p:nvSpPr>
        <p:spPr>
          <a:xfrm>
            <a:off x="5495544" y="630936"/>
            <a:ext cx="1600200" cy="256032"/>
          </a:xfrm>
          <a:prstGeom prst="rect">
            <a:avLst/>
          </a:prstGeom>
          <a:noFill/>
          <a:ln/>
        </p:spPr>
        <p:txBody>
          <a:bodyPr wrap="square" lIns="0" tIns="0" rIns="0" bIns="0" rtlCol="0" anchor="ctr"/>
          <a:lstStyle/>
          <a:p>
            <a:pPr marL="0" indent="0">
              <a:buNone/>
            </a:pPr>
            <a:r>
              <a:rPr lang="en-US" sz="800" b="1" dirty="0">
                <a:solidFill>
                  <a:srgbClr val="00E5FF"/>
                </a:solidFill>
                <a:latin typeface="Nunito" pitchFamily="34" charset="0"/>
                <a:ea typeface="Nunito" pitchFamily="34" charset="-122"/>
                <a:cs typeface="Nunito" pitchFamily="34" charset="-120"/>
              </a:rPr>
              <a:t>Department</a:t>
            </a:r>
            <a:endParaRPr lang="en-US" sz="800" dirty="0"/>
          </a:p>
        </p:txBody>
      </p:sp>
      <p:sp>
        <p:nvSpPr>
          <p:cNvPr id="15" name="Text 13"/>
          <p:cNvSpPr/>
          <p:nvPr/>
        </p:nvSpPr>
        <p:spPr>
          <a:xfrm>
            <a:off x="5495544" y="914400"/>
            <a:ext cx="1600200" cy="868680"/>
          </a:xfrm>
          <a:prstGeom prst="rect">
            <a:avLst/>
          </a:prstGeom>
          <a:noFill/>
          <a:ln/>
        </p:spPr>
        <p:txBody>
          <a:bodyPr wrap="square" lIns="0" tIns="0" rIns="0" bIns="0" rtlCol="0" anchor="ctr"/>
          <a:lstStyle/>
          <a:p>
            <a:pPr marL="0" indent="0">
              <a:buNone/>
            </a:pPr>
            <a:r>
              <a:rPr lang="en-US" sz="1100" b="1" dirty="0">
                <a:solidFill>
                  <a:srgbClr val="FFFFFF"/>
                </a:solidFill>
                <a:latin typeface="Nunito" pitchFamily="34" charset="0"/>
                <a:ea typeface="Nunito" pitchFamily="34" charset="-122"/>
                <a:cs typeface="Nunito" pitchFamily="34" charset="-120"/>
              </a:rPr>
              <a:t>Computer Science</a:t>
            </a:r>
            <a:endParaRPr lang="en-US" sz="1100" dirty="0"/>
          </a:p>
          <a:p>
            <a:pPr marL="0" indent="0">
              <a:buNone/>
            </a:pPr>
            <a:r>
              <a:rPr lang="en-US" sz="1100" b="1" dirty="0">
                <a:solidFill>
                  <a:srgbClr val="FFFFFF"/>
                </a:solidFill>
                <a:latin typeface="Nunito" pitchFamily="34" charset="0"/>
                <a:ea typeface="Nunito" pitchFamily="34" charset="-122"/>
                <a:cs typeface="Nunito" pitchFamily="34" charset="-120"/>
              </a:rPr>
              <a:t>KSKV Kachchh Univ.</a:t>
            </a:r>
            <a:endParaRPr lang="en-US" sz="1100" dirty="0"/>
          </a:p>
        </p:txBody>
      </p:sp>
      <p:sp>
        <p:nvSpPr>
          <p:cNvPr id="16" name="Shape 14"/>
          <p:cNvSpPr/>
          <p:nvPr/>
        </p:nvSpPr>
        <p:spPr>
          <a:xfrm>
            <a:off x="7242048" y="502920"/>
            <a:ext cx="1783080" cy="1371600"/>
          </a:xfrm>
          <a:prstGeom prst="rect">
            <a:avLst/>
          </a:prstGeom>
          <a:solidFill>
            <a:srgbClr val="1E2B8F"/>
          </a:solidFill>
          <a:ln w="12700">
            <a:solidFill>
              <a:srgbClr val="1E2B8F"/>
            </a:solidFill>
            <a:prstDash val="solid"/>
          </a:ln>
        </p:spPr>
      </p:sp>
      <p:sp>
        <p:nvSpPr>
          <p:cNvPr id="17" name="Shape 15"/>
          <p:cNvSpPr/>
          <p:nvPr/>
        </p:nvSpPr>
        <p:spPr>
          <a:xfrm>
            <a:off x="7242048" y="502920"/>
            <a:ext cx="1783080" cy="54864"/>
          </a:xfrm>
          <a:prstGeom prst="rect">
            <a:avLst/>
          </a:prstGeom>
          <a:solidFill>
            <a:srgbClr val="00BCD4"/>
          </a:solidFill>
          <a:ln w="12700">
            <a:solidFill>
              <a:srgbClr val="00BCD4"/>
            </a:solidFill>
            <a:prstDash val="solid"/>
          </a:ln>
        </p:spPr>
      </p:sp>
      <p:sp>
        <p:nvSpPr>
          <p:cNvPr id="18" name="Text 16"/>
          <p:cNvSpPr/>
          <p:nvPr/>
        </p:nvSpPr>
        <p:spPr>
          <a:xfrm>
            <a:off x="7370064" y="630936"/>
            <a:ext cx="1600200" cy="256032"/>
          </a:xfrm>
          <a:prstGeom prst="rect">
            <a:avLst/>
          </a:prstGeom>
          <a:noFill/>
          <a:ln/>
        </p:spPr>
        <p:txBody>
          <a:bodyPr wrap="square" lIns="0" tIns="0" rIns="0" bIns="0" rtlCol="0" anchor="ctr"/>
          <a:lstStyle/>
          <a:p>
            <a:pPr marL="0" indent="0">
              <a:buNone/>
            </a:pPr>
            <a:r>
              <a:rPr lang="en-US" sz="800" b="1" dirty="0">
                <a:solidFill>
                  <a:srgbClr val="00BCD4"/>
                </a:solidFill>
                <a:latin typeface="Nunito" pitchFamily="34" charset="0"/>
                <a:ea typeface="Nunito" pitchFamily="34" charset="-122"/>
                <a:cs typeface="Nunito" pitchFamily="34" charset="-120"/>
              </a:rPr>
              <a:t>WhatsApp</a:t>
            </a:r>
            <a:endParaRPr lang="en-US" sz="800" dirty="0"/>
          </a:p>
        </p:txBody>
      </p:sp>
      <p:sp>
        <p:nvSpPr>
          <p:cNvPr id="19" name="Text 17"/>
          <p:cNvSpPr/>
          <p:nvPr/>
        </p:nvSpPr>
        <p:spPr>
          <a:xfrm>
            <a:off x="7370064" y="914400"/>
            <a:ext cx="1600200" cy="868680"/>
          </a:xfrm>
          <a:prstGeom prst="rect">
            <a:avLst/>
          </a:prstGeom>
          <a:noFill/>
          <a:ln/>
        </p:spPr>
        <p:txBody>
          <a:bodyPr wrap="square" lIns="0" tIns="0" rIns="0" bIns="0" rtlCol="0" anchor="ctr"/>
          <a:lstStyle/>
          <a:p>
            <a:pPr marL="0" indent="0">
              <a:buNone/>
            </a:pPr>
            <a:r>
              <a:rPr lang="en-US" sz="1100" b="1" dirty="0">
                <a:solidFill>
                  <a:srgbClr val="FFFFFF"/>
                </a:solidFill>
                <a:latin typeface="Nunito" pitchFamily="34" charset="0"/>
                <a:ea typeface="Nunito" pitchFamily="34" charset="-122"/>
                <a:cs typeface="Nunito" pitchFamily="34" charset="-120"/>
              </a:rPr>
              <a:t>+91 94094 93497</a:t>
            </a:r>
            <a:endParaRPr lang="en-US" sz="1100" dirty="0"/>
          </a:p>
        </p:txBody>
      </p:sp>
      <p:sp>
        <p:nvSpPr>
          <p:cNvPr id="20" name="Shape 18"/>
          <p:cNvSpPr/>
          <p:nvPr/>
        </p:nvSpPr>
        <p:spPr>
          <a:xfrm>
            <a:off x="3493008" y="1965960"/>
            <a:ext cx="1783080" cy="1371600"/>
          </a:xfrm>
          <a:prstGeom prst="rect">
            <a:avLst/>
          </a:prstGeom>
          <a:solidFill>
            <a:srgbClr val="1E2B8F"/>
          </a:solidFill>
          <a:ln w="12700">
            <a:solidFill>
              <a:srgbClr val="1E2B8F"/>
            </a:solidFill>
            <a:prstDash val="solid"/>
          </a:ln>
        </p:spPr>
      </p:sp>
      <p:sp>
        <p:nvSpPr>
          <p:cNvPr id="21" name="Shape 19"/>
          <p:cNvSpPr/>
          <p:nvPr/>
        </p:nvSpPr>
        <p:spPr>
          <a:xfrm>
            <a:off x="3493008" y="1965960"/>
            <a:ext cx="1783080" cy="54864"/>
          </a:xfrm>
          <a:prstGeom prst="rect">
            <a:avLst/>
          </a:prstGeom>
          <a:solidFill>
            <a:srgbClr val="FF7043"/>
          </a:solidFill>
          <a:ln w="12700">
            <a:solidFill>
              <a:srgbClr val="FF7043"/>
            </a:solidFill>
            <a:prstDash val="solid"/>
          </a:ln>
        </p:spPr>
      </p:sp>
      <p:sp>
        <p:nvSpPr>
          <p:cNvPr id="22" name="Text 20"/>
          <p:cNvSpPr/>
          <p:nvPr/>
        </p:nvSpPr>
        <p:spPr>
          <a:xfrm>
            <a:off x="3621024" y="2093976"/>
            <a:ext cx="1600200" cy="256032"/>
          </a:xfrm>
          <a:prstGeom prst="rect">
            <a:avLst/>
          </a:prstGeom>
          <a:noFill/>
          <a:ln/>
        </p:spPr>
        <p:txBody>
          <a:bodyPr wrap="square" lIns="0" tIns="0" rIns="0" bIns="0" rtlCol="0" anchor="ctr"/>
          <a:lstStyle/>
          <a:p>
            <a:pPr marL="0" indent="0">
              <a:buNone/>
            </a:pPr>
            <a:r>
              <a:rPr lang="en-US" sz="800" b="1" dirty="0">
                <a:solidFill>
                  <a:srgbClr val="FF7043"/>
                </a:solidFill>
                <a:latin typeface="Nunito" pitchFamily="34" charset="0"/>
                <a:ea typeface="Nunito" pitchFamily="34" charset="-122"/>
                <a:cs typeface="Nunito" pitchFamily="34" charset="-120"/>
              </a:rPr>
              <a:t>Email</a:t>
            </a:r>
            <a:endParaRPr lang="en-US" sz="800" dirty="0"/>
          </a:p>
        </p:txBody>
      </p:sp>
      <p:sp>
        <p:nvSpPr>
          <p:cNvPr id="23" name="Text 21"/>
          <p:cNvSpPr/>
          <p:nvPr/>
        </p:nvSpPr>
        <p:spPr>
          <a:xfrm>
            <a:off x="3621024" y="2377440"/>
            <a:ext cx="1600200" cy="868680"/>
          </a:xfrm>
          <a:prstGeom prst="rect">
            <a:avLst/>
          </a:prstGeom>
          <a:noFill/>
          <a:ln/>
        </p:spPr>
        <p:txBody>
          <a:bodyPr wrap="square" lIns="0" tIns="0" rIns="0" bIns="0" rtlCol="0" anchor="ctr"/>
          <a:lstStyle/>
          <a:p>
            <a:pPr marL="0" indent="0">
              <a:buNone/>
            </a:pPr>
            <a:r>
              <a:rPr lang="en-US" sz="1100" b="1" dirty="0">
                <a:solidFill>
                  <a:srgbClr val="FFFFFF"/>
                </a:solidFill>
                <a:latin typeface="Nunito" pitchFamily="34" charset="0"/>
                <a:ea typeface="Nunito" pitchFamily="34" charset="-122"/>
                <a:cs typeface="Nunito" pitchFamily="34" charset="-120"/>
              </a:rPr>
              <a:t>mdm@kskvku.ac.in</a:t>
            </a:r>
            <a:endParaRPr lang="en-US" sz="1100" dirty="0"/>
          </a:p>
        </p:txBody>
      </p:sp>
      <p:sp>
        <p:nvSpPr>
          <p:cNvPr id="24" name="Shape 22"/>
          <p:cNvSpPr/>
          <p:nvPr/>
        </p:nvSpPr>
        <p:spPr>
          <a:xfrm>
            <a:off x="5367528" y="1965960"/>
            <a:ext cx="1783080" cy="1371600"/>
          </a:xfrm>
          <a:prstGeom prst="rect">
            <a:avLst/>
          </a:prstGeom>
          <a:solidFill>
            <a:srgbClr val="1E2B8F"/>
          </a:solidFill>
          <a:ln w="12700">
            <a:solidFill>
              <a:srgbClr val="1E2B8F"/>
            </a:solidFill>
            <a:prstDash val="solid"/>
          </a:ln>
        </p:spPr>
      </p:sp>
      <p:sp>
        <p:nvSpPr>
          <p:cNvPr id="25" name="Shape 23"/>
          <p:cNvSpPr/>
          <p:nvPr/>
        </p:nvSpPr>
        <p:spPr>
          <a:xfrm>
            <a:off x="5367528" y="1965960"/>
            <a:ext cx="1783080" cy="54864"/>
          </a:xfrm>
          <a:prstGeom prst="rect">
            <a:avLst/>
          </a:prstGeom>
          <a:solidFill>
            <a:srgbClr val="00BCD4"/>
          </a:solidFill>
          <a:ln w="12700">
            <a:solidFill>
              <a:srgbClr val="00BCD4"/>
            </a:solidFill>
            <a:prstDash val="solid"/>
          </a:ln>
        </p:spPr>
      </p:sp>
      <p:sp>
        <p:nvSpPr>
          <p:cNvPr id="26" name="Text 24"/>
          <p:cNvSpPr/>
          <p:nvPr/>
        </p:nvSpPr>
        <p:spPr>
          <a:xfrm>
            <a:off x="5495544" y="2093976"/>
            <a:ext cx="1600200" cy="256032"/>
          </a:xfrm>
          <a:prstGeom prst="rect">
            <a:avLst/>
          </a:prstGeom>
          <a:noFill/>
          <a:ln/>
        </p:spPr>
        <p:txBody>
          <a:bodyPr wrap="square" lIns="0" tIns="0" rIns="0" bIns="0" rtlCol="0" anchor="ctr"/>
          <a:lstStyle/>
          <a:p>
            <a:pPr marL="0" indent="0">
              <a:buNone/>
            </a:pPr>
            <a:r>
              <a:rPr lang="en-US" sz="800" b="1" dirty="0">
                <a:solidFill>
                  <a:srgbClr val="00BCD4"/>
                </a:solidFill>
                <a:latin typeface="Nunito" pitchFamily="34" charset="0"/>
                <a:ea typeface="Nunito" pitchFamily="34" charset="-122"/>
                <a:cs typeface="Nunito" pitchFamily="34" charset="-120"/>
              </a:rPr>
              <a:t>Institute</a:t>
            </a:r>
            <a:endParaRPr lang="en-US" sz="800" dirty="0"/>
          </a:p>
        </p:txBody>
      </p:sp>
      <p:sp>
        <p:nvSpPr>
          <p:cNvPr id="27" name="Text 25"/>
          <p:cNvSpPr/>
          <p:nvPr/>
        </p:nvSpPr>
        <p:spPr>
          <a:xfrm>
            <a:off x="5495544" y="2377440"/>
            <a:ext cx="1600200" cy="868680"/>
          </a:xfrm>
          <a:prstGeom prst="rect">
            <a:avLst/>
          </a:prstGeom>
          <a:noFill/>
          <a:ln/>
        </p:spPr>
        <p:txBody>
          <a:bodyPr wrap="square" lIns="0" tIns="0" rIns="0" bIns="0" rtlCol="0" anchor="ctr"/>
          <a:lstStyle/>
          <a:p>
            <a:pPr marL="0" indent="0">
              <a:buNone/>
            </a:pPr>
            <a:r>
              <a:rPr lang="en-US" sz="1100" b="1" dirty="0">
                <a:solidFill>
                  <a:srgbClr val="FFFFFF"/>
                </a:solidFill>
                <a:latin typeface="Nunito" pitchFamily="34" charset="0"/>
                <a:ea typeface="Nunito" pitchFamily="34" charset="-122"/>
                <a:cs typeface="Nunito" pitchFamily="34" charset="-120"/>
              </a:rPr>
              <a:t>KSKV Kachchh Univ.</a:t>
            </a:r>
            <a:endParaRPr lang="en-US" sz="1100" dirty="0"/>
          </a:p>
          <a:p>
            <a:pPr marL="0" indent="0">
              <a:buNone/>
            </a:pPr>
            <a:r>
              <a:rPr lang="en-US" sz="1100" b="1" dirty="0">
                <a:solidFill>
                  <a:srgbClr val="FFFFFF"/>
                </a:solidFill>
                <a:latin typeface="Nunito" pitchFamily="34" charset="0"/>
                <a:ea typeface="Nunito" pitchFamily="34" charset="-122"/>
                <a:cs typeface="Nunito" pitchFamily="34" charset="-120"/>
              </a:rPr>
              <a:t>Bhuj-Kutch</a:t>
            </a:r>
            <a:endParaRPr lang="en-US" sz="1100" dirty="0"/>
          </a:p>
        </p:txBody>
      </p:sp>
      <p:sp>
        <p:nvSpPr>
          <p:cNvPr id="28" name="Shape 26"/>
          <p:cNvSpPr/>
          <p:nvPr/>
        </p:nvSpPr>
        <p:spPr>
          <a:xfrm>
            <a:off x="7242048" y="1965960"/>
            <a:ext cx="1783080" cy="1371600"/>
          </a:xfrm>
          <a:prstGeom prst="rect">
            <a:avLst/>
          </a:prstGeom>
          <a:solidFill>
            <a:srgbClr val="1E2B8F"/>
          </a:solidFill>
          <a:ln w="12700">
            <a:solidFill>
              <a:srgbClr val="1E2B8F"/>
            </a:solidFill>
            <a:prstDash val="solid"/>
          </a:ln>
        </p:spPr>
      </p:sp>
      <p:sp>
        <p:nvSpPr>
          <p:cNvPr id="29" name="Shape 27"/>
          <p:cNvSpPr/>
          <p:nvPr/>
        </p:nvSpPr>
        <p:spPr>
          <a:xfrm>
            <a:off x="7242048" y="1965960"/>
            <a:ext cx="1783080" cy="54864"/>
          </a:xfrm>
          <a:prstGeom prst="rect">
            <a:avLst/>
          </a:prstGeom>
          <a:solidFill>
            <a:srgbClr val="00E5FF"/>
          </a:solidFill>
          <a:ln w="12700">
            <a:solidFill>
              <a:srgbClr val="00E5FF"/>
            </a:solidFill>
            <a:prstDash val="solid"/>
          </a:ln>
        </p:spPr>
      </p:sp>
      <p:sp>
        <p:nvSpPr>
          <p:cNvPr id="30" name="Text 28"/>
          <p:cNvSpPr/>
          <p:nvPr/>
        </p:nvSpPr>
        <p:spPr>
          <a:xfrm>
            <a:off x="7370064" y="2093976"/>
            <a:ext cx="1600200" cy="256032"/>
          </a:xfrm>
          <a:prstGeom prst="rect">
            <a:avLst/>
          </a:prstGeom>
          <a:noFill/>
          <a:ln/>
        </p:spPr>
        <p:txBody>
          <a:bodyPr wrap="square" lIns="0" tIns="0" rIns="0" bIns="0" rtlCol="0" anchor="ctr"/>
          <a:lstStyle/>
          <a:p>
            <a:pPr marL="0" indent="0">
              <a:buNone/>
            </a:pPr>
            <a:r>
              <a:rPr lang="en-US" sz="800" b="1" dirty="0">
                <a:solidFill>
                  <a:srgbClr val="00E5FF"/>
                </a:solidFill>
                <a:latin typeface="Nunito" pitchFamily="34" charset="0"/>
                <a:ea typeface="Nunito" pitchFamily="34" charset="-122"/>
                <a:cs typeface="Nunito" pitchFamily="34" charset="-120"/>
              </a:rPr>
              <a:t>Role</a:t>
            </a:r>
            <a:endParaRPr lang="en-US" sz="800" dirty="0"/>
          </a:p>
        </p:txBody>
      </p:sp>
      <p:sp>
        <p:nvSpPr>
          <p:cNvPr id="31" name="Text 29"/>
          <p:cNvSpPr/>
          <p:nvPr/>
        </p:nvSpPr>
        <p:spPr>
          <a:xfrm>
            <a:off x="7370064" y="2377440"/>
            <a:ext cx="1600200" cy="868680"/>
          </a:xfrm>
          <a:prstGeom prst="rect">
            <a:avLst/>
          </a:prstGeom>
          <a:noFill/>
          <a:ln/>
        </p:spPr>
        <p:txBody>
          <a:bodyPr wrap="square" lIns="0" tIns="0" rIns="0" bIns="0" rtlCol="0" anchor="ctr"/>
          <a:lstStyle/>
          <a:p>
            <a:pPr marL="0" indent="0">
              <a:buNone/>
            </a:pPr>
            <a:r>
              <a:rPr lang="en-US" sz="1100" b="1" dirty="0">
                <a:solidFill>
                  <a:srgbClr val="FFFFFF"/>
                </a:solidFill>
                <a:latin typeface="Nunito" pitchFamily="34" charset="0"/>
                <a:ea typeface="Nunito" pitchFamily="34" charset="-122"/>
                <a:cs typeface="Nunito" pitchFamily="34" charset="-120"/>
              </a:rPr>
              <a:t>Guide &amp; Institutional</a:t>
            </a:r>
            <a:endParaRPr lang="en-US" sz="1100" dirty="0"/>
          </a:p>
          <a:p>
            <a:pPr marL="0" indent="0">
              <a:buNone/>
            </a:pPr>
            <a:r>
              <a:rPr lang="en-US" sz="1100" b="1" dirty="0">
                <a:solidFill>
                  <a:srgbClr val="FFFFFF"/>
                </a:solidFill>
                <a:latin typeface="Nunito" pitchFamily="34" charset="0"/>
                <a:ea typeface="Nunito" pitchFamily="34" charset="-122"/>
                <a:cs typeface="Nunito" pitchFamily="34" charset="-120"/>
              </a:rPr>
              <a:t>Supervisor</a:t>
            </a:r>
            <a:endParaRPr lang="en-US" sz="1100" dirty="0"/>
          </a:p>
        </p:txBody>
      </p:sp>
      <p:sp>
        <p:nvSpPr>
          <p:cNvPr id="32" name="Shape 30"/>
          <p:cNvSpPr/>
          <p:nvPr/>
        </p:nvSpPr>
        <p:spPr>
          <a:xfrm>
            <a:off x="0" y="4818888"/>
            <a:ext cx="9144000" cy="324612"/>
          </a:xfrm>
          <a:prstGeom prst="rect">
            <a:avLst/>
          </a:prstGeom>
          <a:solidFill>
            <a:srgbClr val="060C38"/>
          </a:solidFill>
          <a:ln w="12700">
            <a:solidFill>
              <a:srgbClr val="060C38"/>
            </a:solidFill>
            <a:prstDash val="solid"/>
          </a:ln>
        </p:spPr>
      </p:sp>
      <p:sp>
        <p:nvSpPr>
          <p:cNvPr id="33" name="Shape 31"/>
          <p:cNvSpPr/>
          <p:nvPr/>
        </p:nvSpPr>
        <p:spPr>
          <a:xfrm>
            <a:off x="0" y="4818888"/>
            <a:ext cx="118872" cy="324612"/>
          </a:xfrm>
          <a:prstGeom prst="rect">
            <a:avLst/>
          </a:prstGeom>
          <a:solidFill>
            <a:srgbClr val="00E5FF"/>
          </a:solidFill>
          <a:ln w="12700">
            <a:solidFill>
              <a:srgbClr val="00E5FF"/>
            </a:solidFill>
            <a:prstDash val="solid"/>
          </a:ln>
        </p:spPr>
      </p:sp>
      <p:sp>
        <p:nvSpPr>
          <p:cNvPr id="34" name="Text 32"/>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35" name="Text 33"/>
          <p:cNvSpPr/>
          <p:nvPr/>
        </p:nvSpPr>
        <p:spPr>
          <a:xfrm>
            <a:off x="3931920" y="4841748"/>
            <a:ext cx="1828800" cy="274320"/>
          </a:xfrm>
          <a:prstGeom prst="rect">
            <a:avLst/>
          </a:prstGeom>
          <a:noFill/>
          <a:ln/>
        </p:spPr>
        <p:txBody>
          <a:bodyPr wrap="square" lIns="0" tIns="0" rIns="0" bIns="0" rtlCol="0" anchor="ctr"/>
          <a:lstStyle/>
          <a:p>
            <a:pPr marL="0" indent="0" algn="ctr">
              <a:buNone/>
            </a:pPr>
            <a:r>
              <a:rPr lang="en-US" sz="850" dirty="0">
                <a:solidFill>
                  <a:srgbClr val="7986CB"/>
                </a:solidFill>
                <a:latin typeface="Calibri" pitchFamily="34" charset="0"/>
                <a:ea typeface="Calibri" pitchFamily="34" charset="-122"/>
                <a:cs typeface="Calibri" pitchFamily="34" charset="-120"/>
              </a:rPr>
              <a:t>Priyankaba Jadeja</a:t>
            </a:r>
            <a:endParaRPr lang="en-US" sz="850" dirty="0"/>
          </a:p>
        </p:txBody>
      </p:sp>
      <p:sp>
        <p:nvSpPr>
          <p:cNvPr id="36" name="Text 34"/>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03 / 17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554"/>
        </a:solidFill>
        <a:effectLst/>
      </p:bgPr>
    </p:bg>
    <p:spTree>
      <p:nvGrpSpPr>
        <p:cNvPr id="1" name=""/>
        <p:cNvGrpSpPr/>
        <p:nvPr/>
      </p:nvGrpSpPr>
      <p:grpSpPr>
        <a:xfrm>
          <a:off x="0" y="0"/>
          <a:ext cx="0" cy="0"/>
          <a:chOff x="0" y="0"/>
          <a:chExt cx="0" cy="0"/>
        </a:xfrm>
      </p:grpSpPr>
      <p:sp>
        <p:nvSpPr>
          <p:cNvPr id="2" name="Shape 0"/>
          <p:cNvSpPr/>
          <p:nvPr/>
        </p:nvSpPr>
        <p:spPr>
          <a:xfrm>
            <a:off x="0" y="0"/>
            <a:ext cx="3200400" cy="4818888"/>
          </a:xfrm>
          <a:prstGeom prst="rect">
            <a:avLst/>
          </a:prstGeom>
          <a:solidFill>
            <a:srgbClr val="1A237E"/>
          </a:solidFill>
          <a:ln w="12700">
            <a:solidFill>
              <a:srgbClr val="1A237E"/>
            </a:solidFill>
            <a:prstDash val="solid"/>
          </a:ln>
        </p:spPr>
      </p:sp>
      <p:sp>
        <p:nvSpPr>
          <p:cNvPr id="3" name="Shape 1"/>
          <p:cNvSpPr/>
          <p:nvPr/>
        </p:nvSpPr>
        <p:spPr>
          <a:xfrm>
            <a:off x="0" y="0"/>
            <a:ext cx="73152" cy="4818888"/>
          </a:xfrm>
          <a:prstGeom prst="rect">
            <a:avLst/>
          </a:prstGeom>
          <a:solidFill>
            <a:srgbClr val="FF7043"/>
          </a:solidFill>
          <a:ln w="12700">
            <a:solidFill>
              <a:srgbClr val="FF7043"/>
            </a:solidFill>
            <a:prstDash val="solid"/>
          </a:ln>
        </p:spPr>
      </p:sp>
      <p:sp>
        <p:nvSpPr>
          <p:cNvPr id="4" name="Text 2"/>
          <p:cNvSpPr/>
          <p:nvPr/>
        </p:nvSpPr>
        <p:spPr>
          <a:xfrm>
            <a:off x="182880" y="164592"/>
            <a:ext cx="731520" cy="320040"/>
          </a:xfrm>
          <a:prstGeom prst="rect">
            <a:avLst/>
          </a:prstGeom>
          <a:noFill/>
          <a:ln/>
        </p:spPr>
        <p:txBody>
          <a:bodyPr wrap="square" lIns="0" tIns="0" rIns="0" bIns="0" rtlCol="0" anchor="ctr"/>
          <a:lstStyle/>
          <a:p>
            <a:pPr marL="0" indent="0">
              <a:buNone/>
            </a:pPr>
            <a:r>
              <a:rPr lang="en-US" sz="1100" b="1" dirty="0">
                <a:solidFill>
                  <a:srgbClr val="FF7043"/>
                </a:solidFill>
                <a:latin typeface="Nunito" pitchFamily="34" charset="0"/>
                <a:ea typeface="Nunito" pitchFamily="34" charset="-122"/>
                <a:cs typeface="Nunito" pitchFamily="34" charset="-120"/>
              </a:rPr>
              <a:t>04</a:t>
            </a:r>
            <a:endParaRPr lang="en-US" sz="1100" dirty="0"/>
          </a:p>
        </p:txBody>
      </p:sp>
      <p:sp>
        <p:nvSpPr>
          <p:cNvPr id="5" name="Text 3"/>
          <p:cNvSpPr/>
          <p:nvPr/>
        </p:nvSpPr>
        <p:spPr>
          <a:xfrm>
            <a:off x="182880" y="475488"/>
            <a:ext cx="2834640" cy="777240"/>
          </a:xfrm>
          <a:prstGeom prst="rect">
            <a:avLst/>
          </a:prstGeom>
          <a:noFill/>
          <a:ln/>
        </p:spPr>
        <p:txBody>
          <a:bodyPr wrap="square" lIns="0" tIns="0" rIns="0" bIns="0" rtlCol="0" anchor="ctr"/>
          <a:lstStyle/>
          <a:p>
            <a:pPr marL="0" indent="0">
              <a:buNone/>
            </a:pPr>
            <a:r>
              <a:rPr lang="en-US" sz="2200" b="1" dirty="0">
                <a:solidFill>
                  <a:srgbClr val="FFFFFF"/>
                </a:solidFill>
                <a:latin typeface="Nunito" pitchFamily="34" charset="0"/>
                <a:ea typeface="Nunito" pitchFamily="34" charset="-122"/>
                <a:cs typeface="Nunito" pitchFamily="34" charset="-120"/>
              </a:rPr>
              <a:t>Startup</a:t>
            </a:r>
            <a:endParaRPr lang="en-US" sz="2200" dirty="0"/>
          </a:p>
          <a:p>
            <a:pPr marL="0" indent="0">
              <a:buNone/>
            </a:pPr>
            <a:r>
              <a:rPr lang="en-US" sz="2200" b="1" dirty="0">
                <a:solidFill>
                  <a:srgbClr val="FFFFFF"/>
                </a:solidFill>
                <a:latin typeface="Nunito" pitchFamily="34" charset="0"/>
                <a:ea typeface="Nunito" pitchFamily="34" charset="-122"/>
                <a:cs typeface="Nunito" pitchFamily="34" charset="-120"/>
              </a:rPr>
              <a:t>Potential</a:t>
            </a:r>
            <a:endParaRPr lang="en-US" sz="2200" dirty="0"/>
          </a:p>
        </p:txBody>
      </p:sp>
      <p:sp>
        <p:nvSpPr>
          <p:cNvPr id="6" name="Shape 4"/>
          <p:cNvSpPr/>
          <p:nvPr/>
        </p:nvSpPr>
        <p:spPr>
          <a:xfrm>
            <a:off x="182880" y="1417320"/>
            <a:ext cx="2834640" cy="914400"/>
          </a:xfrm>
          <a:prstGeom prst="rect">
            <a:avLst/>
          </a:prstGeom>
          <a:solidFill>
            <a:srgbClr val="1E2B8F"/>
          </a:solidFill>
          <a:ln w="12700">
            <a:solidFill>
              <a:srgbClr val="1E2B8F"/>
            </a:solidFill>
            <a:prstDash val="solid"/>
          </a:ln>
        </p:spPr>
      </p:sp>
      <p:sp>
        <p:nvSpPr>
          <p:cNvPr id="7" name="Shape 5"/>
          <p:cNvSpPr/>
          <p:nvPr/>
        </p:nvSpPr>
        <p:spPr>
          <a:xfrm>
            <a:off x="182880" y="1417320"/>
            <a:ext cx="2834640" cy="54864"/>
          </a:xfrm>
          <a:prstGeom prst="rect">
            <a:avLst/>
          </a:prstGeom>
          <a:solidFill>
            <a:srgbClr val="FF7043"/>
          </a:solidFill>
          <a:ln w="12700">
            <a:solidFill>
              <a:srgbClr val="FF7043"/>
            </a:solidFill>
            <a:prstDash val="solid"/>
          </a:ln>
        </p:spPr>
      </p:sp>
      <p:sp>
        <p:nvSpPr>
          <p:cNvPr id="8" name="Text 6"/>
          <p:cNvSpPr/>
          <p:nvPr/>
        </p:nvSpPr>
        <p:spPr>
          <a:xfrm>
            <a:off x="347472" y="1527048"/>
            <a:ext cx="2468880" cy="457200"/>
          </a:xfrm>
          <a:prstGeom prst="rect">
            <a:avLst/>
          </a:prstGeom>
          <a:noFill/>
          <a:ln/>
        </p:spPr>
        <p:txBody>
          <a:bodyPr wrap="square" lIns="0" tIns="0" rIns="0" bIns="0" rtlCol="0" anchor="ctr"/>
          <a:lstStyle/>
          <a:p>
            <a:pPr marL="0" indent="0">
              <a:buNone/>
            </a:pPr>
            <a:r>
              <a:rPr lang="en-US" sz="2600" b="1" dirty="0">
                <a:solidFill>
                  <a:srgbClr val="FFFFFF"/>
                </a:solidFill>
                <a:latin typeface="Nunito" pitchFamily="34" charset="0"/>
                <a:ea typeface="Nunito" pitchFamily="34" charset="-122"/>
                <a:cs typeface="Nunito" pitchFamily="34" charset="-120"/>
              </a:rPr>
              <a:t>2+ Cr</a:t>
            </a:r>
            <a:endParaRPr lang="en-US" sz="2600" dirty="0"/>
          </a:p>
        </p:txBody>
      </p:sp>
      <p:sp>
        <p:nvSpPr>
          <p:cNvPr id="9" name="Text 7"/>
          <p:cNvSpPr/>
          <p:nvPr/>
        </p:nvSpPr>
        <p:spPr>
          <a:xfrm>
            <a:off x="347472" y="1965960"/>
            <a:ext cx="2468880" cy="292608"/>
          </a:xfrm>
          <a:prstGeom prst="rect">
            <a:avLst/>
          </a:prstGeom>
          <a:noFill/>
          <a:ln/>
        </p:spPr>
        <p:txBody>
          <a:bodyPr wrap="square" lIns="0" tIns="0" rIns="0" bIns="0" rtlCol="0" anchor="ctr"/>
          <a:lstStyle/>
          <a:p>
            <a:pPr marL="0" indent="0">
              <a:buNone/>
            </a:pPr>
            <a:r>
              <a:rPr lang="en-US" sz="950" dirty="0">
                <a:solidFill>
                  <a:srgbClr val="B0BEC5"/>
                </a:solidFill>
                <a:latin typeface="Calibri" pitchFamily="34" charset="0"/>
                <a:ea typeface="Calibri" pitchFamily="34" charset="-122"/>
                <a:cs typeface="Calibri" pitchFamily="34" charset="-120"/>
              </a:rPr>
              <a:t>People with disability in India</a:t>
            </a:r>
            <a:endParaRPr lang="en-US" sz="950" dirty="0"/>
          </a:p>
        </p:txBody>
      </p:sp>
      <p:sp>
        <p:nvSpPr>
          <p:cNvPr id="10" name="Shape 8"/>
          <p:cNvSpPr/>
          <p:nvPr/>
        </p:nvSpPr>
        <p:spPr>
          <a:xfrm>
            <a:off x="182880" y="2468880"/>
            <a:ext cx="2834640" cy="914400"/>
          </a:xfrm>
          <a:prstGeom prst="rect">
            <a:avLst/>
          </a:prstGeom>
          <a:solidFill>
            <a:srgbClr val="1E2B8F"/>
          </a:solidFill>
          <a:ln w="12700">
            <a:solidFill>
              <a:srgbClr val="1E2B8F"/>
            </a:solidFill>
            <a:prstDash val="solid"/>
          </a:ln>
        </p:spPr>
      </p:sp>
      <p:sp>
        <p:nvSpPr>
          <p:cNvPr id="11" name="Shape 9"/>
          <p:cNvSpPr/>
          <p:nvPr/>
        </p:nvSpPr>
        <p:spPr>
          <a:xfrm>
            <a:off x="182880" y="2468880"/>
            <a:ext cx="2834640" cy="54864"/>
          </a:xfrm>
          <a:prstGeom prst="rect">
            <a:avLst/>
          </a:prstGeom>
          <a:solidFill>
            <a:srgbClr val="00BCD4"/>
          </a:solidFill>
          <a:ln w="12700">
            <a:solidFill>
              <a:srgbClr val="00BCD4"/>
            </a:solidFill>
            <a:prstDash val="solid"/>
          </a:ln>
        </p:spPr>
      </p:sp>
      <p:sp>
        <p:nvSpPr>
          <p:cNvPr id="12" name="Text 10"/>
          <p:cNvSpPr/>
          <p:nvPr/>
        </p:nvSpPr>
        <p:spPr>
          <a:xfrm>
            <a:off x="347472" y="2578608"/>
            <a:ext cx="2468880" cy="457200"/>
          </a:xfrm>
          <a:prstGeom prst="rect">
            <a:avLst/>
          </a:prstGeom>
          <a:noFill/>
          <a:ln/>
        </p:spPr>
        <p:txBody>
          <a:bodyPr wrap="square" lIns="0" tIns="0" rIns="0" bIns="0" rtlCol="0" anchor="ctr"/>
          <a:lstStyle/>
          <a:p>
            <a:pPr marL="0" indent="0">
              <a:buNone/>
            </a:pPr>
            <a:r>
              <a:rPr lang="en-US" sz="2600" b="1" dirty="0">
                <a:solidFill>
                  <a:srgbClr val="FFFFFF"/>
                </a:solidFill>
                <a:latin typeface="Nunito" pitchFamily="34" charset="0"/>
                <a:ea typeface="Nunito" pitchFamily="34" charset="-122"/>
                <a:cs typeface="Nunito" pitchFamily="34" charset="-120"/>
              </a:rPr>
              <a:t>₹2.38 trillion</a:t>
            </a:r>
            <a:endParaRPr lang="en-US" sz="2600" dirty="0"/>
          </a:p>
        </p:txBody>
      </p:sp>
      <p:sp>
        <p:nvSpPr>
          <p:cNvPr id="13" name="Text 11"/>
          <p:cNvSpPr/>
          <p:nvPr/>
        </p:nvSpPr>
        <p:spPr>
          <a:xfrm>
            <a:off x="347472" y="3017520"/>
            <a:ext cx="2468880" cy="292608"/>
          </a:xfrm>
          <a:prstGeom prst="rect">
            <a:avLst/>
          </a:prstGeom>
          <a:noFill/>
          <a:ln/>
        </p:spPr>
        <p:txBody>
          <a:bodyPr wrap="square" lIns="0" tIns="0" rIns="0" bIns="0" rtlCol="0" anchor="ctr"/>
          <a:lstStyle/>
          <a:p>
            <a:pPr marL="0" indent="0">
              <a:buNone/>
            </a:pPr>
            <a:r>
              <a:rPr lang="en-US" sz="950" dirty="0">
                <a:solidFill>
                  <a:srgbClr val="B0BEC5"/>
                </a:solidFill>
                <a:latin typeface="Calibri" pitchFamily="34" charset="0"/>
                <a:ea typeface="Calibri" pitchFamily="34" charset="-122"/>
                <a:cs typeface="Calibri" pitchFamily="34" charset="-120"/>
              </a:rPr>
              <a:t>Global market size by 2030</a:t>
            </a:r>
            <a:endParaRPr lang="en-US" sz="950" dirty="0"/>
          </a:p>
        </p:txBody>
      </p:sp>
      <p:sp>
        <p:nvSpPr>
          <p:cNvPr id="14" name="Shape 12"/>
          <p:cNvSpPr/>
          <p:nvPr/>
        </p:nvSpPr>
        <p:spPr>
          <a:xfrm>
            <a:off x="182880" y="3520440"/>
            <a:ext cx="2834640" cy="914400"/>
          </a:xfrm>
          <a:prstGeom prst="rect">
            <a:avLst/>
          </a:prstGeom>
          <a:solidFill>
            <a:srgbClr val="1E2B8F"/>
          </a:solidFill>
          <a:ln w="12700">
            <a:solidFill>
              <a:srgbClr val="1E2B8F"/>
            </a:solidFill>
            <a:prstDash val="solid"/>
          </a:ln>
        </p:spPr>
      </p:sp>
      <p:sp>
        <p:nvSpPr>
          <p:cNvPr id="15" name="Shape 13"/>
          <p:cNvSpPr/>
          <p:nvPr/>
        </p:nvSpPr>
        <p:spPr>
          <a:xfrm>
            <a:off x="182880" y="3520440"/>
            <a:ext cx="2834640" cy="54864"/>
          </a:xfrm>
          <a:prstGeom prst="rect">
            <a:avLst/>
          </a:prstGeom>
          <a:solidFill>
            <a:srgbClr val="00E5FF"/>
          </a:solidFill>
          <a:ln w="12700">
            <a:solidFill>
              <a:srgbClr val="00E5FF"/>
            </a:solidFill>
            <a:prstDash val="solid"/>
          </a:ln>
        </p:spPr>
      </p:sp>
      <p:sp>
        <p:nvSpPr>
          <p:cNvPr id="16" name="Text 14"/>
          <p:cNvSpPr/>
          <p:nvPr/>
        </p:nvSpPr>
        <p:spPr>
          <a:xfrm>
            <a:off x="347472" y="3630168"/>
            <a:ext cx="2468880" cy="457200"/>
          </a:xfrm>
          <a:prstGeom prst="rect">
            <a:avLst/>
          </a:prstGeom>
          <a:noFill/>
          <a:ln/>
        </p:spPr>
        <p:txBody>
          <a:bodyPr wrap="square" lIns="0" tIns="0" rIns="0" bIns="0" rtlCol="0" anchor="ctr"/>
          <a:lstStyle/>
          <a:p>
            <a:pPr marL="0" indent="0">
              <a:buNone/>
            </a:pPr>
            <a:r>
              <a:rPr lang="en-US" sz="2600" b="1" dirty="0">
                <a:solidFill>
                  <a:srgbClr val="FFFFFF"/>
                </a:solidFill>
                <a:latin typeface="Nunito" pitchFamily="34" charset="0"/>
                <a:ea typeface="Nunito" pitchFamily="34" charset="-122"/>
                <a:cs typeface="Nunito" pitchFamily="34" charset="-120"/>
              </a:rPr>
              <a:t>Low</a:t>
            </a:r>
            <a:endParaRPr lang="en-US" sz="2600" dirty="0"/>
          </a:p>
        </p:txBody>
      </p:sp>
      <p:sp>
        <p:nvSpPr>
          <p:cNvPr id="17" name="Text 15"/>
          <p:cNvSpPr/>
          <p:nvPr/>
        </p:nvSpPr>
        <p:spPr>
          <a:xfrm>
            <a:off x="347472" y="4069080"/>
            <a:ext cx="2468880" cy="292608"/>
          </a:xfrm>
          <a:prstGeom prst="rect">
            <a:avLst/>
          </a:prstGeom>
          <a:noFill/>
          <a:ln/>
        </p:spPr>
        <p:txBody>
          <a:bodyPr wrap="square" lIns="0" tIns="0" rIns="0" bIns="0" rtlCol="0" anchor="ctr"/>
          <a:lstStyle/>
          <a:p>
            <a:pPr marL="0" indent="0">
              <a:buNone/>
            </a:pPr>
            <a:r>
              <a:rPr lang="en-US" sz="950" dirty="0">
                <a:solidFill>
                  <a:srgbClr val="B0BEC5"/>
                </a:solidFill>
                <a:latin typeface="Calibri" pitchFamily="34" charset="0"/>
                <a:ea typeface="Calibri" pitchFamily="34" charset="-122"/>
                <a:cs typeface="Calibri" pitchFamily="34" charset="-120"/>
              </a:rPr>
              <a:t>Affordable solutions available</a:t>
            </a:r>
            <a:endParaRPr lang="en-US" sz="950" dirty="0"/>
          </a:p>
        </p:txBody>
      </p:sp>
      <p:sp>
        <p:nvSpPr>
          <p:cNvPr id="18" name="Shape 16"/>
          <p:cNvSpPr/>
          <p:nvPr/>
        </p:nvSpPr>
        <p:spPr>
          <a:xfrm>
            <a:off x="3337560" y="320040"/>
            <a:ext cx="5669280" cy="749808"/>
          </a:xfrm>
          <a:prstGeom prst="rect">
            <a:avLst/>
          </a:prstGeom>
          <a:solidFill>
            <a:srgbClr val="1E2B8F"/>
          </a:solidFill>
          <a:ln w="12700">
            <a:solidFill>
              <a:srgbClr val="1E2B8F"/>
            </a:solidFill>
            <a:prstDash val="solid"/>
          </a:ln>
        </p:spPr>
      </p:sp>
      <p:sp>
        <p:nvSpPr>
          <p:cNvPr id="19" name="Shape 17"/>
          <p:cNvSpPr/>
          <p:nvPr/>
        </p:nvSpPr>
        <p:spPr>
          <a:xfrm>
            <a:off x="3337560" y="320040"/>
            <a:ext cx="54864" cy="749808"/>
          </a:xfrm>
          <a:prstGeom prst="rect">
            <a:avLst/>
          </a:prstGeom>
          <a:solidFill>
            <a:srgbClr val="00BCD4"/>
          </a:solidFill>
          <a:ln w="12700">
            <a:solidFill>
              <a:srgbClr val="00BCD4"/>
            </a:solidFill>
            <a:prstDash val="solid"/>
          </a:ln>
        </p:spPr>
      </p:sp>
      <p:sp>
        <p:nvSpPr>
          <p:cNvPr id="20" name="Text 18"/>
          <p:cNvSpPr/>
          <p:nvPr/>
        </p:nvSpPr>
        <p:spPr>
          <a:xfrm>
            <a:off x="3456432" y="393192"/>
            <a:ext cx="365760" cy="256032"/>
          </a:xfrm>
          <a:prstGeom prst="rect">
            <a:avLst/>
          </a:prstGeom>
          <a:noFill/>
          <a:ln/>
        </p:spPr>
        <p:txBody>
          <a:bodyPr wrap="square" lIns="0" tIns="0" rIns="0" bIns="0" rtlCol="0" anchor="ctr"/>
          <a:lstStyle/>
          <a:p>
            <a:pPr marL="0" indent="0">
              <a:buNone/>
            </a:pPr>
            <a:r>
              <a:rPr lang="en-US" sz="1000" b="1" dirty="0">
                <a:solidFill>
                  <a:srgbClr val="00BCD4"/>
                </a:solidFill>
                <a:latin typeface="Nunito" pitchFamily="34" charset="0"/>
                <a:ea typeface="Nunito" pitchFamily="34" charset="-122"/>
                <a:cs typeface="Nunito" pitchFamily="34" charset="-120"/>
              </a:rPr>
              <a:t>01</a:t>
            </a:r>
            <a:endParaRPr lang="en-US" sz="1000" dirty="0"/>
          </a:p>
        </p:txBody>
      </p:sp>
      <p:sp>
        <p:nvSpPr>
          <p:cNvPr id="21" name="Text 19"/>
          <p:cNvSpPr/>
          <p:nvPr/>
        </p:nvSpPr>
        <p:spPr>
          <a:xfrm>
            <a:off x="3858768" y="411480"/>
            <a:ext cx="507492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Assistive smart home solution for elderly &amp; physically disabled individuals.</a:t>
            </a:r>
            <a:endParaRPr lang="en-US" sz="1150" dirty="0"/>
          </a:p>
        </p:txBody>
      </p:sp>
      <p:sp>
        <p:nvSpPr>
          <p:cNvPr id="22" name="Shape 20"/>
          <p:cNvSpPr/>
          <p:nvPr/>
        </p:nvSpPr>
        <p:spPr>
          <a:xfrm>
            <a:off x="3337560" y="1133856"/>
            <a:ext cx="5669280" cy="749808"/>
          </a:xfrm>
          <a:prstGeom prst="rect">
            <a:avLst/>
          </a:prstGeom>
          <a:solidFill>
            <a:srgbClr val="1E2B8F"/>
          </a:solidFill>
          <a:ln w="12700">
            <a:solidFill>
              <a:srgbClr val="1E2B8F"/>
            </a:solidFill>
            <a:prstDash val="solid"/>
          </a:ln>
        </p:spPr>
      </p:sp>
      <p:sp>
        <p:nvSpPr>
          <p:cNvPr id="23" name="Shape 21"/>
          <p:cNvSpPr/>
          <p:nvPr/>
        </p:nvSpPr>
        <p:spPr>
          <a:xfrm>
            <a:off x="3337560" y="1133856"/>
            <a:ext cx="54864" cy="749808"/>
          </a:xfrm>
          <a:prstGeom prst="rect">
            <a:avLst/>
          </a:prstGeom>
          <a:solidFill>
            <a:srgbClr val="00E5FF"/>
          </a:solidFill>
          <a:ln w="12700">
            <a:solidFill>
              <a:srgbClr val="00E5FF"/>
            </a:solidFill>
            <a:prstDash val="solid"/>
          </a:ln>
        </p:spPr>
      </p:sp>
      <p:sp>
        <p:nvSpPr>
          <p:cNvPr id="24" name="Text 22"/>
          <p:cNvSpPr/>
          <p:nvPr/>
        </p:nvSpPr>
        <p:spPr>
          <a:xfrm>
            <a:off x="3456432" y="1207008"/>
            <a:ext cx="365760" cy="256032"/>
          </a:xfrm>
          <a:prstGeom prst="rect">
            <a:avLst/>
          </a:prstGeom>
          <a:noFill/>
          <a:ln/>
        </p:spPr>
        <p:txBody>
          <a:bodyPr wrap="square" lIns="0" tIns="0" rIns="0" bIns="0" rtlCol="0" anchor="ctr"/>
          <a:lstStyle/>
          <a:p>
            <a:pPr marL="0" indent="0">
              <a:buNone/>
            </a:pPr>
            <a:r>
              <a:rPr lang="en-US" sz="1000" b="1" dirty="0">
                <a:solidFill>
                  <a:srgbClr val="00E5FF"/>
                </a:solidFill>
                <a:latin typeface="Nunito" pitchFamily="34" charset="0"/>
                <a:ea typeface="Nunito" pitchFamily="34" charset="-122"/>
                <a:cs typeface="Nunito" pitchFamily="34" charset="-120"/>
              </a:rPr>
              <a:t>02</a:t>
            </a:r>
            <a:endParaRPr lang="en-US" sz="1000" dirty="0"/>
          </a:p>
        </p:txBody>
      </p:sp>
      <p:sp>
        <p:nvSpPr>
          <p:cNvPr id="25" name="Text 23"/>
          <p:cNvSpPr/>
          <p:nvPr/>
        </p:nvSpPr>
        <p:spPr>
          <a:xfrm>
            <a:off x="3858768" y="1225296"/>
            <a:ext cx="507492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Growing demand in healthcare &amp; rehabilitation sector across India.</a:t>
            </a:r>
            <a:endParaRPr lang="en-US" sz="1150" dirty="0"/>
          </a:p>
        </p:txBody>
      </p:sp>
      <p:sp>
        <p:nvSpPr>
          <p:cNvPr id="26" name="Shape 24"/>
          <p:cNvSpPr/>
          <p:nvPr/>
        </p:nvSpPr>
        <p:spPr>
          <a:xfrm>
            <a:off x="3337560" y="1947672"/>
            <a:ext cx="5669280" cy="749808"/>
          </a:xfrm>
          <a:prstGeom prst="rect">
            <a:avLst/>
          </a:prstGeom>
          <a:solidFill>
            <a:srgbClr val="1E2B8F"/>
          </a:solidFill>
          <a:ln w="12700">
            <a:solidFill>
              <a:srgbClr val="1E2B8F"/>
            </a:solidFill>
            <a:prstDash val="solid"/>
          </a:ln>
        </p:spPr>
      </p:sp>
      <p:sp>
        <p:nvSpPr>
          <p:cNvPr id="27" name="Shape 25"/>
          <p:cNvSpPr/>
          <p:nvPr/>
        </p:nvSpPr>
        <p:spPr>
          <a:xfrm>
            <a:off x="3337560" y="1947672"/>
            <a:ext cx="54864" cy="749808"/>
          </a:xfrm>
          <a:prstGeom prst="rect">
            <a:avLst/>
          </a:prstGeom>
          <a:solidFill>
            <a:srgbClr val="FF7043"/>
          </a:solidFill>
          <a:ln w="12700">
            <a:solidFill>
              <a:srgbClr val="FF7043"/>
            </a:solidFill>
            <a:prstDash val="solid"/>
          </a:ln>
        </p:spPr>
      </p:sp>
      <p:sp>
        <p:nvSpPr>
          <p:cNvPr id="28" name="Text 26"/>
          <p:cNvSpPr/>
          <p:nvPr/>
        </p:nvSpPr>
        <p:spPr>
          <a:xfrm>
            <a:off x="3456432" y="2020824"/>
            <a:ext cx="365760" cy="256032"/>
          </a:xfrm>
          <a:prstGeom prst="rect">
            <a:avLst/>
          </a:prstGeom>
          <a:noFill/>
          <a:ln/>
        </p:spPr>
        <p:txBody>
          <a:bodyPr wrap="square" lIns="0" tIns="0" rIns="0" bIns="0" rtlCol="0" anchor="ctr"/>
          <a:lstStyle/>
          <a:p>
            <a:pPr marL="0" indent="0">
              <a:buNone/>
            </a:pPr>
            <a:r>
              <a:rPr lang="en-US" sz="1000" b="1" dirty="0">
                <a:solidFill>
                  <a:srgbClr val="FF7043"/>
                </a:solidFill>
                <a:latin typeface="Nunito" pitchFamily="34" charset="0"/>
                <a:ea typeface="Nunito" pitchFamily="34" charset="-122"/>
                <a:cs typeface="Nunito" pitchFamily="34" charset="-120"/>
              </a:rPr>
              <a:t>03</a:t>
            </a:r>
            <a:endParaRPr lang="en-US" sz="1000" dirty="0"/>
          </a:p>
        </p:txBody>
      </p:sp>
      <p:sp>
        <p:nvSpPr>
          <p:cNvPr id="29" name="Text 27"/>
          <p:cNvSpPr/>
          <p:nvPr/>
        </p:nvSpPr>
        <p:spPr>
          <a:xfrm>
            <a:off x="3858768" y="2039112"/>
            <a:ext cx="507492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Scalable to hospitals, elder care centers &amp; smart homes.</a:t>
            </a:r>
            <a:endParaRPr lang="en-US" sz="1150" dirty="0"/>
          </a:p>
        </p:txBody>
      </p:sp>
      <p:sp>
        <p:nvSpPr>
          <p:cNvPr id="30" name="Shape 28"/>
          <p:cNvSpPr/>
          <p:nvPr/>
        </p:nvSpPr>
        <p:spPr>
          <a:xfrm>
            <a:off x="3337560" y="2761488"/>
            <a:ext cx="5669280" cy="749808"/>
          </a:xfrm>
          <a:prstGeom prst="rect">
            <a:avLst/>
          </a:prstGeom>
          <a:solidFill>
            <a:srgbClr val="1E2B8F"/>
          </a:solidFill>
          <a:ln w="12700">
            <a:solidFill>
              <a:srgbClr val="1E2B8F"/>
            </a:solidFill>
            <a:prstDash val="solid"/>
          </a:ln>
        </p:spPr>
      </p:sp>
      <p:sp>
        <p:nvSpPr>
          <p:cNvPr id="31" name="Shape 29"/>
          <p:cNvSpPr/>
          <p:nvPr/>
        </p:nvSpPr>
        <p:spPr>
          <a:xfrm>
            <a:off x="3337560" y="2761488"/>
            <a:ext cx="54864" cy="749808"/>
          </a:xfrm>
          <a:prstGeom prst="rect">
            <a:avLst/>
          </a:prstGeom>
          <a:solidFill>
            <a:srgbClr val="00BCD4"/>
          </a:solidFill>
          <a:ln w="12700">
            <a:solidFill>
              <a:srgbClr val="00BCD4"/>
            </a:solidFill>
            <a:prstDash val="solid"/>
          </a:ln>
        </p:spPr>
      </p:sp>
      <p:sp>
        <p:nvSpPr>
          <p:cNvPr id="32" name="Text 30"/>
          <p:cNvSpPr/>
          <p:nvPr/>
        </p:nvSpPr>
        <p:spPr>
          <a:xfrm>
            <a:off x="3456432" y="2834640"/>
            <a:ext cx="365760" cy="256032"/>
          </a:xfrm>
          <a:prstGeom prst="rect">
            <a:avLst/>
          </a:prstGeom>
          <a:noFill/>
          <a:ln/>
        </p:spPr>
        <p:txBody>
          <a:bodyPr wrap="square" lIns="0" tIns="0" rIns="0" bIns="0" rtlCol="0" anchor="ctr"/>
          <a:lstStyle/>
          <a:p>
            <a:pPr marL="0" indent="0">
              <a:buNone/>
            </a:pPr>
            <a:r>
              <a:rPr lang="en-US" sz="1000" b="1" dirty="0">
                <a:solidFill>
                  <a:srgbClr val="00BCD4"/>
                </a:solidFill>
                <a:latin typeface="Nunito" pitchFamily="34" charset="0"/>
                <a:ea typeface="Nunito" pitchFamily="34" charset="-122"/>
                <a:cs typeface="Nunito" pitchFamily="34" charset="-120"/>
              </a:rPr>
              <a:t>04</a:t>
            </a:r>
            <a:endParaRPr lang="en-US" sz="1000" dirty="0"/>
          </a:p>
        </p:txBody>
      </p:sp>
      <p:sp>
        <p:nvSpPr>
          <p:cNvPr id="33" name="Text 31"/>
          <p:cNvSpPr/>
          <p:nvPr/>
        </p:nvSpPr>
        <p:spPr>
          <a:xfrm>
            <a:off x="3858768" y="2852928"/>
            <a:ext cx="507492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Indigenous low-cost alternative to imported BCI devices.</a:t>
            </a:r>
            <a:endParaRPr lang="en-US" sz="1150" dirty="0"/>
          </a:p>
        </p:txBody>
      </p:sp>
      <p:sp>
        <p:nvSpPr>
          <p:cNvPr id="34" name="Shape 32"/>
          <p:cNvSpPr/>
          <p:nvPr/>
        </p:nvSpPr>
        <p:spPr>
          <a:xfrm>
            <a:off x="3337560" y="3575304"/>
            <a:ext cx="5669280" cy="749808"/>
          </a:xfrm>
          <a:prstGeom prst="rect">
            <a:avLst/>
          </a:prstGeom>
          <a:solidFill>
            <a:srgbClr val="1E2B8F"/>
          </a:solidFill>
          <a:ln w="12700">
            <a:solidFill>
              <a:srgbClr val="1E2B8F"/>
            </a:solidFill>
            <a:prstDash val="solid"/>
          </a:ln>
        </p:spPr>
      </p:sp>
      <p:sp>
        <p:nvSpPr>
          <p:cNvPr id="35" name="Shape 33"/>
          <p:cNvSpPr/>
          <p:nvPr/>
        </p:nvSpPr>
        <p:spPr>
          <a:xfrm>
            <a:off x="3337560" y="3575304"/>
            <a:ext cx="54864" cy="749808"/>
          </a:xfrm>
          <a:prstGeom prst="rect">
            <a:avLst/>
          </a:prstGeom>
          <a:solidFill>
            <a:srgbClr val="00E5FF"/>
          </a:solidFill>
          <a:ln w="12700">
            <a:solidFill>
              <a:srgbClr val="00E5FF"/>
            </a:solidFill>
            <a:prstDash val="solid"/>
          </a:ln>
        </p:spPr>
      </p:sp>
      <p:sp>
        <p:nvSpPr>
          <p:cNvPr id="36" name="Text 34"/>
          <p:cNvSpPr/>
          <p:nvPr/>
        </p:nvSpPr>
        <p:spPr>
          <a:xfrm>
            <a:off x="3456432" y="3648456"/>
            <a:ext cx="365760" cy="256032"/>
          </a:xfrm>
          <a:prstGeom prst="rect">
            <a:avLst/>
          </a:prstGeom>
          <a:noFill/>
          <a:ln/>
        </p:spPr>
        <p:txBody>
          <a:bodyPr wrap="square" lIns="0" tIns="0" rIns="0" bIns="0" rtlCol="0" anchor="ctr"/>
          <a:lstStyle/>
          <a:p>
            <a:pPr marL="0" indent="0">
              <a:buNone/>
            </a:pPr>
            <a:r>
              <a:rPr lang="en-US" sz="1000" b="1" dirty="0">
                <a:solidFill>
                  <a:srgbClr val="00E5FF"/>
                </a:solidFill>
                <a:latin typeface="Nunito" pitchFamily="34" charset="0"/>
                <a:ea typeface="Nunito" pitchFamily="34" charset="-122"/>
                <a:cs typeface="Nunito" pitchFamily="34" charset="-120"/>
              </a:rPr>
              <a:t>05</a:t>
            </a:r>
            <a:endParaRPr lang="en-US" sz="1000" dirty="0"/>
          </a:p>
        </p:txBody>
      </p:sp>
      <p:sp>
        <p:nvSpPr>
          <p:cNvPr id="37" name="Text 35"/>
          <p:cNvSpPr/>
          <p:nvPr/>
        </p:nvSpPr>
        <p:spPr>
          <a:xfrm>
            <a:off x="3858768" y="3666744"/>
            <a:ext cx="507492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Strong potential for commercialization as a wearable assistive product.</a:t>
            </a:r>
            <a:endParaRPr lang="en-US" sz="1150" dirty="0"/>
          </a:p>
        </p:txBody>
      </p:sp>
      <p:sp>
        <p:nvSpPr>
          <p:cNvPr id="38" name="Shape 36"/>
          <p:cNvSpPr/>
          <p:nvPr/>
        </p:nvSpPr>
        <p:spPr>
          <a:xfrm>
            <a:off x="0" y="4818888"/>
            <a:ext cx="9144000" cy="324612"/>
          </a:xfrm>
          <a:prstGeom prst="rect">
            <a:avLst/>
          </a:prstGeom>
          <a:solidFill>
            <a:srgbClr val="060C38"/>
          </a:solidFill>
          <a:ln w="12700">
            <a:solidFill>
              <a:srgbClr val="060C38"/>
            </a:solidFill>
            <a:prstDash val="solid"/>
          </a:ln>
        </p:spPr>
      </p:sp>
      <p:sp>
        <p:nvSpPr>
          <p:cNvPr id="39" name="Shape 37"/>
          <p:cNvSpPr/>
          <p:nvPr/>
        </p:nvSpPr>
        <p:spPr>
          <a:xfrm>
            <a:off x="0" y="4818888"/>
            <a:ext cx="118872" cy="324612"/>
          </a:xfrm>
          <a:prstGeom prst="rect">
            <a:avLst/>
          </a:prstGeom>
          <a:solidFill>
            <a:srgbClr val="00E5FF"/>
          </a:solidFill>
          <a:ln w="12700">
            <a:solidFill>
              <a:srgbClr val="00E5FF"/>
            </a:solidFill>
            <a:prstDash val="solid"/>
          </a:ln>
        </p:spPr>
      </p:sp>
      <p:sp>
        <p:nvSpPr>
          <p:cNvPr id="40" name="Text 38"/>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41" name="Text 39"/>
          <p:cNvSpPr/>
          <p:nvPr/>
        </p:nvSpPr>
        <p:spPr>
          <a:xfrm>
            <a:off x="3931920" y="4841748"/>
            <a:ext cx="1828800" cy="274320"/>
          </a:xfrm>
          <a:prstGeom prst="rect">
            <a:avLst/>
          </a:prstGeom>
          <a:noFill/>
          <a:ln/>
        </p:spPr>
        <p:txBody>
          <a:bodyPr wrap="square" lIns="0" tIns="0" rIns="0" bIns="0" rtlCol="0" anchor="ctr"/>
          <a:lstStyle/>
          <a:p>
            <a:pPr algn="ctr"/>
            <a:r>
              <a:rPr lang="en-US" sz="850" dirty="0">
                <a:solidFill>
                  <a:srgbClr val="7986CB"/>
                </a:solidFill>
                <a:latin typeface="Calibri" pitchFamily="34" charset="0"/>
                <a:ea typeface="Calibri" pitchFamily="34" charset="-122"/>
                <a:cs typeface="Calibri" pitchFamily="34" charset="-120"/>
              </a:rPr>
              <a:t>Priyankaba Jadej</a:t>
            </a:r>
            <a:endParaRPr lang="en-US" sz="850" dirty="0"/>
          </a:p>
        </p:txBody>
      </p:sp>
      <p:sp>
        <p:nvSpPr>
          <p:cNvPr id="42" name="Text 40"/>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04 / 17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554"/>
        </a:solidFill>
        <a:effectLst/>
      </p:bgPr>
    </p:bg>
    <p:spTree>
      <p:nvGrpSpPr>
        <p:cNvPr id="1" name=""/>
        <p:cNvGrpSpPr/>
        <p:nvPr/>
      </p:nvGrpSpPr>
      <p:grpSpPr>
        <a:xfrm>
          <a:off x="0" y="0"/>
          <a:ext cx="0" cy="0"/>
          <a:chOff x="0" y="0"/>
          <a:chExt cx="0" cy="0"/>
        </a:xfrm>
      </p:grpSpPr>
      <p:sp>
        <p:nvSpPr>
          <p:cNvPr id="2" name="Text 0"/>
          <p:cNvSpPr/>
          <p:nvPr/>
        </p:nvSpPr>
        <p:spPr>
          <a:xfrm>
            <a:off x="347472" y="128016"/>
            <a:ext cx="457200" cy="274320"/>
          </a:xfrm>
          <a:prstGeom prst="rect">
            <a:avLst/>
          </a:prstGeom>
          <a:noFill/>
          <a:ln/>
        </p:spPr>
        <p:txBody>
          <a:bodyPr wrap="square" lIns="0" tIns="0" rIns="0" bIns="0" rtlCol="0" anchor="ctr"/>
          <a:lstStyle/>
          <a:p>
            <a:pPr marL="0" indent="0">
              <a:buNone/>
            </a:pPr>
            <a:r>
              <a:rPr lang="en-US" sz="1000" b="1" dirty="0">
                <a:solidFill>
                  <a:srgbClr val="00E5FF"/>
                </a:solidFill>
                <a:latin typeface="Nunito" pitchFamily="34" charset="0"/>
                <a:ea typeface="Nunito" pitchFamily="34" charset="-122"/>
                <a:cs typeface="Nunito" pitchFamily="34" charset="-120"/>
              </a:rPr>
              <a:t>05</a:t>
            </a:r>
            <a:endParaRPr lang="en-US" sz="1000" dirty="0"/>
          </a:p>
        </p:txBody>
      </p:sp>
      <p:sp>
        <p:nvSpPr>
          <p:cNvPr id="3" name="Text 1"/>
          <p:cNvSpPr/>
          <p:nvPr/>
        </p:nvSpPr>
        <p:spPr>
          <a:xfrm>
            <a:off x="548640" y="141380"/>
            <a:ext cx="8412480" cy="347472"/>
          </a:xfrm>
          <a:prstGeom prst="rect">
            <a:avLst/>
          </a:prstGeom>
          <a:noFill/>
          <a:ln/>
        </p:spPr>
        <p:txBody>
          <a:bodyPr wrap="square" lIns="0" tIns="0" rIns="0" bIns="0" rtlCol="0" anchor="ctr"/>
          <a:lstStyle/>
          <a:p>
            <a:pPr marL="0" indent="0">
              <a:buNone/>
            </a:pPr>
            <a:r>
              <a:rPr lang="en-US" sz="2000" b="1" dirty="0">
                <a:solidFill>
                  <a:srgbClr val="FFFFFF"/>
                </a:solidFill>
                <a:latin typeface="Nunito" pitchFamily="34" charset="0"/>
                <a:ea typeface="Nunito" pitchFamily="34" charset="-122"/>
                <a:cs typeface="Nunito" pitchFamily="34" charset="-120"/>
              </a:rPr>
              <a:t>Abstract</a:t>
            </a:r>
            <a:endParaRPr lang="en-US" sz="2000" dirty="0"/>
          </a:p>
        </p:txBody>
      </p:sp>
      <p:sp>
        <p:nvSpPr>
          <p:cNvPr id="4" name="Shape 2"/>
          <p:cNvSpPr/>
          <p:nvPr/>
        </p:nvSpPr>
        <p:spPr>
          <a:xfrm>
            <a:off x="347472" y="512064"/>
            <a:ext cx="1280160" cy="36576"/>
          </a:xfrm>
          <a:prstGeom prst="rect">
            <a:avLst/>
          </a:prstGeom>
          <a:solidFill>
            <a:srgbClr val="00E5FF"/>
          </a:solidFill>
          <a:ln w="12700">
            <a:solidFill>
              <a:srgbClr val="00E5FF"/>
            </a:solidFill>
            <a:prstDash val="solid"/>
          </a:ln>
        </p:spPr>
      </p:sp>
      <p:sp>
        <p:nvSpPr>
          <p:cNvPr id="5" name="Shape 3"/>
          <p:cNvSpPr/>
          <p:nvPr/>
        </p:nvSpPr>
        <p:spPr>
          <a:xfrm>
            <a:off x="347472" y="658368"/>
            <a:ext cx="2834640" cy="4041648"/>
          </a:xfrm>
          <a:prstGeom prst="rect">
            <a:avLst/>
          </a:prstGeom>
          <a:solidFill>
            <a:srgbClr val="1A237E"/>
          </a:solidFill>
          <a:ln w="12700">
            <a:solidFill>
              <a:srgbClr val="1A237E"/>
            </a:solidFill>
            <a:prstDash val="solid"/>
          </a:ln>
        </p:spPr>
      </p:sp>
      <p:sp>
        <p:nvSpPr>
          <p:cNvPr id="6" name="Shape 4"/>
          <p:cNvSpPr/>
          <p:nvPr/>
        </p:nvSpPr>
        <p:spPr>
          <a:xfrm>
            <a:off x="347472" y="658368"/>
            <a:ext cx="2834640" cy="54864"/>
          </a:xfrm>
          <a:prstGeom prst="rect">
            <a:avLst/>
          </a:prstGeom>
          <a:solidFill>
            <a:srgbClr val="00BCD4"/>
          </a:solidFill>
          <a:ln w="12700">
            <a:solidFill>
              <a:srgbClr val="00BCD4"/>
            </a:solidFill>
            <a:prstDash val="solid"/>
          </a:ln>
        </p:spPr>
      </p:sp>
      <p:sp>
        <p:nvSpPr>
          <p:cNvPr id="7" name="Text 5"/>
          <p:cNvSpPr/>
          <p:nvPr/>
        </p:nvSpPr>
        <p:spPr>
          <a:xfrm>
            <a:off x="530352" y="804672"/>
            <a:ext cx="2468880" cy="274320"/>
          </a:xfrm>
          <a:prstGeom prst="rect">
            <a:avLst/>
          </a:prstGeom>
          <a:noFill/>
          <a:ln/>
        </p:spPr>
        <p:txBody>
          <a:bodyPr wrap="square" lIns="0" tIns="0" rIns="0" bIns="0" rtlCol="0" anchor="ctr"/>
          <a:lstStyle/>
          <a:p>
            <a:pPr marL="0" indent="0">
              <a:buNone/>
            </a:pPr>
            <a:r>
              <a:rPr lang="en-US" sz="850" b="1" kern="0" spc="100" dirty="0">
                <a:solidFill>
                  <a:srgbClr val="80DEEA"/>
                </a:solidFill>
                <a:latin typeface="Nunito" pitchFamily="34" charset="0"/>
                <a:ea typeface="Nunito" pitchFamily="34" charset="-122"/>
                <a:cs typeface="Nunito" pitchFamily="34" charset="-120"/>
              </a:rPr>
              <a:t>KEY FOCUS AREAS</a:t>
            </a:r>
            <a:endParaRPr lang="en-US" sz="850" dirty="0"/>
          </a:p>
        </p:txBody>
      </p:sp>
      <p:sp>
        <p:nvSpPr>
          <p:cNvPr id="8" name="Shape 6"/>
          <p:cNvSpPr/>
          <p:nvPr/>
        </p:nvSpPr>
        <p:spPr>
          <a:xfrm>
            <a:off x="530352" y="1207008"/>
            <a:ext cx="128016" cy="128016"/>
          </a:xfrm>
          <a:prstGeom prst="ellipse">
            <a:avLst/>
          </a:prstGeom>
          <a:solidFill>
            <a:srgbClr val="00BCD4"/>
          </a:solidFill>
          <a:ln w="12700">
            <a:solidFill>
              <a:srgbClr val="00BCD4"/>
            </a:solidFill>
            <a:prstDash val="solid"/>
          </a:ln>
        </p:spPr>
      </p:sp>
      <p:sp>
        <p:nvSpPr>
          <p:cNvPr id="9" name="Text 7"/>
          <p:cNvSpPr/>
          <p:nvPr/>
        </p:nvSpPr>
        <p:spPr>
          <a:xfrm>
            <a:off x="749808" y="1170432"/>
            <a:ext cx="2304288"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EEG Brain Signal Processing</a:t>
            </a:r>
            <a:endParaRPr lang="en-US" sz="1150" dirty="0"/>
          </a:p>
        </p:txBody>
      </p:sp>
      <p:sp>
        <p:nvSpPr>
          <p:cNvPr id="10" name="Shape 8"/>
          <p:cNvSpPr/>
          <p:nvPr/>
        </p:nvSpPr>
        <p:spPr>
          <a:xfrm>
            <a:off x="530352" y="1737360"/>
            <a:ext cx="128016" cy="128016"/>
          </a:xfrm>
          <a:prstGeom prst="ellipse">
            <a:avLst/>
          </a:prstGeom>
          <a:solidFill>
            <a:srgbClr val="00BCD4"/>
          </a:solidFill>
          <a:ln w="12700">
            <a:solidFill>
              <a:srgbClr val="00BCD4"/>
            </a:solidFill>
            <a:prstDash val="solid"/>
          </a:ln>
        </p:spPr>
      </p:sp>
      <p:sp>
        <p:nvSpPr>
          <p:cNvPr id="11" name="Text 9"/>
          <p:cNvSpPr/>
          <p:nvPr/>
        </p:nvSpPr>
        <p:spPr>
          <a:xfrm>
            <a:off x="749808" y="1700784"/>
            <a:ext cx="2304288"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Artificial Intelligence (AI)</a:t>
            </a:r>
            <a:endParaRPr lang="en-US" sz="1150" dirty="0"/>
          </a:p>
        </p:txBody>
      </p:sp>
      <p:sp>
        <p:nvSpPr>
          <p:cNvPr id="12" name="Shape 10"/>
          <p:cNvSpPr/>
          <p:nvPr/>
        </p:nvSpPr>
        <p:spPr>
          <a:xfrm>
            <a:off x="530352" y="2267712"/>
            <a:ext cx="128016" cy="128016"/>
          </a:xfrm>
          <a:prstGeom prst="ellipse">
            <a:avLst/>
          </a:prstGeom>
          <a:solidFill>
            <a:srgbClr val="00BCD4"/>
          </a:solidFill>
          <a:ln w="12700">
            <a:solidFill>
              <a:srgbClr val="00BCD4"/>
            </a:solidFill>
            <a:prstDash val="solid"/>
          </a:ln>
        </p:spPr>
      </p:sp>
      <p:sp>
        <p:nvSpPr>
          <p:cNvPr id="13" name="Text 11"/>
          <p:cNvSpPr/>
          <p:nvPr/>
        </p:nvSpPr>
        <p:spPr>
          <a:xfrm>
            <a:off x="749808" y="2231136"/>
            <a:ext cx="2304288"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Internet of Things (IoT)</a:t>
            </a:r>
            <a:endParaRPr lang="en-US" sz="1150" dirty="0"/>
          </a:p>
        </p:txBody>
      </p:sp>
      <p:sp>
        <p:nvSpPr>
          <p:cNvPr id="14" name="Shape 12"/>
          <p:cNvSpPr/>
          <p:nvPr/>
        </p:nvSpPr>
        <p:spPr>
          <a:xfrm>
            <a:off x="530352" y="2798064"/>
            <a:ext cx="128016" cy="128016"/>
          </a:xfrm>
          <a:prstGeom prst="ellipse">
            <a:avLst/>
          </a:prstGeom>
          <a:solidFill>
            <a:srgbClr val="00BCD4"/>
          </a:solidFill>
          <a:ln w="12700">
            <a:solidFill>
              <a:srgbClr val="00BCD4"/>
            </a:solidFill>
            <a:prstDash val="solid"/>
          </a:ln>
        </p:spPr>
      </p:sp>
      <p:sp>
        <p:nvSpPr>
          <p:cNvPr id="15" name="Text 13"/>
          <p:cNvSpPr/>
          <p:nvPr/>
        </p:nvSpPr>
        <p:spPr>
          <a:xfrm>
            <a:off x="749808" y="2761488"/>
            <a:ext cx="2304288"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Assistive Technology</a:t>
            </a:r>
            <a:endParaRPr lang="en-US" sz="1150" dirty="0"/>
          </a:p>
        </p:txBody>
      </p:sp>
      <p:sp>
        <p:nvSpPr>
          <p:cNvPr id="16" name="Shape 14"/>
          <p:cNvSpPr/>
          <p:nvPr/>
        </p:nvSpPr>
        <p:spPr>
          <a:xfrm>
            <a:off x="530352" y="3328416"/>
            <a:ext cx="128016" cy="128016"/>
          </a:xfrm>
          <a:prstGeom prst="ellipse">
            <a:avLst/>
          </a:prstGeom>
          <a:solidFill>
            <a:srgbClr val="00BCD4"/>
          </a:solidFill>
          <a:ln w="12700">
            <a:solidFill>
              <a:srgbClr val="00BCD4"/>
            </a:solidFill>
            <a:prstDash val="solid"/>
          </a:ln>
        </p:spPr>
      </p:sp>
      <p:sp>
        <p:nvSpPr>
          <p:cNvPr id="17" name="Text 15"/>
          <p:cNvSpPr/>
          <p:nvPr/>
        </p:nvSpPr>
        <p:spPr>
          <a:xfrm>
            <a:off x="749808" y="3291840"/>
            <a:ext cx="2304288"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Accessibility &amp; Affordability</a:t>
            </a:r>
            <a:endParaRPr lang="en-US" sz="1150" dirty="0"/>
          </a:p>
        </p:txBody>
      </p:sp>
      <p:sp>
        <p:nvSpPr>
          <p:cNvPr id="18" name="Shape 16"/>
          <p:cNvSpPr/>
          <p:nvPr/>
        </p:nvSpPr>
        <p:spPr>
          <a:xfrm>
            <a:off x="530352" y="3858768"/>
            <a:ext cx="128016" cy="128016"/>
          </a:xfrm>
          <a:prstGeom prst="ellipse">
            <a:avLst/>
          </a:prstGeom>
          <a:solidFill>
            <a:srgbClr val="00BCD4"/>
          </a:solidFill>
          <a:ln w="12700">
            <a:solidFill>
              <a:srgbClr val="00BCD4"/>
            </a:solidFill>
            <a:prstDash val="solid"/>
          </a:ln>
        </p:spPr>
      </p:sp>
      <p:sp>
        <p:nvSpPr>
          <p:cNvPr id="19" name="Text 17"/>
          <p:cNvSpPr/>
          <p:nvPr/>
        </p:nvSpPr>
        <p:spPr>
          <a:xfrm>
            <a:off x="749808" y="3822192"/>
            <a:ext cx="2304288"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Healthcare Applications</a:t>
            </a:r>
            <a:endParaRPr lang="en-US" sz="1150" dirty="0"/>
          </a:p>
        </p:txBody>
      </p:sp>
      <p:sp>
        <p:nvSpPr>
          <p:cNvPr id="20" name="Shape 18"/>
          <p:cNvSpPr/>
          <p:nvPr/>
        </p:nvSpPr>
        <p:spPr>
          <a:xfrm>
            <a:off x="3364992" y="658368"/>
            <a:ext cx="5623560" cy="4041648"/>
          </a:xfrm>
          <a:prstGeom prst="rect">
            <a:avLst/>
          </a:prstGeom>
          <a:solidFill>
            <a:srgbClr val="0A1145"/>
          </a:solidFill>
          <a:ln w="12700">
            <a:solidFill>
              <a:srgbClr val="0A1145"/>
            </a:solidFill>
            <a:prstDash val="solid"/>
          </a:ln>
        </p:spPr>
      </p:sp>
      <p:sp>
        <p:nvSpPr>
          <p:cNvPr id="21" name="Shape 19"/>
          <p:cNvSpPr/>
          <p:nvPr/>
        </p:nvSpPr>
        <p:spPr>
          <a:xfrm>
            <a:off x="3364992" y="658368"/>
            <a:ext cx="64008" cy="4041648"/>
          </a:xfrm>
          <a:prstGeom prst="rect">
            <a:avLst/>
          </a:prstGeom>
          <a:solidFill>
            <a:srgbClr val="00E5FF"/>
          </a:solidFill>
          <a:ln w="12700">
            <a:solidFill>
              <a:srgbClr val="00E5FF"/>
            </a:solidFill>
            <a:prstDash val="solid"/>
          </a:ln>
        </p:spPr>
      </p:sp>
      <p:sp>
        <p:nvSpPr>
          <p:cNvPr id="22" name="Text 20"/>
          <p:cNvSpPr/>
          <p:nvPr/>
        </p:nvSpPr>
        <p:spPr>
          <a:xfrm>
            <a:off x="3547872" y="804672"/>
            <a:ext cx="5303520" cy="320040"/>
          </a:xfrm>
          <a:prstGeom prst="rect">
            <a:avLst/>
          </a:prstGeom>
          <a:noFill/>
          <a:ln/>
        </p:spPr>
        <p:txBody>
          <a:bodyPr wrap="square" lIns="0" tIns="0" rIns="0" bIns="0" rtlCol="0" anchor="ctr"/>
          <a:lstStyle/>
          <a:p>
            <a:pPr marL="0" indent="0">
              <a:buNone/>
            </a:pPr>
            <a:r>
              <a:rPr lang="en-US" sz="1300" b="1" dirty="0">
                <a:solidFill>
                  <a:srgbClr val="00E5FF"/>
                </a:solidFill>
                <a:latin typeface="Nunito" pitchFamily="34" charset="0"/>
                <a:ea typeface="Nunito" pitchFamily="34" charset="-122"/>
                <a:cs typeface="Nunito" pitchFamily="34" charset="-120"/>
              </a:rPr>
              <a:t>Project Overview</a:t>
            </a:r>
            <a:endParaRPr lang="en-US" sz="1300" dirty="0"/>
          </a:p>
        </p:txBody>
      </p:sp>
      <p:sp>
        <p:nvSpPr>
          <p:cNvPr id="23" name="Text 21"/>
          <p:cNvSpPr/>
          <p:nvPr/>
        </p:nvSpPr>
        <p:spPr>
          <a:xfrm>
            <a:off x="3547872" y="1188720"/>
            <a:ext cx="5303520" cy="3383280"/>
          </a:xfrm>
          <a:prstGeom prst="rect">
            <a:avLst/>
          </a:prstGeom>
          <a:noFill/>
          <a:ln/>
        </p:spPr>
        <p:txBody>
          <a:bodyPr wrap="square" lIns="0" tIns="0" rIns="0" bIns="0" rtlCol="0" anchor="ctr"/>
          <a:lstStyle/>
          <a:p>
            <a:pPr marL="0" indent="0">
              <a:spcAft>
                <a:spcPts val="600"/>
              </a:spcAft>
              <a:buNone/>
            </a:pPr>
            <a:r>
              <a:rPr lang="en-US" sz="1200" dirty="0">
                <a:solidFill>
                  <a:srgbClr val="CFD8DC"/>
                </a:solidFill>
                <a:latin typeface="Calibri" pitchFamily="34" charset="0"/>
                <a:ea typeface="Calibri" pitchFamily="34" charset="-122"/>
                <a:cs typeface="Calibri" pitchFamily="34" charset="-120"/>
              </a:rPr>
              <a:t>This project presents an AI and IoT-based Brain-Controlled Assistive Home System that enables users to operate household appliances using EEG brain signals.</a:t>
            </a:r>
            <a:endParaRPr lang="en-US" sz="1200" dirty="0"/>
          </a:p>
          <a:p>
            <a:pPr marL="0" indent="0">
              <a:spcAft>
                <a:spcPts val="600"/>
              </a:spcAft>
              <a:buNone/>
            </a:pPr>
            <a:endParaRPr lang="en-US" sz="1200" dirty="0"/>
          </a:p>
          <a:p>
            <a:pPr marL="0" indent="0">
              <a:spcAft>
                <a:spcPts val="600"/>
              </a:spcAft>
              <a:buNone/>
            </a:pPr>
            <a:r>
              <a:rPr lang="en-US" sz="1200" dirty="0">
                <a:solidFill>
                  <a:srgbClr val="CFD8DC"/>
                </a:solidFill>
                <a:latin typeface="Calibri" pitchFamily="34" charset="0"/>
                <a:ea typeface="Calibri" pitchFamily="34" charset="-122"/>
                <a:cs typeface="Calibri" pitchFamily="34" charset="-120"/>
              </a:rPr>
              <a:t>By integrating brain-computer interface technology with real-time signal processing and IoT communication, the system converts user intention into actionable commands.</a:t>
            </a:r>
            <a:endParaRPr lang="en-US" sz="1200" dirty="0"/>
          </a:p>
          <a:p>
            <a:pPr marL="0" indent="0">
              <a:spcAft>
                <a:spcPts val="600"/>
              </a:spcAft>
              <a:buNone/>
            </a:pPr>
            <a:endParaRPr lang="en-US" sz="1200" dirty="0"/>
          </a:p>
          <a:p>
            <a:pPr marL="0" indent="0">
              <a:spcAft>
                <a:spcPts val="600"/>
              </a:spcAft>
              <a:buNone/>
            </a:pPr>
            <a:r>
              <a:rPr lang="en-US" sz="1200" dirty="0">
                <a:solidFill>
                  <a:srgbClr val="CFD8DC"/>
                </a:solidFill>
                <a:latin typeface="Calibri" pitchFamily="34" charset="0"/>
                <a:ea typeface="Calibri" pitchFamily="34" charset="-122"/>
                <a:cs typeface="Calibri" pitchFamily="34" charset="-120"/>
              </a:rPr>
              <a:t>The solution focuses on accessibility, affordability, and scalability, aiming to promote independence for elderly and physically disabled individuals while offering strong potential for future healthcare and commercial applications.</a:t>
            </a:r>
            <a:endParaRPr lang="en-US" sz="1200" dirty="0"/>
          </a:p>
        </p:txBody>
      </p:sp>
      <p:sp>
        <p:nvSpPr>
          <p:cNvPr id="24" name="Shape 22"/>
          <p:cNvSpPr/>
          <p:nvPr/>
        </p:nvSpPr>
        <p:spPr>
          <a:xfrm>
            <a:off x="0" y="4818888"/>
            <a:ext cx="9144000" cy="324612"/>
          </a:xfrm>
          <a:prstGeom prst="rect">
            <a:avLst/>
          </a:prstGeom>
          <a:solidFill>
            <a:srgbClr val="060C38"/>
          </a:solidFill>
          <a:ln w="12700">
            <a:solidFill>
              <a:srgbClr val="060C38"/>
            </a:solidFill>
            <a:prstDash val="solid"/>
          </a:ln>
        </p:spPr>
      </p:sp>
      <p:sp>
        <p:nvSpPr>
          <p:cNvPr id="25" name="Shape 23"/>
          <p:cNvSpPr/>
          <p:nvPr/>
        </p:nvSpPr>
        <p:spPr>
          <a:xfrm>
            <a:off x="0" y="4818888"/>
            <a:ext cx="118872" cy="324612"/>
          </a:xfrm>
          <a:prstGeom prst="rect">
            <a:avLst/>
          </a:prstGeom>
          <a:solidFill>
            <a:srgbClr val="00E5FF"/>
          </a:solidFill>
          <a:ln w="12700">
            <a:solidFill>
              <a:srgbClr val="00E5FF"/>
            </a:solidFill>
            <a:prstDash val="solid"/>
          </a:ln>
        </p:spPr>
      </p:sp>
      <p:sp>
        <p:nvSpPr>
          <p:cNvPr id="26" name="Text 24"/>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27" name="Text 25"/>
          <p:cNvSpPr/>
          <p:nvPr/>
        </p:nvSpPr>
        <p:spPr>
          <a:xfrm>
            <a:off x="3931920" y="4841748"/>
            <a:ext cx="1828800" cy="274320"/>
          </a:xfrm>
          <a:prstGeom prst="rect">
            <a:avLst/>
          </a:prstGeom>
          <a:noFill/>
          <a:ln/>
        </p:spPr>
        <p:txBody>
          <a:bodyPr wrap="square" lIns="0" tIns="0" rIns="0" bIns="0" rtlCol="0" anchor="ctr"/>
          <a:lstStyle/>
          <a:p>
            <a:pPr algn="ctr"/>
            <a:r>
              <a:rPr lang="en-US" sz="850" dirty="0">
                <a:solidFill>
                  <a:srgbClr val="7986CB"/>
                </a:solidFill>
                <a:latin typeface="Calibri" pitchFamily="34" charset="0"/>
                <a:ea typeface="Calibri" pitchFamily="34" charset="-122"/>
                <a:cs typeface="Calibri" pitchFamily="34" charset="-120"/>
              </a:rPr>
              <a:t>Priyankaba Jadej</a:t>
            </a:r>
            <a:endParaRPr lang="en-US" sz="850" dirty="0"/>
          </a:p>
        </p:txBody>
      </p:sp>
      <p:sp>
        <p:nvSpPr>
          <p:cNvPr id="28" name="Text 26"/>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05 / 17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E42"/>
        </a:solidFill>
        <a:effectLst/>
      </p:bgPr>
    </p:bg>
    <p:spTree>
      <p:nvGrpSpPr>
        <p:cNvPr id="1" name=""/>
        <p:cNvGrpSpPr/>
        <p:nvPr/>
      </p:nvGrpSpPr>
      <p:grpSpPr>
        <a:xfrm>
          <a:off x="0" y="0"/>
          <a:ext cx="0" cy="0"/>
          <a:chOff x="0" y="0"/>
          <a:chExt cx="0" cy="0"/>
        </a:xfrm>
      </p:grpSpPr>
      <p:sp>
        <p:nvSpPr>
          <p:cNvPr id="2" name="Shape 0"/>
          <p:cNvSpPr/>
          <p:nvPr/>
        </p:nvSpPr>
        <p:spPr>
          <a:xfrm>
            <a:off x="5029200" y="-640080"/>
            <a:ext cx="4754880" cy="4754880"/>
          </a:xfrm>
          <a:prstGeom prst="ellipse">
            <a:avLst/>
          </a:prstGeom>
          <a:solidFill>
            <a:srgbClr val="080E42">
              <a:alpha val="0"/>
            </a:srgbClr>
          </a:solidFill>
          <a:ln w="406400">
            <a:solidFill>
              <a:srgbClr val="00BCD4">
                <a:alpha val="35000"/>
              </a:srgbClr>
            </a:solidFill>
            <a:prstDash val="solid"/>
          </a:ln>
        </p:spPr>
      </p:sp>
      <p:sp>
        <p:nvSpPr>
          <p:cNvPr id="3" name="Shape 1"/>
          <p:cNvSpPr/>
          <p:nvPr/>
        </p:nvSpPr>
        <p:spPr>
          <a:xfrm>
            <a:off x="6583680" y="1463040"/>
            <a:ext cx="2286000" cy="2286000"/>
          </a:xfrm>
          <a:prstGeom prst="ellipse">
            <a:avLst/>
          </a:prstGeom>
          <a:solidFill>
            <a:srgbClr val="080E42">
              <a:alpha val="0"/>
            </a:srgbClr>
          </a:solidFill>
          <a:ln w="228600">
            <a:solidFill>
              <a:srgbClr val="00E5FF">
                <a:alpha val="25000"/>
              </a:srgbClr>
            </a:solidFill>
            <a:prstDash val="solid"/>
          </a:ln>
        </p:spPr>
      </p:sp>
      <p:sp>
        <p:nvSpPr>
          <p:cNvPr id="4" name="Shape 2"/>
          <p:cNvSpPr/>
          <p:nvPr/>
        </p:nvSpPr>
        <p:spPr>
          <a:xfrm>
            <a:off x="8503920" y="3931920"/>
            <a:ext cx="502920" cy="502920"/>
          </a:xfrm>
          <a:prstGeom prst="ellipse">
            <a:avLst/>
          </a:prstGeom>
          <a:solidFill>
            <a:srgbClr val="00BCD4"/>
          </a:solidFill>
          <a:ln w="12700">
            <a:solidFill>
              <a:srgbClr val="00BCD4"/>
            </a:solidFill>
            <a:prstDash val="solid"/>
          </a:ln>
        </p:spPr>
      </p:sp>
      <p:sp>
        <p:nvSpPr>
          <p:cNvPr id="5" name="Text 3"/>
          <p:cNvSpPr/>
          <p:nvPr/>
        </p:nvSpPr>
        <p:spPr>
          <a:xfrm>
            <a:off x="347472" y="164592"/>
            <a:ext cx="1828800" cy="1097280"/>
          </a:xfrm>
          <a:prstGeom prst="rect">
            <a:avLst/>
          </a:prstGeom>
          <a:noFill/>
          <a:ln/>
        </p:spPr>
        <p:txBody>
          <a:bodyPr wrap="square" lIns="0" tIns="0" rIns="0" bIns="0" rtlCol="0" anchor="ctr"/>
          <a:lstStyle/>
          <a:p>
            <a:pPr marL="0" indent="0">
              <a:buNone/>
            </a:pPr>
            <a:r>
              <a:rPr lang="en-US" sz="6800" b="1" dirty="0">
                <a:solidFill>
                  <a:srgbClr val="131D72"/>
                </a:solidFill>
                <a:latin typeface="Nunito" pitchFamily="34" charset="0"/>
                <a:ea typeface="Nunito" pitchFamily="34" charset="-122"/>
                <a:cs typeface="Nunito" pitchFamily="34" charset="-120"/>
              </a:rPr>
              <a:t>06</a:t>
            </a:r>
            <a:endParaRPr lang="en-US" sz="6800" dirty="0"/>
          </a:p>
        </p:txBody>
      </p:sp>
      <p:sp>
        <p:nvSpPr>
          <p:cNvPr id="6" name="Shape 4"/>
          <p:cNvSpPr/>
          <p:nvPr/>
        </p:nvSpPr>
        <p:spPr>
          <a:xfrm>
            <a:off x="347472" y="137160"/>
            <a:ext cx="91440" cy="4572000"/>
          </a:xfrm>
          <a:prstGeom prst="rect">
            <a:avLst/>
          </a:prstGeom>
          <a:solidFill>
            <a:srgbClr val="00E5FF"/>
          </a:solidFill>
          <a:ln w="12700">
            <a:solidFill>
              <a:srgbClr val="00E5FF"/>
            </a:solidFill>
            <a:prstDash val="solid"/>
          </a:ln>
        </p:spPr>
      </p:sp>
      <p:sp>
        <p:nvSpPr>
          <p:cNvPr id="7" name="Text 5"/>
          <p:cNvSpPr/>
          <p:nvPr/>
        </p:nvSpPr>
        <p:spPr>
          <a:xfrm>
            <a:off x="566928" y="201168"/>
            <a:ext cx="5029200" cy="320040"/>
          </a:xfrm>
          <a:prstGeom prst="rect">
            <a:avLst/>
          </a:prstGeom>
          <a:noFill/>
          <a:ln/>
        </p:spPr>
        <p:txBody>
          <a:bodyPr wrap="square" lIns="0" tIns="0" rIns="0" bIns="0" rtlCol="0" anchor="ctr"/>
          <a:lstStyle/>
          <a:p>
            <a:pPr marL="0" indent="0">
              <a:buNone/>
            </a:pPr>
            <a:r>
              <a:rPr lang="en-US" sz="900" b="1" kern="0" spc="300" dirty="0">
                <a:solidFill>
                  <a:srgbClr val="00E5FF"/>
                </a:solidFill>
                <a:latin typeface="Nunito" pitchFamily="34" charset="0"/>
                <a:ea typeface="Nunito" pitchFamily="34" charset="-122"/>
                <a:cs typeface="Nunito" pitchFamily="34" charset="-120"/>
              </a:rPr>
              <a:t>INTRODUCTION</a:t>
            </a:r>
            <a:endParaRPr lang="en-US" sz="900" dirty="0"/>
          </a:p>
        </p:txBody>
      </p:sp>
      <p:sp>
        <p:nvSpPr>
          <p:cNvPr id="8" name="Text 6"/>
          <p:cNvSpPr/>
          <p:nvPr/>
        </p:nvSpPr>
        <p:spPr>
          <a:xfrm>
            <a:off x="566928" y="548640"/>
            <a:ext cx="6858000" cy="2011680"/>
          </a:xfrm>
          <a:prstGeom prst="rect">
            <a:avLst/>
          </a:prstGeom>
          <a:noFill/>
          <a:ln/>
        </p:spPr>
        <p:txBody>
          <a:bodyPr wrap="square" lIns="0" tIns="0" rIns="0" bIns="0" rtlCol="0" anchor="ctr"/>
          <a:lstStyle/>
          <a:p>
            <a:pPr marL="0" indent="0">
              <a:buNone/>
            </a:pPr>
            <a:r>
              <a:rPr lang="en-US" sz="3800" b="1" dirty="0">
                <a:solidFill>
                  <a:srgbClr val="FFFFFF"/>
                </a:solidFill>
                <a:latin typeface="Nunito" pitchFamily="34" charset="0"/>
                <a:ea typeface="Nunito" pitchFamily="34" charset="-122"/>
                <a:cs typeface="Nunito" pitchFamily="34" charset="-120"/>
              </a:rPr>
              <a:t>AI &amp; IoT-Based Brain-</a:t>
            </a:r>
            <a:endParaRPr lang="en-US" sz="3800" dirty="0"/>
          </a:p>
          <a:p>
            <a:pPr marL="0" indent="0">
              <a:buNone/>
            </a:pPr>
            <a:r>
              <a:rPr lang="en-US" sz="3800" b="1" dirty="0">
                <a:solidFill>
                  <a:srgbClr val="FFFFFF"/>
                </a:solidFill>
                <a:latin typeface="Nunito" pitchFamily="34" charset="0"/>
                <a:ea typeface="Nunito" pitchFamily="34" charset="-122"/>
                <a:cs typeface="Nunito" pitchFamily="34" charset="-120"/>
              </a:rPr>
              <a:t>Controlled Assistive</a:t>
            </a:r>
            <a:endParaRPr lang="en-US" sz="3800" dirty="0"/>
          </a:p>
          <a:p>
            <a:pPr marL="0" indent="0">
              <a:buNone/>
            </a:pPr>
            <a:r>
              <a:rPr lang="en-US" sz="3800" b="1" dirty="0">
                <a:solidFill>
                  <a:srgbClr val="FFFFFF"/>
                </a:solidFill>
                <a:latin typeface="Nunito" pitchFamily="34" charset="0"/>
                <a:ea typeface="Nunito" pitchFamily="34" charset="-122"/>
                <a:cs typeface="Nunito" pitchFamily="34" charset="-120"/>
              </a:rPr>
              <a:t>Home System</a:t>
            </a:r>
            <a:endParaRPr lang="en-US" sz="3800" dirty="0"/>
          </a:p>
        </p:txBody>
      </p:sp>
      <p:sp>
        <p:nvSpPr>
          <p:cNvPr id="9" name="Text 7"/>
          <p:cNvSpPr/>
          <p:nvPr/>
        </p:nvSpPr>
        <p:spPr>
          <a:xfrm>
            <a:off x="566928" y="2743200"/>
            <a:ext cx="6858000" cy="1005840"/>
          </a:xfrm>
          <a:prstGeom prst="rect">
            <a:avLst/>
          </a:prstGeom>
          <a:noFill/>
          <a:ln/>
        </p:spPr>
        <p:txBody>
          <a:bodyPr wrap="square" lIns="0" tIns="0" rIns="0" bIns="0" rtlCol="0" anchor="ctr"/>
          <a:lstStyle/>
          <a:p>
            <a:pPr marL="0" indent="0">
              <a:buNone/>
            </a:pPr>
            <a:r>
              <a:rPr lang="en-US" sz="1300" dirty="0">
                <a:solidFill>
                  <a:srgbClr val="B0BEC5"/>
                </a:solidFill>
                <a:latin typeface="Calibri" pitchFamily="34" charset="0"/>
                <a:ea typeface="Calibri" pitchFamily="34" charset="-122"/>
                <a:cs typeface="Calibri" pitchFamily="34" charset="-120"/>
              </a:rPr>
              <a:t>Developing a system to help elderly and physically disabled individuals control household appliances using EEG brain signals, leveraging AI signal processing and IoT communication for real-time, hands-free automation.</a:t>
            </a:r>
            <a:endParaRPr lang="en-US" sz="1300" dirty="0"/>
          </a:p>
        </p:txBody>
      </p:sp>
      <p:sp>
        <p:nvSpPr>
          <p:cNvPr id="10" name="Shape 8"/>
          <p:cNvSpPr/>
          <p:nvPr/>
        </p:nvSpPr>
        <p:spPr>
          <a:xfrm>
            <a:off x="566928" y="3977640"/>
            <a:ext cx="109728" cy="109728"/>
          </a:xfrm>
          <a:prstGeom prst="ellipse">
            <a:avLst/>
          </a:prstGeom>
          <a:solidFill>
            <a:srgbClr val="00BCD4"/>
          </a:solidFill>
          <a:ln w="12700">
            <a:solidFill>
              <a:srgbClr val="00BCD4"/>
            </a:solidFill>
            <a:prstDash val="solid"/>
          </a:ln>
        </p:spPr>
      </p:sp>
      <p:sp>
        <p:nvSpPr>
          <p:cNvPr id="11" name="Shape 9"/>
          <p:cNvSpPr/>
          <p:nvPr/>
        </p:nvSpPr>
        <p:spPr>
          <a:xfrm>
            <a:off x="749808" y="3977640"/>
            <a:ext cx="109728" cy="109728"/>
          </a:xfrm>
          <a:prstGeom prst="ellipse">
            <a:avLst/>
          </a:prstGeom>
          <a:solidFill>
            <a:srgbClr val="00E5FF">
              <a:alpha val="50000"/>
            </a:srgbClr>
          </a:solidFill>
          <a:ln w="12700">
            <a:solidFill>
              <a:srgbClr val="00E5FF"/>
            </a:solidFill>
            <a:prstDash val="solid"/>
          </a:ln>
        </p:spPr>
      </p:sp>
      <p:sp>
        <p:nvSpPr>
          <p:cNvPr id="12" name="Shape 10"/>
          <p:cNvSpPr/>
          <p:nvPr/>
        </p:nvSpPr>
        <p:spPr>
          <a:xfrm>
            <a:off x="932688" y="3977640"/>
            <a:ext cx="109728" cy="109728"/>
          </a:xfrm>
          <a:prstGeom prst="ellipse">
            <a:avLst/>
          </a:prstGeom>
          <a:solidFill>
            <a:srgbClr val="FFFFFF">
              <a:alpha val="30000"/>
            </a:srgbClr>
          </a:solidFill>
          <a:ln w="12700">
            <a:solidFill>
              <a:srgbClr val="FFFFFF"/>
            </a:solidFill>
            <a:prstDash val="solid"/>
          </a:ln>
        </p:spPr>
      </p:sp>
      <p:sp>
        <p:nvSpPr>
          <p:cNvPr id="13" name="Shape 11"/>
          <p:cNvSpPr/>
          <p:nvPr/>
        </p:nvSpPr>
        <p:spPr>
          <a:xfrm>
            <a:off x="0" y="4818888"/>
            <a:ext cx="9144000" cy="324612"/>
          </a:xfrm>
          <a:prstGeom prst="rect">
            <a:avLst/>
          </a:prstGeom>
          <a:solidFill>
            <a:srgbClr val="060C38"/>
          </a:solidFill>
          <a:ln w="12700">
            <a:solidFill>
              <a:srgbClr val="060C38"/>
            </a:solidFill>
            <a:prstDash val="solid"/>
          </a:ln>
        </p:spPr>
      </p:sp>
      <p:sp>
        <p:nvSpPr>
          <p:cNvPr id="14" name="Shape 12"/>
          <p:cNvSpPr/>
          <p:nvPr/>
        </p:nvSpPr>
        <p:spPr>
          <a:xfrm>
            <a:off x="0" y="4818888"/>
            <a:ext cx="118872" cy="324612"/>
          </a:xfrm>
          <a:prstGeom prst="rect">
            <a:avLst/>
          </a:prstGeom>
          <a:solidFill>
            <a:srgbClr val="00E5FF"/>
          </a:solidFill>
          <a:ln w="12700">
            <a:solidFill>
              <a:srgbClr val="00E5FF"/>
            </a:solidFill>
            <a:prstDash val="solid"/>
          </a:ln>
        </p:spPr>
      </p:sp>
      <p:sp>
        <p:nvSpPr>
          <p:cNvPr id="15" name="Text 13"/>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16" name="Text 14"/>
          <p:cNvSpPr/>
          <p:nvPr/>
        </p:nvSpPr>
        <p:spPr>
          <a:xfrm>
            <a:off x="3931920" y="4841748"/>
            <a:ext cx="1828800" cy="274320"/>
          </a:xfrm>
          <a:prstGeom prst="rect">
            <a:avLst/>
          </a:prstGeom>
          <a:noFill/>
          <a:ln/>
        </p:spPr>
        <p:txBody>
          <a:bodyPr wrap="square" lIns="0" tIns="0" rIns="0" bIns="0" rtlCol="0" anchor="ctr"/>
          <a:lstStyle/>
          <a:p>
            <a:pPr algn="ctr"/>
            <a:r>
              <a:rPr lang="en-US" sz="850" dirty="0">
                <a:solidFill>
                  <a:srgbClr val="7986CB"/>
                </a:solidFill>
                <a:latin typeface="Calibri" pitchFamily="34" charset="0"/>
                <a:ea typeface="Calibri" pitchFamily="34" charset="-122"/>
                <a:cs typeface="Calibri" pitchFamily="34" charset="-120"/>
              </a:rPr>
              <a:t>Priyankaba Jadej</a:t>
            </a:r>
            <a:endParaRPr lang="en-US" sz="850" dirty="0"/>
          </a:p>
        </p:txBody>
      </p:sp>
      <p:sp>
        <p:nvSpPr>
          <p:cNvPr id="17" name="Text 15"/>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06 / 17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554"/>
        </a:solidFill>
        <a:effectLst/>
      </p:bgPr>
    </p:bg>
    <p:spTree>
      <p:nvGrpSpPr>
        <p:cNvPr id="1" name=""/>
        <p:cNvGrpSpPr/>
        <p:nvPr/>
      </p:nvGrpSpPr>
      <p:grpSpPr>
        <a:xfrm>
          <a:off x="0" y="0"/>
          <a:ext cx="0" cy="0"/>
          <a:chOff x="0" y="0"/>
          <a:chExt cx="0" cy="0"/>
        </a:xfrm>
      </p:grpSpPr>
      <p:sp>
        <p:nvSpPr>
          <p:cNvPr id="2" name="Text 0"/>
          <p:cNvSpPr/>
          <p:nvPr/>
        </p:nvSpPr>
        <p:spPr>
          <a:xfrm>
            <a:off x="347472" y="128016"/>
            <a:ext cx="457200" cy="274320"/>
          </a:xfrm>
          <a:prstGeom prst="rect">
            <a:avLst/>
          </a:prstGeom>
          <a:noFill/>
          <a:ln/>
        </p:spPr>
        <p:txBody>
          <a:bodyPr wrap="square" lIns="0" tIns="0" rIns="0" bIns="0" rtlCol="0" anchor="ctr"/>
          <a:lstStyle/>
          <a:p>
            <a:pPr marL="0" indent="0">
              <a:buNone/>
            </a:pPr>
            <a:r>
              <a:rPr lang="en-US" sz="1000" b="1" dirty="0">
                <a:solidFill>
                  <a:srgbClr val="00E5FF"/>
                </a:solidFill>
                <a:latin typeface="Nunito" pitchFamily="34" charset="0"/>
                <a:ea typeface="Nunito" pitchFamily="34" charset="-122"/>
                <a:cs typeface="Nunito" pitchFamily="34" charset="-120"/>
              </a:rPr>
              <a:t>07</a:t>
            </a:r>
            <a:endParaRPr lang="en-US" sz="1000" dirty="0"/>
          </a:p>
        </p:txBody>
      </p:sp>
      <p:sp>
        <p:nvSpPr>
          <p:cNvPr id="3" name="Text 1"/>
          <p:cNvSpPr/>
          <p:nvPr/>
        </p:nvSpPr>
        <p:spPr>
          <a:xfrm>
            <a:off x="548640" y="128016"/>
            <a:ext cx="8412480" cy="347472"/>
          </a:xfrm>
          <a:prstGeom prst="rect">
            <a:avLst/>
          </a:prstGeom>
          <a:noFill/>
          <a:ln/>
        </p:spPr>
        <p:txBody>
          <a:bodyPr wrap="square" lIns="0" tIns="0" rIns="0" bIns="0" rtlCol="0" anchor="ctr"/>
          <a:lstStyle/>
          <a:p>
            <a:pPr marL="0" indent="0">
              <a:buNone/>
            </a:pPr>
            <a:r>
              <a:rPr lang="en-US" sz="2000" b="1" dirty="0">
                <a:solidFill>
                  <a:srgbClr val="FFFFFF"/>
                </a:solidFill>
                <a:latin typeface="Nunito" pitchFamily="34" charset="0"/>
                <a:ea typeface="Nunito" pitchFamily="34" charset="-122"/>
                <a:cs typeface="Nunito" pitchFamily="34" charset="-120"/>
              </a:rPr>
              <a:t>Literature Review</a:t>
            </a:r>
            <a:endParaRPr lang="en-US" sz="2000" dirty="0"/>
          </a:p>
        </p:txBody>
      </p:sp>
      <p:sp>
        <p:nvSpPr>
          <p:cNvPr id="4" name="Shape 2"/>
          <p:cNvSpPr/>
          <p:nvPr/>
        </p:nvSpPr>
        <p:spPr>
          <a:xfrm>
            <a:off x="347472" y="512064"/>
            <a:ext cx="1280160" cy="36576"/>
          </a:xfrm>
          <a:prstGeom prst="rect">
            <a:avLst/>
          </a:prstGeom>
          <a:solidFill>
            <a:srgbClr val="00E5FF"/>
          </a:solidFill>
          <a:ln w="12700">
            <a:solidFill>
              <a:srgbClr val="00E5FF"/>
            </a:solidFill>
            <a:prstDash val="solid"/>
          </a:ln>
        </p:spPr>
      </p:sp>
      <p:sp>
        <p:nvSpPr>
          <p:cNvPr id="5" name="Shape 3"/>
          <p:cNvSpPr/>
          <p:nvPr/>
        </p:nvSpPr>
        <p:spPr>
          <a:xfrm>
            <a:off x="347472" y="658368"/>
            <a:ext cx="2743200" cy="1371600"/>
          </a:xfrm>
          <a:prstGeom prst="rect">
            <a:avLst/>
          </a:prstGeom>
          <a:solidFill>
            <a:srgbClr val="1E2B8F"/>
          </a:solidFill>
          <a:ln w="12700">
            <a:solidFill>
              <a:srgbClr val="1E2B8F"/>
            </a:solidFill>
            <a:prstDash val="solid"/>
          </a:ln>
        </p:spPr>
      </p:sp>
      <p:sp>
        <p:nvSpPr>
          <p:cNvPr id="6" name="Shape 4"/>
          <p:cNvSpPr/>
          <p:nvPr/>
        </p:nvSpPr>
        <p:spPr>
          <a:xfrm>
            <a:off x="347472" y="658368"/>
            <a:ext cx="2743200" cy="54864"/>
          </a:xfrm>
          <a:prstGeom prst="rect">
            <a:avLst/>
          </a:prstGeom>
          <a:solidFill>
            <a:srgbClr val="00BCD4"/>
          </a:solidFill>
          <a:ln w="12700">
            <a:solidFill>
              <a:srgbClr val="00BCD4"/>
            </a:solidFill>
            <a:prstDash val="solid"/>
          </a:ln>
        </p:spPr>
      </p:sp>
      <p:sp>
        <p:nvSpPr>
          <p:cNvPr id="7" name="Text 5"/>
          <p:cNvSpPr/>
          <p:nvPr/>
        </p:nvSpPr>
        <p:spPr>
          <a:xfrm>
            <a:off x="484632" y="768096"/>
            <a:ext cx="2487168" cy="256032"/>
          </a:xfrm>
          <a:prstGeom prst="rect">
            <a:avLst/>
          </a:prstGeom>
          <a:noFill/>
          <a:ln/>
        </p:spPr>
        <p:txBody>
          <a:bodyPr wrap="square" lIns="0" tIns="0" rIns="0" bIns="0" rtlCol="0" anchor="ctr"/>
          <a:lstStyle/>
          <a:p>
            <a:pPr marL="0" indent="0">
              <a:buNone/>
            </a:pPr>
            <a:r>
              <a:rPr lang="en-US" sz="900" b="1" dirty="0">
                <a:solidFill>
                  <a:srgbClr val="00BCD4"/>
                </a:solidFill>
                <a:latin typeface="Nunito" pitchFamily="34" charset="0"/>
                <a:ea typeface="Nunito" pitchFamily="34" charset="-122"/>
                <a:cs typeface="Nunito" pitchFamily="34" charset="-120"/>
              </a:rPr>
              <a:t>Wolpaw et al., 2012</a:t>
            </a:r>
            <a:endParaRPr lang="en-US" sz="900" dirty="0"/>
          </a:p>
        </p:txBody>
      </p:sp>
      <p:sp>
        <p:nvSpPr>
          <p:cNvPr id="8" name="Text 6"/>
          <p:cNvSpPr/>
          <p:nvPr/>
        </p:nvSpPr>
        <p:spPr>
          <a:xfrm>
            <a:off x="484632" y="1042416"/>
            <a:ext cx="2487168" cy="9144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Feasibility of EEG-based BCI systems for translating brain signals into machine commands.</a:t>
            </a:r>
            <a:endParaRPr lang="en-US" sz="1000" dirty="0"/>
          </a:p>
        </p:txBody>
      </p:sp>
      <p:sp>
        <p:nvSpPr>
          <p:cNvPr id="9" name="Shape 7"/>
          <p:cNvSpPr/>
          <p:nvPr/>
        </p:nvSpPr>
        <p:spPr>
          <a:xfrm>
            <a:off x="3200400" y="658368"/>
            <a:ext cx="2743200" cy="1371600"/>
          </a:xfrm>
          <a:prstGeom prst="rect">
            <a:avLst/>
          </a:prstGeom>
          <a:solidFill>
            <a:srgbClr val="1E2B8F"/>
          </a:solidFill>
          <a:ln w="12700">
            <a:solidFill>
              <a:srgbClr val="1E2B8F"/>
            </a:solidFill>
            <a:prstDash val="solid"/>
          </a:ln>
        </p:spPr>
      </p:sp>
      <p:sp>
        <p:nvSpPr>
          <p:cNvPr id="10" name="Shape 8"/>
          <p:cNvSpPr/>
          <p:nvPr/>
        </p:nvSpPr>
        <p:spPr>
          <a:xfrm>
            <a:off x="3200400" y="658368"/>
            <a:ext cx="2743200" cy="54864"/>
          </a:xfrm>
          <a:prstGeom prst="rect">
            <a:avLst/>
          </a:prstGeom>
          <a:solidFill>
            <a:srgbClr val="00E5FF"/>
          </a:solidFill>
          <a:ln w="12700">
            <a:solidFill>
              <a:srgbClr val="00E5FF"/>
            </a:solidFill>
            <a:prstDash val="solid"/>
          </a:ln>
        </p:spPr>
      </p:sp>
      <p:sp>
        <p:nvSpPr>
          <p:cNvPr id="11" name="Text 9"/>
          <p:cNvSpPr/>
          <p:nvPr/>
        </p:nvSpPr>
        <p:spPr>
          <a:xfrm>
            <a:off x="3337560" y="768096"/>
            <a:ext cx="2487168" cy="256032"/>
          </a:xfrm>
          <a:prstGeom prst="rect">
            <a:avLst/>
          </a:prstGeom>
          <a:noFill/>
          <a:ln/>
        </p:spPr>
        <p:txBody>
          <a:bodyPr wrap="square" lIns="0" tIns="0" rIns="0" bIns="0" rtlCol="0" anchor="ctr"/>
          <a:lstStyle/>
          <a:p>
            <a:pPr marL="0" indent="0">
              <a:buNone/>
            </a:pPr>
            <a:r>
              <a:rPr lang="en-US" sz="900" b="1" dirty="0">
                <a:solidFill>
                  <a:srgbClr val="00E5FF"/>
                </a:solidFill>
                <a:latin typeface="Nunito" pitchFamily="34" charset="0"/>
                <a:ea typeface="Nunito" pitchFamily="34" charset="-122"/>
                <a:cs typeface="Nunito" pitchFamily="34" charset="-120"/>
              </a:rPr>
              <a:t>Nicolas-Alonso &amp; Gomez-Gil, 2012</a:t>
            </a:r>
            <a:endParaRPr lang="en-US" sz="900" dirty="0"/>
          </a:p>
        </p:txBody>
      </p:sp>
      <p:sp>
        <p:nvSpPr>
          <p:cNvPr id="12" name="Text 10"/>
          <p:cNvSpPr/>
          <p:nvPr/>
        </p:nvSpPr>
        <p:spPr>
          <a:xfrm>
            <a:off x="3337560" y="1042416"/>
            <a:ext cx="2487168" cy="9144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Reviewed EEG-based BCI systems; emphasized signal noise, accuracy, and cost challenges.</a:t>
            </a:r>
            <a:endParaRPr lang="en-US" sz="1000" dirty="0"/>
          </a:p>
        </p:txBody>
      </p:sp>
      <p:sp>
        <p:nvSpPr>
          <p:cNvPr id="13" name="Shape 11"/>
          <p:cNvSpPr/>
          <p:nvPr/>
        </p:nvSpPr>
        <p:spPr>
          <a:xfrm>
            <a:off x="6053328" y="658368"/>
            <a:ext cx="2743200" cy="1371600"/>
          </a:xfrm>
          <a:prstGeom prst="rect">
            <a:avLst/>
          </a:prstGeom>
          <a:solidFill>
            <a:srgbClr val="1E2B8F"/>
          </a:solidFill>
          <a:ln w="12700">
            <a:solidFill>
              <a:srgbClr val="1E2B8F"/>
            </a:solidFill>
            <a:prstDash val="solid"/>
          </a:ln>
        </p:spPr>
      </p:sp>
      <p:sp>
        <p:nvSpPr>
          <p:cNvPr id="14" name="Shape 12"/>
          <p:cNvSpPr/>
          <p:nvPr/>
        </p:nvSpPr>
        <p:spPr>
          <a:xfrm>
            <a:off x="6053328" y="658368"/>
            <a:ext cx="2743200" cy="54864"/>
          </a:xfrm>
          <a:prstGeom prst="rect">
            <a:avLst/>
          </a:prstGeom>
          <a:solidFill>
            <a:srgbClr val="FF7043"/>
          </a:solidFill>
          <a:ln w="12700">
            <a:solidFill>
              <a:srgbClr val="FF7043"/>
            </a:solidFill>
            <a:prstDash val="solid"/>
          </a:ln>
        </p:spPr>
      </p:sp>
      <p:sp>
        <p:nvSpPr>
          <p:cNvPr id="15" name="Text 13"/>
          <p:cNvSpPr/>
          <p:nvPr/>
        </p:nvSpPr>
        <p:spPr>
          <a:xfrm>
            <a:off x="6190488" y="768096"/>
            <a:ext cx="2487168" cy="256032"/>
          </a:xfrm>
          <a:prstGeom prst="rect">
            <a:avLst/>
          </a:prstGeom>
          <a:noFill/>
          <a:ln/>
        </p:spPr>
        <p:txBody>
          <a:bodyPr wrap="square" lIns="0" tIns="0" rIns="0" bIns="0" rtlCol="0" anchor="ctr"/>
          <a:lstStyle/>
          <a:p>
            <a:pPr marL="0" indent="0">
              <a:buNone/>
            </a:pPr>
            <a:r>
              <a:rPr lang="en-US" sz="900" b="1" dirty="0">
                <a:solidFill>
                  <a:srgbClr val="FF7043"/>
                </a:solidFill>
                <a:latin typeface="Nunito" pitchFamily="34" charset="0"/>
                <a:ea typeface="Nunito" pitchFamily="34" charset="-122"/>
                <a:cs typeface="Nunito" pitchFamily="34" charset="-120"/>
              </a:rPr>
              <a:t>IoT Smart Home Research</a:t>
            </a:r>
            <a:endParaRPr lang="en-US" sz="900" dirty="0"/>
          </a:p>
        </p:txBody>
      </p:sp>
      <p:sp>
        <p:nvSpPr>
          <p:cNvPr id="16" name="Text 14"/>
          <p:cNvSpPr/>
          <p:nvPr/>
        </p:nvSpPr>
        <p:spPr>
          <a:xfrm>
            <a:off x="6190488" y="1042416"/>
            <a:ext cx="2487168" cy="9144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Recent systems focus on voice and mobile control but lack affordable brain-signal integration.</a:t>
            </a:r>
            <a:endParaRPr lang="en-US" sz="1000" dirty="0"/>
          </a:p>
        </p:txBody>
      </p:sp>
      <p:sp>
        <p:nvSpPr>
          <p:cNvPr id="17" name="Shape 15"/>
          <p:cNvSpPr/>
          <p:nvPr/>
        </p:nvSpPr>
        <p:spPr>
          <a:xfrm>
            <a:off x="347472" y="2139696"/>
            <a:ext cx="2743200" cy="1371600"/>
          </a:xfrm>
          <a:prstGeom prst="rect">
            <a:avLst/>
          </a:prstGeom>
          <a:solidFill>
            <a:srgbClr val="1E2B8F"/>
          </a:solidFill>
          <a:ln w="12700">
            <a:solidFill>
              <a:srgbClr val="1E2B8F"/>
            </a:solidFill>
            <a:prstDash val="solid"/>
          </a:ln>
        </p:spPr>
      </p:sp>
      <p:sp>
        <p:nvSpPr>
          <p:cNvPr id="18" name="Shape 16"/>
          <p:cNvSpPr/>
          <p:nvPr/>
        </p:nvSpPr>
        <p:spPr>
          <a:xfrm>
            <a:off x="347472" y="2139696"/>
            <a:ext cx="2743200" cy="54864"/>
          </a:xfrm>
          <a:prstGeom prst="rect">
            <a:avLst/>
          </a:prstGeom>
          <a:solidFill>
            <a:srgbClr val="FFB300"/>
          </a:solidFill>
          <a:ln w="12700">
            <a:solidFill>
              <a:srgbClr val="FFB300"/>
            </a:solidFill>
            <a:prstDash val="solid"/>
          </a:ln>
        </p:spPr>
      </p:sp>
      <p:sp>
        <p:nvSpPr>
          <p:cNvPr id="19" name="Text 17"/>
          <p:cNvSpPr/>
          <p:nvPr/>
        </p:nvSpPr>
        <p:spPr>
          <a:xfrm>
            <a:off x="484632" y="2249424"/>
            <a:ext cx="2487168" cy="256032"/>
          </a:xfrm>
          <a:prstGeom prst="rect">
            <a:avLst/>
          </a:prstGeom>
          <a:noFill/>
          <a:ln/>
        </p:spPr>
        <p:txBody>
          <a:bodyPr wrap="square" lIns="0" tIns="0" rIns="0" bIns="0" rtlCol="0" anchor="ctr"/>
          <a:lstStyle/>
          <a:p>
            <a:pPr marL="0" indent="0">
              <a:buNone/>
            </a:pPr>
            <a:r>
              <a:rPr lang="en-US" sz="900" b="1" dirty="0">
                <a:solidFill>
                  <a:srgbClr val="FFB300"/>
                </a:solidFill>
                <a:latin typeface="Nunito" pitchFamily="34" charset="0"/>
                <a:ea typeface="Nunito" pitchFamily="34" charset="-122"/>
                <a:cs typeface="Nunito" pitchFamily="34" charset="-120"/>
              </a:rPr>
              <a:t>Research Gap</a:t>
            </a:r>
            <a:endParaRPr lang="en-US" sz="900" dirty="0"/>
          </a:p>
        </p:txBody>
      </p:sp>
      <p:sp>
        <p:nvSpPr>
          <p:cNvPr id="20" name="Text 18"/>
          <p:cNvSpPr/>
          <p:nvPr/>
        </p:nvSpPr>
        <p:spPr>
          <a:xfrm>
            <a:off x="484632" y="2523744"/>
            <a:ext cx="2487168" cy="9144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Most BCI solutions remain expensive prototypes, limiting accessibility in developing countries.</a:t>
            </a:r>
            <a:endParaRPr lang="en-US" sz="1000" dirty="0"/>
          </a:p>
        </p:txBody>
      </p:sp>
      <p:sp>
        <p:nvSpPr>
          <p:cNvPr id="21" name="Shape 19"/>
          <p:cNvSpPr/>
          <p:nvPr/>
        </p:nvSpPr>
        <p:spPr>
          <a:xfrm>
            <a:off x="3200400" y="2139696"/>
            <a:ext cx="2743200" cy="1371600"/>
          </a:xfrm>
          <a:prstGeom prst="rect">
            <a:avLst/>
          </a:prstGeom>
          <a:solidFill>
            <a:srgbClr val="1E2B8F"/>
          </a:solidFill>
          <a:ln w="12700">
            <a:solidFill>
              <a:srgbClr val="1E2B8F"/>
            </a:solidFill>
            <a:prstDash val="solid"/>
          </a:ln>
        </p:spPr>
      </p:sp>
      <p:sp>
        <p:nvSpPr>
          <p:cNvPr id="22" name="Shape 20"/>
          <p:cNvSpPr/>
          <p:nvPr/>
        </p:nvSpPr>
        <p:spPr>
          <a:xfrm>
            <a:off x="3200400" y="2139696"/>
            <a:ext cx="2743200" cy="54864"/>
          </a:xfrm>
          <a:prstGeom prst="rect">
            <a:avLst/>
          </a:prstGeom>
          <a:solidFill>
            <a:srgbClr val="00BCD4"/>
          </a:solidFill>
          <a:ln w="12700">
            <a:solidFill>
              <a:srgbClr val="00BCD4"/>
            </a:solidFill>
            <a:prstDash val="solid"/>
          </a:ln>
        </p:spPr>
      </p:sp>
      <p:sp>
        <p:nvSpPr>
          <p:cNvPr id="23" name="Text 21"/>
          <p:cNvSpPr/>
          <p:nvPr/>
        </p:nvSpPr>
        <p:spPr>
          <a:xfrm>
            <a:off x="3337560" y="2249424"/>
            <a:ext cx="2487168" cy="256032"/>
          </a:xfrm>
          <a:prstGeom prst="rect">
            <a:avLst/>
          </a:prstGeom>
          <a:noFill/>
          <a:ln/>
        </p:spPr>
        <p:txBody>
          <a:bodyPr wrap="square" lIns="0" tIns="0" rIns="0" bIns="0" rtlCol="0" anchor="ctr"/>
          <a:lstStyle/>
          <a:p>
            <a:pPr marL="0" indent="0">
              <a:buNone/>
            </a:pPr>
            <a:r>
              <a:rPr lang="en-US" sz="900" b="1" dirty="0">
                <a:solidFill>
                  <a:srgbClr val="00BCD4"/>
                </a:solidFill>
                <a:latin typeface="Nunito" pitchFamily="34" charset="0"/>
                <a:ea typeface="Nunito" pitchFamily="34" charset="-122"/>
                <a:cs typeface="Nunito" pitchFamily="34" charset="-120"/>
              </a:rPr>
              <a:t>Khan &amp; Abbas, 2019</a:t>
            </a:r>
            <a:endParaRPr lang="en-US" sz="900" dirty="0"/>
          </a:p>
        </p:txBody>
      </p:sp>
      <p:sp>
        <p:nvSpPr>
          <p:cNvPr id="24" name="Text 22"/>
          <p:cNvSpPr/>
          <p:nvPr/>
        </p:nvSpPr>
        <p:spPr>
          <a:xfrm>
            <a:off x="3337560" y="2523744"/>
            <a:ext cx="2487168" cy="9144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IoT-based smart home review highlighting need for inclusive, affordable BCI-IoT solutions.</a:t>
            </a:r>
            <a:endParaRPr lang="en-US" sz="1000" dirty="0"/>
          </a:p>
        </p:txBody>
      </p:sp>
      <p:sp>
        <p:nvSpPr>
          <p:cNvPr id="25" name="Shape 23"/>
          <p:cNvSpPr/>
          <p:nvPr/>
        </p:nvSpPr>
        <p:spPr>
          <a:xfrm>
            <a:off x="6053328" y="2139696"/>
            <a:ext cx="2743200" cy="1371600"/>
          </a:xfrm>
          <a:prstGeom prst="rect">
            <a:avLst/>
          </a:prstGeom>
          <a:solidFill>
            <a:srgbClr val="1E2B8F"/>
          </a:solidFill>
          <a:ln w="12700">
            <a:solidFill>
              <a:srgbClr val="1E2B8F"/>
            </a:solidFill>
            <a:prstDash val="solid"/>
          </a:ln>
        </p:spPr>
      </p:sp>
      <p:sp>
        <p:nvSpPr>
          <p:cNvPr id="26" name="Shape 24"/>
          <p:cNvSpPr/>
          <p:nvPr/>
        </p:nvSpPr>
        <p:spPr>
          <a:xfrm>
            <a:off x="6053328" y="2139696"/>
            <a:ext cx="2743200" cy="54864"/>
          </a:xfrm>
          <a:prstGeom prst="rect">
            <a:avLst/>
          </a:prstGeom>
          <a:solidFill>
            <a:srgbClr val="00E5FF"/>
          </a:solidFill>
          <a:ln w="12700">
            <a:solidFill>
              <a:srgbClr val="00E5FF"/>
            </a:solidFill>
            <a:prstDash val="solid"/>
          </a:ln>
        </p:spPr>
      </p:sp>
      <p:sp>
        <p:nvSpPr>
          <p:cNvPr id="27" name="Text 25"/>
          <p:cNvSpPr/>
          <p:nvPr/>
        </p:nvSpPr>
        <p:spPr>
          <a:xfrm>
            <a:off x="6190488" y="2249424"/>
            <a:ext cx="2487168" cy="256032"/>
          </a:xfrm>
          <a:prstGeom prst="rect">
            <a:avLst/>
          </a:prstGeom>
          <a:noFill/>
          <a:ln/>
        </p:spPr>
        <p:txBody>
          <a:bodyPr wrap="square" lIns="0" tIns="0" rIns="0" bIns="0" rtlCol="0" anchor="ctr"/>
          <a:lstStyle/>
          <a:p>
            <a:pPr marL="0" indent="0">
              <a:buNone/>
            </a:pPr>
            <a:r>
              <a:rPr lang="en-US" sz="900" b="1" dirty="0">
                <a:solidFill>
                  <a:srgbClr val="00E5FF"/>
                </a:solidFill>
                <a:latin typeface="Nunito" pitchFamily="34" charset="0"/>
                <a:ea typeface="Nunito" pitchFamily="34" charset="-122"/>
                <a:cs typeface="Nunito" pitchFamily="34" charset="-120"/>
              </a:rPr>
              <a:t>Rashid et al., 2020</a:t>
            </a:r>
            <a:endParaRPr lang="en-US" sz="900" dirty="0"/>
          </a:p>
        </p:txBody>
      </p:sp>
      <p:sp>
        <p:nvSpPr>
          <p:cNvPr id="28" name="Text 26"/>
          <p:cNvSpPr/>
          <p:nvPr/>
        </p:nvSpPr>
        <p:spPr>
          <a:xfrm>
            <a:off x="6190488" y="2523744"/>
            <a:ext cx="2487168" cy="9144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EEG-Based BCI for assistive applications; calls for low-cost AI-integrated BCI-IoT solutions.</a:t>
            </a:r>
            <a:endParaRPr lang="en-US" sz="1000" dirty="0"/>
          </a:p>
        </p:txBody>
      </p:sp>
      <p:sp>
        <p:nvSpPr>
          <p:cNvPr id="29" name="Shape 27"/>
          <p:cNvSpPr/>
          <p:nvPr/>
        </p:nvSpPr>
        <p:spPr>
          <a:xfrm>
            <a:off x="347472" y="3621024"/>
            <a:ext cx="8449056" cy="393192"/>
          </a:xfrm>
          <a:prstGeom prst="rect">
            <a:avLst/>
          </a:prstGeom>
          <a:solidFill>
            <a:srgbClr val="0A1145"/>
          </a:solidFill>
          <a:ln w="12700">
            <a:solidFill>
              <a:srgbClr val="0A1145"/>
            </a:solidFill>
            <a:prstDash val="solid"/>
          </a:ln>
        </p:spPr>
      </p:sp>
      <p:sp>
        <p:nvSpPr>
          <p:cNvPr id="30" name="Shape 28"/>
          <p:cNvSpPr/>
          <p:nvPr/>
        </p:nvSpPr>
        <p:spPr>
          <a:xfrm>
            <a:off x="347472" y="3621024"/>
            <a:ext cx="8449056" cy="36576"/>
          </a:xfrm>
          <a:prstGeom prst="rect">
            <a:avLst/>
          </a:prstGeom>
          <a:solidFill>
            <a:srgbClr val="00BCD4"/>
          </a:solidFill>
          <a:ln w="12700">
            <a:solidFill>
              <a:srgbClr val="00BCD4"/>
            </a:solidFill>
            <a:prstDash val="solid"/>
          </a:ln>
        </p:spPr>
      </p:sp>
      <p:sp>
        <p:nvSpPr>
          <p:cNvPr id="31" name="Text 29"/>
          <p:cNvSpPr/>
          <p:nvPr/>
        </p:nvSpPr>
        <p:spPr>
          <a:xfrm>
            <a:off x="502920" y="3666744"/>
            <a:ext cx="8229600" cy="347472"/>
          </a:xfrm>
          <a:prstGeom prst="rect">
            <a:avLst/>
          </a:prstGeom>
          <a:noFill/>
          <a:ln/>
        </p:spPr>
        <p:txBody>
          <a:bodyPr wrap="square" lIns="0" tIns="0" rIns="0" bIns="0" rtlCol="0" anchor="ctr"/>
          <a:lstStyle/>
          <a:p>
            <a:pPr marL="0" indent="0">
              <a:buNone/>
            </a:pPr>
            <a:r>
              <a:rPr lang="en-US" sz="1000" dirty="0">
                <a:solidFill>
                  <a:srgbClr val="B0BEC5"/>
                </a:solidFill>
                <a:latin typeface="Calibri" pitchFamily="34" charset="0"/>
                <a:ea typeface="Calibri" pitchFamily="34" charset="-122"/>
                <a:cs typeface="Calibri" pitchFamily="34" charset="-120"/>
              </a:rPr>
              <a:t>CONCLUSION: The literature supports feasibility, but highlights a gap in affordable, assistive BCI–IoT integration — which this project directly addresses.</a:t>
            </a:r>
            <a:endParaRPr lang="en-US" sz="1000" dirty="0"/>
          </a:p>
        </p:txBody>
      </p:sp>
      <p:sp>
        <p:nvSpPr>
          <p:cNvPr id="32" name="Shape 30"/>
          <p:cNvSpPr/>
          <p:nvPr/>
        </p:nvSpPr>
        <p:spPr>
          <a:xfrm>
            <a:off x="0" y="4818888"/>
            <a:ext cx="9144000" cy="324612"/>
          </a:xfrm>
          <a:prstGeom prst="rect">
            <a:avLst/>
          </a:prstGeom>
          <a:solidFill>
            <a:srgbClr val="060C38"/>
          </a:solidFill>
          <a:ln w="12700">
            <a:solidFill>
              <a:srgbClr val="060C38"/>
            </a:solidFill>
            <a:prstDash val="solid"/>
          </a:ln>
        </p:spPr>
      </p:sp>
      <p:sp>
        <p:nvSpPr>
          <p:cNvPr id="33" name="Shape 31"/>
          <p:cNvSpPr/>
          <p:nvPr/>
        </p:nvSpPr>
        <p:spPr>
          <a:xfrm>
            <a:off x="0" y="4818888"/>
            <a:ext cx="118872" cy="324612"/>
          </a:xfrm>
          <a:prstGeom prst="rect">
            <a:avLst/>
          </a:prstGeom>
          <a:solidFill>
            <a:srgbClr val="00E5FF"/>
          </a:solidFill>
          <a:ln w="12700">
            <a:solidFill>
              <a:srgbClr val="00E5FF"/>
            </a:solidFill>
            <a:prstDash val="solid"/>
          </a:ln>
        </p:spPr>
      </p:sp>
      <p:sp>
        <p:nvSpPr>
          <p:cNvPr id="34" name="Text 32"/>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35" name="Text 33"/>
          <p:cNvSpPr/>
          <p:nvPr/>
        </p:nvSpPr>
        <p:spPr>
          <a:xfrm>
            <a:off x="3931920" y="4841748"/>
            <a:ext cx="1828800" cy="274320"/>
          </a:xfrm>
          <a:prstGeom prst="rect">
            <a:avLst/>
          </a:prstGeom>
          <a:noFill/>
          <a:ln/>
        </p:spPr>
        <p:txBody>
          <a:bodyPr wrap="square" lIns="0" tIns="0" rIns="0" bIns="0" rtlCol="0" anchor="ctr"/>
          <a:lstStyle/>
          <a:p>
            <a:pPr algn="ctr"/>
            <a:r>
              <a:rPr lang="en-US" sz="850" dirty="0">
                <a:solidFill>
                  <a:srgbClr val="7986CB"/>
                </a:solidFill>
                <a:latin typeface="Calibri" pitchFamily="34" charset="0"/>
                <a:ea typeface="Calibri" pitchFamily="34" charset="-122"/>
                <a:cs typeface="Calibri" pitchFamily="34" charset="-120"/>
              </a:rPr>
              <a:t>Priyankaba Jadej</a:t>
            </a:r>
            <a:endParaRPr lang="en-US" sz="850" dirty="0"/>
          </a:p>
        </p:txBody>
      </p:sp>
      <p:sp>
        <p:nvSpPr>
          <p:cNvPr id="36" name="Text 34"/>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07 / 17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554"/>
        </a:solidFill>
        <a:effectLst/>
      </p:bgPr>
    </p:bg>
    <p:spTree>
      <p:nvGrpSpPr>
        <p:cNvPr id="1" name=""/>
        <p:cNvGrpSpPr/>
        <p:nvPr/>
      </p:nvGrpSpPr>
      <p:grpSpPr>
        <a:xfrm>
          <a:off x="0" y="0"/>
          <a:ext cx="0" cy="0"/>
          <a:chOff x="0" y="0"/>
          <a:chExt cx="0" cy="0"/>
        </a:xfrm>
      </p:grpSpPr>
      <p:sp>
        <p:nvSpPr>
          <p:cNvPr id="2" name="Text 0"/>
          <p:cNvSpPr/>
          <p:nvPr/>
        </p:nvSpPr>
        <p:spPr>
          <a:xfrm>
            <a:off x="347472" y="128016"/>
            <a:ext cx="457200" cy="274320"/>
          </a:xfrm>
          <a:prstGeom prst="rect">
            <a:avLst/>
          </a:prstGeom>
          <a:noFill/>
          <a:ln/>
        </p:spPr>
        <p:txBody>
          <a:bodyPr wrap="square" lIns="0" tIns="0" rIns="0" bIns="0" rtlCol="0" anchor="ctr"/>
          <a:lstStyle/>
          <a:p>
            <a:pPr marL="0" indent="0">
              <a:buNone/>
            </a:pPr>
            <a:r>
              <a:rPr lang="en-US" sz="1000" b="1" dirty="0">
                <a:solidFill>
                  <a:srgbClr val="00E5FF"/>
                </a:solidFill>
                <a:latin typeface="Nunito" pitchFamily="34" charset="0"/>
                <a:ea typeface="Nunito" pitchFamily="34" charset="-122"/>
                <a:cs typeface="Nunito" pitchFamily="34" charset="-120"/>
              </a:rPr>
              <a:t>08</a:t>
            </a:r>
            <a:endParaRPr lang="en-US" sz="1000" dirty="0"/>
          </a:p>
        </p:txBody>
      </p:sp>
      <p:sp>
        <p:nvSpPr>
          <p:cNvPr id="3" name="Text 1"/>
          <p:cNvSpPr/>
          <p:nvPr/>
        </p:nvSpPr>
        <p:spPr>
          <a:xfrm>
            <a:off x="530352" y="122741"/>
            <a:ext cx="8412480" cy="347472"/>
          </a:xfrm>
          <a:prstGeom prst="rect">
            <a:avLst/>
          </a:prstGeom>
          <a:noFill/>
          <a:ln/>
        </p:spPr>
        <p:txBody>
          <a:bodyPr wrap="square" lIns="0" tIns="0" rIns="0" bIns="0" rtlCol="0" anchor="ctr"/>
          <a:lstStyle/>
          <a:p>
            <a:pPr marL="0" indent="0">
              <a:buNone/>
            </a:pPr>
            <a:r>
              <a:rPr lang="en-US" sz="2000" b="1" dirty="0">
                <a:solidFill>
                  <a:srgbClr val="FFFFFF"/>
                </a:solidFill>
                <a:latin typeface="Nunito" pitchFamily="34" charset="0"/>
                <a:ea typeface="Nunito" pitchFamily="34" charset="-122"/>
                <a:cs typeface="Nunito" pitchFamily="34" charset="-120"/>
              </a:rPr>
              <a:t>Methodology</a:t>
            </a:r>
            <a:endParaRPr lang="en-US" sz="2000" dirty="0"/>
          </a:p>
        </p:txBody>
      </p:sp>
      <p:sp>
        <p:nvSpPr>
          <p:cNvPr id="4" name="Shape 2"/>
          <p:cNvSpPr/>
          <p:nvPr/>
        </p:nvSpPr>
        <p:spPr>
          <a:xfrm>
            <a:off x="347472" y="512064"/>
            <a:ext cx="1280160" cy="36576"/>
          </a:xfrm>
          <a:prstGeom prst="rect">
            <a:avLst/>
          </a:prstGeom>
          <a:solidFill>
            <a:srgbClr val="00E5FF"/>
          </a:solidFill>
          <a:ln w="12700">
            <a:solidFill>
              <a:srgbClr val="00E5FF"/>
            </a:solidFill>
            <a:prstDash val="solid"/>
          </a:ln>
        </p:spPr>
      </p:sp>
      <p:sp>
        <p:nvSpPr>
          <p:cNvPr id="5" name="Shape 3"/>
          <p:cNvSpPr/>
          <p:nvPr/>
        </p:nvSpPr>
        <p:spPr>
          <a:xfrm>
            <a:off x="347472" y="658368"/>
            <a:ext cx="1591056" cy="2331720"/>
          </a:xfrm>
          <a:prstGeom prst="rect">
            <a:avLst/>
          </a:prstGeom>
          <a:solidFill>
            <a:srgbClr val="1E2B8F"/>
          </a:solidFill>
          <a:ln w="12700">
            <a:solidFill>
              <a:srgbClr val="1E2B8F"/>
            </a:solidFill>
            <a:prstDash val="solid"/>
          </a:ln>
        </p:spPr>
      </p:sp>
      <p:sp>
        <p:nvSpPr>
          <p:cNvPr id="6" name="Shape 4"/>
          <p:cNvSpPr/>
          <p:nvPr/>
        </p:nvSpPr>
        <p:spPr>
          <a:xfrm>
            <a:off x="347472" y="658368"/>
            <a:ext cx="1591056" cy="64008"/>
          </a:xfrm>
          <a:prstGeom prst="rect">
            <a:avLst/>
          </a:prstGeom>
          <a:solidFill>
            <a:srgbClr val="00BCD4"/>
          </a:solidFill>
          <a:ln w="12700">
            <a:solidFill>
              <a:srgbClr val="00BCD4"/>
            </a:solidFill>
            <a:prstDash val="solid"/>
          </a:ln>
        </p:spPr>
      </p:sp>
      <p:sp>
        <p:nvSpPr>
          <p:cNvPr id="7" name="Text 5"/>
          <p:cNvSpPr/>
          <p:nvPr/>
        </p:nvSpPr>
        <p:spPr>
          <a:xfrm>
            <a:off x="457200" y="768096"/>
            <a:ext cx="457200" cy="411480"/>
          </a:xfrm>
          <a:prstGeom prst="rect">
            <a:avLst/>
          </a:prstGeom>
          <a:noFill/>
          <a:ln/>
        </p:spPr>
        <p:txBody>
          <a:bodyPr wrap="square" lIns="0" tIns="0" rIns="0" bIns="0" rtlCol="0" anchor="ctr"/>
          <a:lstStyle/>
          <a:p>
            <a:pPr marL="0" indent="0">
              <a:buNone/>
            </a:pPr>
            <a:r>
              <a:rPr lang="en-US" sz="2000" b="1" dirty="0">
                <a:solidFill>
                  <a:srgbClr val="00BCD4"/>
                </a:solidFill>
                <a:latin typeface="Nunito" pitchFamily="34" charset="0"/>
                <a:ea typeface="Nunito" pitchFamily="34" charset="-122"/>
                <a:cs typeface="Nunito" pitchFamily="34" charset="-120"/>
              </a:rPr>
              <a:t>01</a:t>
            </a:r>
            <a:endParaRPr lang="en-US" sz="2000" dirty="0"/>
          </a:p>
        </p:txBody>
      </p:sp>
      <p:sp>
        <p:nvSpPr>
          <p:cNvPr id="8" name="Text 6"/>
          <p:cNvSpPr/>
          <p:nvPr/>
        </p:nvSpPr>
        <p:spPr>
          <a:xfrm>
            <a:off x="457200" y="1188720"/>
            <a:ext cx="1408176" cy="640080"/>
          </a:xfrm>
          <a:prstGeom prst="rect">
            <a:avLst/>
          </a:prstGeom>
          <a:noFill/>
          <a:ln/>
        </p:spPr>
        <p:txBody>
          <a:bodyPr wrap="square" lIns="0" tIns="0" rIns="0" bIns="0" rtlCol="0" anchor="ctr"/>
          <a:lstStyle/>
          <a:p>
            <a:pPr marL="0" indent="0">
              <a:buNone/>
            </a:pPr>
            <a:r>
              <a:rPr lang="en-US" sz="1300" b="1" dirty="0">
                <a:solidFill>
                  <a:srgbClr val="FFFFFF"/>
                </a:solidFill>
                <a:latin typeface="Nunito" pitchFamily="34" charset="0"/>
                <a:ea typeface="Nunito" pitchFamily="34" charset="-122"/>
                <a:cs typeface="Nunito" pitchFamily="34" charset="-120"/>
              </a:rPr>
              <a:t>EEG Signals will be taken as input</a:t>
            </a:r>
            <a:endParaRPr lang="en-US" sz="1300" dirty="0"/>
          </a:p>
        </p:txBody>
      </p:sp>
      <p:sp>
        <p:nvSpPr>
          <p:cNvPr id="9" name="Text 7"/>
          <p:cNvSpPr/>
          <p:nvPr/>
        </p:nvSpPr>
        <p:spPr>
          <a:xfrm>
            <a:off x="457200" y="1874520"/>
            <a:ext cx="1408176" cy="1005840"/>
          </a:xfrm>
          <a:prstGeom prst="rect">
            <a:avLst/>
          </a:prstGeom>
          <a:noFill/>
          <a:ln/>
        </p:spPr>
        <p:txBody>
          <a:bodyPr wrap="square" lIns="0" tIns="0" rIns="0" bIns="0" rtlCol="0" anchor="ctr"/>
          <a:lstStyle/>
          <a:p>
            <a:pPr marL="0" indent="0">
              <a:buNone/>
            </a:pPr>
            <a:r>
              <a:rPr lang="en-US" sz="1000" dirty="0">
                <a:solidFill>
                  <a:srgbClr val="B0BEC5"/>
                </a:solidFill>
                <a:latin typeface="Calibri" pitchFamily="34" charset="0"/>
                <a:ea typeface="Calibri" pitchFamily="34" charset="-122"/>
                <a:cs typeface="Calibri" pitchFamily="34" charset="-120"/>
              </a:rPr>
              <a:t>Wearable EEG headset captures real-time brain signals.</a:t>
            </a:r>
            <a:endParaRPr lang="en-US" sz="1000" dirty="0"/>
          </a:p>
        </p:txBody>
      </p:sp>
      <p:sp>
        <p:nvSpPr>
          <p:cNvPr id="10" name="Text 8"/>
          <p:cNvSpPr/>
          <p:nvPr/>
        </p:nvSpPr>
        <p:spPr>
          <a:xfrm>
            <a:off x="1947672" y="1417320"/>
            <a:ext cx="91440" cy="365760"/>
          </a:xfrm>
          <a:prstGeom prst="rect">
            <a:avLst/>
          </a:prstGeom>
          <a:noFill/>
          <a:ln/>
        </p:spPr>
        <p:txBody>
          <a:bodyPr wrap="square" lIns="0" tIns="0" rIns="0" bIns="0" rtlCol="0" anchor="ctr"/>
          <a:lstStyle/>
          <a:p>
            <a:pPr marL="0" indent="0">
              <a:buNone/>
            </a:pPr>
            <a:r>
              <a:rPr lang="en-US" sz="1800" b="1" dirty="0">
                <a:solidFill>
                  <a:srgbClr val="00E5FF"/>
                </a:solidFill>
                <a:latin typeface="Nunito" pitchFamily="34" charset="0"/>
                <a:ea typeface="Nunito" pitchFamily="34" charset="-122"/>
                <a:cs typeface="Nunito" pitchFamily="34" charset="-120"/>
              </a:rPr>
              <a:t>›</a:t>
            </a:r>
            <a:endParaRPr lang="en-US" sz="1800" dirty="0"/>
          </a:p>
        </p:txBody>
      </p:sp>
      <p:sp>
        <p:nvSpPr>
          <p:cNvPr id="11" name="Shape 9"/>
          <p:cNvSpPr/>
          <p:nvPr/>
        </p:nvSpPr>
        <p:spPr>
          <a:xfrm>
            <a:off x="2029968" y="658368"/>
            <a:ext cx="1591056" cy="2331720"/>
          </a:xfrm>
          <a:prstGeom prst="rect">
            <a:avLst/>
          </a:prstGeom>
          <a:solidFill>
            <a:srgbClr val="1E2B8F"/>
          </a:solidFill>
          <a:ln w="12700">
            <a:solidFill>
              <a:srgbClr val="1E2B8F"/>
            </a:solidFill>
            <a:prstDash val="solid"/>
          </a:ln>
        </p:spPr>
      </p:sp>
      <p:sp>
        <p:nvSpPr>
          <p:cNvPr id="12" name="Shape 10"/>
          <p:cNvSpPr/>
          <p:nvPr/>
        </p:nvSpPr>
        <p:spPr>
          <a:xfrm>
            <a:off x="2029968" y="658368"/>
            <a:ext cx="1591056" cy="64008"/>
          </a:xfrm>
          <a:prstGeom prst="rect">
            <a:avLst/>
          </a:prstGeom>
          <a:solidFill>
            <a:srgbClr val="00E5FF"/>
          </a:solidFill>
          <a:ln w="12700">
            <a:solidFill>
              <a:srgbClr val="00E5FF"/>
            </a:solidFill>
            <a:prstDash val="solid"/>
          </a:ln>
        </p:spPr>
      </p:sp>
      <p:sp>
        <p:nvSpPr>
          <p:cNvPr id="13" name="Text 11"/>
          <p:cNvSpPr/>
          <p:nvPr/>
        </p:nvSpPr>
        <p:spPr>
          <a:xfrm>
            <a:off x="2139696" y="768096"/>
            <a:ext cx="457200" cy="411480"/>
          </a:xfrm>
          <a:prstGeom prst="rect">
            <a:avLst/>
          </a:prstGeom>
          <a:noFill/>
          <a:ln/>
        </p:spPr>
        <p:txBody>
          <a:bodyPr wrap="square" lIns="0" tIns="0" rIns="0" bIns="0" rtlCol="0" anchor="ctr"/>
          <a:lstStyle/>
          <a:p>
            <a:pPr marL="0" indent="0">
              <a:buNone/>
            </a:pPr>
            <a:r>
              <a:rPr lang="en-US" sz="2000" b="1" dirty="0">
                <a:solidFill>
                  <a:srgbClr val="00E5FF"/>
                </a:solidFill>
                <a:latin typeface="Nunito" pitchFamily="34" charset="0"/>
                <a:ea typeface="Nunito" pitchFamily="34" charset="-122"/>
                <a:cs typeface="Nunito" pitchFamily="34" charset="-120"/>
              </a:rPr>
              <a:t>02</a:t>
            </a:r>
            <a:endParaRPr lang="en-US" sz="2000" dirty="0"/>
          </a:p>
        </p:txBody>
      </p:sp>
      <p:sp>
        <p:nvSpPr>
          <p:cNvPr id="14" name="Text 12"/>
          <p:cNvSpPr/>
          <p:nvPr/>
        </p:nvSpPr>
        <p:spPr>
          <a:xfrm>
            <a:off x="2139696" y="1188720"/>
            <a:ext cx="1408176" cy="640080"/>
          </a:xfrm>
          <a:prstGeom prst="rect">
            <a:avLst/>
          </a:prstGeom>
          <a:noFill/>
          <a:ln/>
        </p:spPr>
        <p:txBody>
          <a:bodyPr wrap="square" lIns="0" tIns="0" rIns="0" bIns="0" rtlCol="0" anchor="ctr"/>
          <a:lstStyle/>
          <a:p>
            <a:pPr marL="0" indent="0">
              <a:buNone/>
            </a:pPr>
            <a:r>
              <a:rPr lang="en-US" sz="1300" b="1" dirty="0">
                <a:solidFill>
                  <a:srgbClr val="FFFFFF"/>
                </a:solidFill>
                <a:latin typeface="Nunito" pitchFamily="34" charset="0"/>
                <a:ea typeface="Nunito" pitchFamily="34" charset="-122"/>
                <a:cs typeface="Nunito" pitchFamily="34" charset="-120"/>
              </a:rPr>
              <a:t>Signal</a:t>
            </a:r>
            <a:endParaRPr lang="en-US" sz="1300" dirty="0"/>
          </a:p>
          <a:p>
            <a:pPr marL="0" indent="0">
              <a:buNone/>
            </a:pPr>
            <a:r>
              <a:rPr lang="en-US" sz="1300" b="1" dirty="0">
                <a:solidFill>
                  <a:srgbClr val="FFFFFF"/>
                </a:solidFill>
                <a:latin typeface="Nunito" pitchFamily="34" charset="0"/>
                <a:ea typeface="Nunito" pitchFamily="34" charset="-122"/>
                <a:cs typeface="Nunito" pitchFamily="34" charset="-120"/>
              </a:rPr>
              <a:t>Preprocessing</a:t>
            </a:r>
            <a:endParaRPr lang="en-US" sz="1300" dirty="0"/>
          </a:p>
        </p:txBody>
      </p:sp>
      <p:sp>
        <p:nvSpPr>
          <p:cNvPr id="15" name="Text 13"/>
          <p:cNvSpPr/>
          <p:nvPr/>
        </p:nvSpPr>
        <p:spPr>
          <a:xfrm>
            <a:off x="2139696" y="1874520"/>
            <a:ext cx="1408176" cy="1005840"/>
          </a:xfrm>
          <a:prstGeom prst="rect">
            <a:avLst/>
          </a:prstGeom>
          <a:noFill/>
          <a:ln/>
        </p:spPr>
        <p:txBody>
          <a:bodyPr wrap="square" lIns="0" tIns="0" rIns="0" bIns="0" rtlCol="0" anchor="ctr"/>
          <a:lstStyle/>
          <a:p>
            <a:pPr marL="0" indent="0">
              <a:buNone/>
            </a:pPr>
            <a:r>
              <a:rPr lang="en-US" sz="1000" dirty="0">
                <a:solidFill>
                  <a:srgbClr val="B0BEC5"/>
                </a:solidFill>
                <a:latin typeface="Calibri" pitchFamily="34" charset="0"/>
                <a:ea typeface="Calibri" pitchFamily="34" charset="-122"/>
                <a:cs typeface="Calibri" pitchFamily="34" charset="-120"/>
              </a:rPr>
              <a:t>Noise filtering and feature extraction on EEG signals.</a:t>
            </a:r>
            <a:endParaRPr lang="en-US" sz="1000" dirty="0"/>
          </a:p>
        </p:txBody>
      </p:sp>
      <p:sp>
        <p:nvSpPr>
          <p:cNvPr id="16" name="Text 14"/>
          <p:cNvSpPr/>
          <p:nvPr/>
        </p:nvSpPr>
        <p:spPr>
          <a:xfrm>
            <a:off x="3630168" y="1417320"/>
            <a:ext cx="91440" cy="365760"/>
          </a:xfrm>
          <a:prstGeom prst="rect">
            <a:avLst/>
          </a:prstGeom>
          <a:noFill/>
          <a:ln/>
        </p:spPr>
        <p:txBody>
          <a:bodyPr wrap="square" lIns="0" tIns="0" rIns="0" bIns="0" rtlCol="0" anchor="ctr"/>
          <a:lstStyle/>
          <a:p>
            <a:pPr marL="0" indent="0">
              <a:buNone/>
            </a:pPr>
            <a:r>
              <a:rPr lang="en-US" sz="1800" b="1" dirty="0">
                <a:solidFill>
                  <a:srgbClr val="00E5FF"/>
                </a:solidFill>
                <a:latin typeface="Nunito" pitchFamily="34" charset="0"/>
                <a:ea typeface="Nunito" pitchFamily="34" charset="-122"/>
                <a:cs typeface="Nunito" pitchFamily="34" charset="-120"/>
              </a:rPr>
              <a:t>›</a:t>
            </a:r>
            <a:endParaRPr lang="en-US" sz="1800" dirty="0"/>
          </a:p>
        </p:txBody>
      </p:sp>
      <p:sp>
        <p:nvSpPr>
          <p:cNvPr id="17" name="Shape 15"/>
          <p:cNvSpPr/>
          <p:nvPr/>
        </p:nvSpPr>
        <p:spPr>
          <a:xfrm>
            <a:off x="3712464" y="658368"/>
            <a:ext cx="1591056" cy="2331720"/>
          </a:xfrm>
          <a:prstGeom prst="rect">
            <a:avLst/>
          </a:prstGeom>
          <a:solidFill>
            <a:srgbClr val="1E2B8F"/>
          </a:solidFill>
          <a:ln w="12700">
            <a:solidFill>
              <a:srgbClr val="1E2B8F"/>
            </a:solidFill>
            <a:prstDash val="solid"/>
          </a:ln>
        </p:spPr>
      </p:sp>
      <p:sp>
        <p:nvSpPr>
          <p:cNvPr id="18" name="Shape 16"/>
          <p:cNvSpPr/>
          <p:nvPr/>
        </p:nvSpPr>
        <p:spPr>
          <a:xfrm>
            <a:off x="3712464" y="658368"/>
            <a:ext cx="1591056" cy="64008"/>
          </a:xfrm>
          <a:prstGeom prst="rect">
            <a:avLst/>
          </a:prstGeom>
          <a:solidFill>
            <a:srgbClr val="FF7043"/>
          </a:solidFill>
          <a:ln w="12700">
            <a:solidFill>
              <a:srgbClr val="FF7043"/>
            </a:solidFill>
            <a:prstDash val="solid"/>
          </a:ln>
        </p:spPr>
      </p:sp>
      <p:sp>
        <p:nvSpPr>
          <p:cNvPr id="19" name="Text 17"/>
          <p:cNvSpPr/>
          <p:nvPr/>
        </p:nvSpPr>
        <p:spPr>
          <a:xfrm>
            <a:off x="3822192" y="768096"/>
            <a:ext cx="457200" cy="411480"/>
          </a:xfrm>
          <a:prstGeom prst="rect">
            <a:avLst/>
          </a:prstGeom>
          <a:noFill/>
          <a:ln/>
        </p:spPr>
        <p:txBody>
          <a:bodyPr wrap="square" lIns="0" tIns="0" rIns="0" bIns="0" rtlCol="0" anchor="ctr"/>
          <a:lstStyle/>
          <a:p>
            <a:pPr marL="0" indent="0">
              <a:buNone/>
            </a:pPr>
            <a:r>
              <a:rPr lang="en-US" sz="2000" b="1" dirty="0">
                <a:solidFill>
                  <a:srgbClr val="FF7043"/>
                </a:solidFill>
                <a:latin typeface="Nunito" pitchFamily="34" charset="0"/>
                <a:ea typeface="Nunito" pitchFamily="34" charset="-122"/>
                <a:cs typeface="Nunito" pitchFamily="34" charset="-120"/>
              </a:rPr>
              <a:t>03</a:t>
            </a:r>
            <a:endParaRPr lang="en-US" sz="2000" dirty="0"/>
          </a:p>
        </p:txBody>
      </p:sp>
      <p:sp>
        <p:nvSpPr>
          <p:cNvPr id="20" name="Text 18"/>
          <p:cNvSpPr/>
          <p:nvPr/>
        </p:nvSpPr>
        <p:spPr>
          <a:xfrm>
            <a:off x="3822192" y="1188720"/>
            <a:ext cx="1408176" cy="640080"/>
          </a:xfrm>
          <a:prstGeom prst="rect">
            <a:avLst/>
          </a:prstGeom>
          <a:noFill/>
          <a:ln/>
        </p:spPr>
        <p:txBody>
          <a:bodyPr wrap="square" lIns="0" tIns="0" rIns="0" bIns="0" rtlCol="0" anchor="ctr"/>
          <a:lstStyle/>
          <a:p>
            <a:pPr marL="0" indent="0">
              <a:buNone/>
            </a:pPr>
            <a:r>
              <a:rPr lang="en-US" sz="1300" b="1" dirty="0">
                <a:solidFill>
                  <a:srgbClr val="FFFFFF"/>
                </a:solidFill>
                <a:latin typeface="Nunito" pitchFamily="34" charset="0"/>
                <a:ea typeface="Nunito" pitchFamily="34" charset="-122"/>
                <a:cs typeface="Nunito" pitchFamily="34" charset="-120"/>
              </a:rPr>
              <a:t>Decoding Signals</a:t>
            </a:r>
          </a:p>
          <a:p>
            <a:pPr marL="0" indent="0">
              <a:buNone/>
            </a:pPr>
            <a:r>
              <a:rPr lang="en-US" sz="1300" b="1" dirty="0">
                <a:solidFill>
                  <a:srgbClr val="FFFFFF"/>
                </a:solidFill>
                <a:latin typeface="Nunito" pitchFamily="34" charset="0"/>
              </a:rPr>
              <a:t>Into number</a:t>
            </a:r>
            <a:endParaRPr lang="en-US" sz="1300" dirty="0"/>
          </a:p>
        </p:txBody>
      </p:sp>
      <p:sp>
        <p:nvSpPr>
          <p:cNvPr id="21" name="Text 19"/>
          <p:cNvSpPr/>
          <p:nvPr/>
        </p:nvSpPr>
        <p:spPr>
          <a:xfrm>
            <a:off x="3822192" y="1874520"/>
            <a:ext cx="1408176" cy="1005840"/>
          </a:xfrm>
          <a:prstGeom prst="rect">
            <a:avLst/>
          </a:prstGeom>
          <a:noFill/>
          <a:ln/>
        </p:spPr>
        <p:txBody>
          <a:bodyPr wrap="square" lIns="0" tIns="0" rIns="0" bIns="0" rtlCol="0" anchor="ctr"/>
          <a:lstStyle/>
          <a:p>
            <a:pPr marL="0" indent="0">
              <a:buNone/>
            </a:pPr>
            <a:r>
              <a:rPr lang="en-US" sz="1000" dirty="0">
                <a:solidFill>
                  <a:srgbClr val="B0BEC5"/>
                </a:solidFill>
                <a:latin typeface="Calibri" pitchFamily="34" charset="0"/>
                <a:ea typeface="Calibri" pitchFamily="34" charset="-122"/>
                <a:cs typeface="Calibri" pitchFamily="34" charset="-120"/>
              </a:rPr>
              <a:t>It will decode the signal into numeric value and that will be processed.</a:t>
            </a:r>
            <a:endParaRPr lang="en-US" sz="1000" dirty="0"/>
          </a:p>
        </p:txBody>
      </p:sp>
      <p:sp>
        <p:nvSpPr>
          <p:cNvPr id="22" name="Text 20"/>
          <p:cNvSpPr/>
          <p:nvPr/>
        </p:nvSpPr>
        <p:spPr>
          <a:xfrm>
            <a:off x="5312664" y="1417320"/>
            <a:ext cx="91440" cy="365760"/>
          </a:xfrm>
          <a:prstGeom prst="rect">
            <a:avLst/>
          </a:prstGeom>
          <a:noFill/>
          <a:ln/>
        </p:spPr>
        <p:txBody>
          <a:bodyPr wrap="square" lIns="0" tIns="0" rIns="0" bIns="0" rtlCol="0" anchor="ctr"/>
          <a:lstStyle/>
          <a:p>
            <a:pPr marL="0" indent="0">
              <a:buNone/>
            </a:pPr>
            <a:r>
              <a:rPr lang="en-US" sz="1800" b="1" dirty="0">
                <a:solidFill>
                  <a:srgbClr val="00E5FF"/>
                </a:solidFill>
                <a:latin typeface="Nunito" pitchFamily="34" charset="0"/>
                <a:ea typeface="Nunito" pitchFamily="34" charset="-122"/>
                <a:cs typeface="Nunito" pitchFamily="34" charset="-120"/>
              </a:rPr>
              <a:t>›</a:t>
            </a:r>
            <a:endParaRPr lang="en-US" sz="1800" dirty="0"/>
          </a:p>
        </p:txBody>
      </p:sp>
      <p:sp>
        <p:nvSpPr>
          <p:cNvPr id="23" name="Shape 21"/>
          <p:cNvSpPr/>
          <p:nvPr/>
        </p:nvSpPr>
        <p:spPr>
          <a:xfrm>
            <a:off x="5394960" y="658368"/>
            <a:ext cx="1591056" cy="2331720"/>
          </a:xfrm>
          <a:prstGeom prst="rect">
            <a:avLst/>
          </a:prstGeom>
          <a:solidFill>
            <a:srgbClr val="1E2B8F"/>
          </a:solidFill>
          <a:ln w="12700">
            <a:solidFill>
              <a:srgbClr val="1E2B8F"/>
            </a:solidFill>
            <a:prstDash val="solid"/>
          </a:ln>
        </p:spPr>
      </p:sp>
      <p:sp>
        <p:nvSpPr>
          <p:cNvPr id="24" name="Shape 22"/>
          <p:cNvSpPr/>
          <p:nvPr/>
        </p:nvSpPr>
        <p:spPr>
          <a:xfrm>
            <a:off x="5394960" y="658368"/>
            <a:ext cx="1591056" cy="64008"/>
          </a:xfrm>
          <a:prstGeom prst="rect">
            <a:avLst/>
          </a:prstGeom>
          <a:solidFill>
            <a:srgbClr val="FFB300"/>
          </a:solidFill>
          <a:ln w="12700">
            <a:solidFill>
              <a:srgbClr val="FFB300"/>
            </a:solidFill>
            <a:prstDash val="solid"/>
          </a:ln>
        </p:spPr>
      </p:sp>
      <p:sp>
        <p:nvSpPr>
          <p:cNvPr id="25" name="Text 23"/>
          <p:cNvSpPr/>
          <p:nvPr/>
        </p:nvSpPr>
        <p:spPr>
          <a:xfrm>
            <a:off x="5504688" y="768096"/>
            <a:ext cx="457200" cy="411480"/>
          </a:xfrm>
          <a:prstGeom prst="rect">
            <a:avLst/>
          </a:prstGeom>
          <a:noFill/>
          <a:ln/>
        </p:spPr>
        <p:txBody>
          <a:bodyPr wrap="square" lIns="0" tIns="0" rIns="0" bIns="0" rtlCol="0" anchor="ctr"/>
          <a:lstStyle/>
          <a:p>
            <a:pPr marL="0" indent="0">
              <a:buNone/>
            </a:pPr>
            <a:r>
              <a:rPr lang="en-US" sz="2000" b="1" dirty="0">
                <a:solidFill>
                  <a:srgbClr val="FFB300"/>
                </a:solidFill>
                <a:latin typeface="Nunito" pitchFamily="34" charset="0"/>
                <a:ea typeface="Nunito" pitchFamily="34" charset="-122"/>
                <a:cs typeface="Nunito" pitchFamily="34" charset="-120"/>
              </a:rPr>
              <a:t>04</a:t>
            </a:r>
            <a:endParaRPr lang="en-US" sz="2000" dirty="0"/>
          </a:p>
        </p:txBody>
      </p:sp>
      <p:sp>
        <p:nvSpPr>
          <p:cNvPr id="26" name="Text 24"/>
          <p:cNvSpPr/>
          <p:nvPr/>
        </p:nvSpPr>
        <p:spPr>
          <a:xfrm>
            <a:off x="5504688" y="1188720"/>
            <a:ext cx="1408176" cy="640080"/>
          </a:xfrm>
          <a:prstGeom prst="rect">
            <a:avLst/>
          </a:prstGeom>
          <a:noFill/>
          <a:ln/>
        </p:spPr>
        <p:txBody>
          <a:bodyPr wrap="square" lIns="0" tIns="0" rIns="0" bIns="0" rtlCol="0" anchor="ctr"/>
          <a:lstStyle/>
          <a:p>
            <a:pPr marL="0" indent="0">
              <a:buNone/>
            </a:pPr>
            <a:r>
              <a:rPr lang="en-US" sz="1300" b="1" dirty="0">
                <a:solidFill>
                  <a:srgbClr val="FFFFFF"/>
                </a:solidFill>
                <a:latin typeface="Nunito" pitchFamily="34" charset="0"/>
                <a:ea typeface="Nunito" pitchFamily="34" charset="-122"/>
                <a:cs typeface="Nunito" pitchFamily="34" charset="-120"/>
              </a:rPr>
              <a:t>Fetching through Raspberry Pi</a:t>
            </a:r>
            <a:endParaRPr lang="en-US" sz="1300" dirty="0"/>
          </a:p>
        </p:txBody>
      </p:sp>
      <p:sp>
        <p:nvSpPr>
          <p:cNvPr id="27" name="Text 25"/>
          <p:cNvSpPr/>
          <p:nvPr/>
        </p:nvSpPr>
        <p:spPr>
          <a:xfrm>
            <a:off x="5504688" y="1874520"/>
            <a:ext cx="1408176" cy="1005840"/>
          </a:xfrm>
          <a:prstGeom prst="rect">
            <a:avLst/>
          </a:prstGeom>
          <a:noFill/>
          <a:ln/>
        </p:spPr>
        <p:txBody>
          <a:bodyPr wrap="square" lIns="0" tIns="0" rIns="0" bIns="0" rtlCol="0" anchor="ctr"/>
          <a:lstStyle/>
          <a:p>
            <a:pPr marL="0" indent="0">
              <a:buNone/>
            </a:pPr>
            <a:r>
              <a:rPr lang="en-US" sz="1000" dirty="0">
                <a:solidFill>
                  <a:srgbClr val="B0BEC5"/>
                </a:solidFill>
                <a:latin typeface="Calibri" pitchFamily="34" charset="0"/>
                <a:ea typeface="Calibri" pitchFamily="34" charset="-122"/>
                <a:cs typeface="Calibri" pitchFamily="34" charset="-120"/>
              </a:rPr>
              <a:t>Fetch the value and with internet connectivity it will give command of doing work.</a:t>
            </a:r>
            <a:endParaRPr lang="en-US" sz="1000" dirty="0"/>
          </a:p>
        </p:txBody>
      </p:sp>
      <p:sp>
        <p:nvSpPr>
          <p:cNvPr id="28" name="Text 26"/>
          <p:cNvSpPr/>
          <p:nvPr/>
        </p:nvSpPr>
        <p:spPr>
          <a:xfrm>
            <a:off x="6995160" y="1417320"/>
            <a:ext cx="91440" cy="365760"/>
          </a:xfrm>
          <a:prstGeom prst="rect">
            <a:avLst/>
          </a:prstGeom>
          <a:noFill/>
          <a:ln/>
        </p:spPr>
        <p:txBody>
          <a:bodyPr wrap="square" lIns="0" tIns="0" rIns="0" bIns="0" rtlCol="0" anchor="ctr"/>
          <a:lstStyle/>
          <a:p>
            <a:pPr marL="0" indent="0">
              <a:buNone/>
            </a:pPr>
            <a:r>
              <a:rPr lang="en-US" sz="1800" b="1" dirty="0">
                <a:solidFill>
                  <a:srgbClr val="00E5FF"/>
                </a:solidFill>
                <a:latin typeface="Nunito" pitchFamily="34" charset="0"/>
                <a:ea typeface="Nunito" pitchFamily="34" charset="-122"/>
                <a:cs typeface="Nunito" pitchFamily="34" charset="-120"/>
              </a:rPr>
              <a:t>›</a:t>
            </a:r>
            <a:endParaRPr lang="en-US" sz="1800" dirty="0"/>
          </a:p>
        </p:txBody>
      </p:sp>
      <p:sp>
        <p:nvSpPr>
          <p:cNvPr id="29" name="Shape 27"/>
          <p:cNvSpPr/>
          <p:nvPr/>
        </p:nvSpPr>
        <p:spPr>
          <a:xfrm>
            <a:off x="7077456" y="658368"/>
            <a:ext cx="1591056" cy="2331720"/>
          </a:xfrm>
          <a:prstGeom prst="rect">
            <a:avLst/>
          </a:prstGeom>
          <a:solidFill>
            <a:srgbClr val="1E2B8F"/>
          </a:solidFill>
          <a:ln w="12700">
            <a:solidFill>
              <a:srgbClr val="1E2B8F"/>
            </a:solidFill>
            <a:prstDash val="solid"/>
          </a:ln>
        </p:spPr>
      </p:sp>
      <p:sp>
        <p:nvSpPr>
          <p:cNvPr id="30" name="Shape 28"/>
          <p:cNvSpPr/>
          <p:nvPr/>
        </p:nvSpPr>
        <p:spPr>
          <a:xfrm>
            <a:off x="7077456" y="658368"/>
            <a:ext cx="1591056" cy="64008"/>
          </a:xfrm>
          <a:prstGeom prst="rect">
            <a:avLst/>
          </a:prstGeom>
          <a:solidFill>
            <a:srgbClr val="00BCD4"/>
          </a:solidFill>
          <a:ln w="12700">
            <a:solidFill>
              <a:srgbClr val="00BCD4"/>
            </a:solidFill>
            <a:prstDash val="solid"/>
          </a:ln>
        </p:spPr>
      </p:sp>
      <p:sp>
        <p:nvSpPr>
          <p:cNvPr id="31" name="Text 29"/>
          <p:cNvSpPr/>
          <p:nvPr/>
        </p:nvSpPr>
        <p:spPr>
          <a:xfrm>
            <a:off x="7187184" y="768096"/>
            <a:ext cx="457200" cy="411480"/>
          </a:xfrm>
          <a:prstGeom prst="rect">
            <a:avLst/>
          </a:prstGeom>
          <a:noFill/>
          <a:ln/>
        </p:spPr>
        <p:txBody>
          <a:bodyPr wrap="square" lIns="0" tIns="0" rIns="0" bIns="0" rtlCol="0" anchor="ctr"/>
          <a:lstStyle/>
          <a:p>
            <a:pPr marL="0" indent="0">
              <a:buNone/>
            </a:pPr>
            <a:r>
              <a:rPr lang="en-US" sz="2000" b="1" dirty="0">
                <a:solidFill>
                  <a:srgbClr val="00BCD4"/>
                </a:solidFill>
                <a:latin typeface="Nunito" pitchFamily="34" charset="0"/>
                <a:ea typeface="Nunito" pitchFamily="34" charset="-122"/>
                <a:cs typeface="Nunito" pitchFamily="34" charset="-120"/>
              </a:rPr>
              <a:t>05</a:t>
            </a:r>
            <a:endParaRPr lang="en-US" sz="2000" dirty="0"/>
          </a:p>
        </p:txBody>
      </p:sp>
      <p:sp>
        <p:nvSpPr>
          <p:cNvPr id="32" name="Text 30"/>
          <p:cNvSpPr/>
          <p:nvPr/>
        </p:nvSpPr>
        <p:spPr>
          <a:xfrm>
            <a:off x="7187184" y="1188720"/>
            <a:ext cx="1408176" cy="640080"/>
          </a:xfrm>
          <a:prstGeom prst="rect">
            <a:avLst/>
          </a:prstGeom>
          <a:noFill/>
          <a:ln/>
        </p:spPr>
        <p:txBody>
          <a:bodyPr wrap="square" lIns="0" tIns="0" rIns="0" bIns="0" rtlCol="0" anchor="ctr"/>
          <a:lstStyle/>
          <a:p>
            <a:pPr marL="0" indent="0">
              <a:buNone/>
            </a:pPr>
            <a:r>
              <a:rPr lang="en-US" sz="1300" b="1" dirty="0">
                <a:solidFill>
                  <a:srgbClr val="FFFFFF"/>
                </a:solidFill>
                <a:latin typeface="Nunito" pitchFamily="34" charset="0"/>
                <a:ea typeface="Nunito" pitchFamily="34" charset="-122"/>
                <a:cs typeface="Nunito" pitchFamily="34" charset="-120"/>
              </a:rPr>
              <a:t>IoT Appliance</a:t>
            </a:r>
            <a:endParaRPr lang="en-US" sz="1300" dirty="0"/>
          </a:p>
          <a:p>
            <a:pPr marL="0" indent="0">
              <a:buNone/>
            </a:pPr>
            <a:r>
              <a:rPr lang="en-US" sz="1300" b="1" dirty="0">
                <a:solidFill>
                  <a:srgbClr val="FFFFFF"/>
                </a:solidFill>
                <a:latin typeface="Nunito" pitchFamily="34" charset="0"/>
                <a:ea typeface="Nunito" pitchFamily="34" charset="-122"/>
                <a:cs typeface="Nunito" pitchFamily="34" charset="-120"/>
              </a:rPr>
              <a:t>Control</a:t>
            </a:r>
            <a:endParaRPr lang="en-US" sz="1300" dirty="0"/>
          </a:p>
        </p:txBody>
      </p:sp>
      <p:sp>
        <p:nvSpPr>
          <p:cNvPr id="33" name="Text 31"/>
          <p:cNvSpPr/>
          <p:nvPr/>
        </p:nvSpPr>
        <p:spPr>
          <a:xfrm>
            <a:off x="7187184" y="1874520"/>
            <a:ext cx="1408176" cy="1005840"/>
          </a:xfrm>
          <a:prstGeom prst="rect">
            <a:avLst/>
          </a:prstGeom>
          <a:noFill/>
          <a:ln/>
        </p:spPr>
        <p:txBody>
          <a:bodyPr wrap="square" lIns="0" tIns="0" rIns="0" bIns="0" rtlCol="0" anchor="ctr"/>
          <a:lstStyle/>
          <a:p>
            <a:pPr marL="0" indent="0">
              <a:buNone/>
            </a:pPr>
            <a:r>
              <a:rPr lang="en-US" sz="1000" dirty="0">
                <a:solidFill>
                  <a:srgbClr val="B0BEC5"/>
                </a:solidFill>
                <a:latin typeface="Calibri" pitchFamily="34" charset="0"/>
                <a:ea typeface="Calibri" pitchFamily="34" charset="-122"/>
                <a:cs typeface="Calibri" pitchFamily="34" charset="-120"/>
              </a:rPr>
              <a:t>Commands sent to IoT smart appliances in real time and .</a:t>
            </a:r>
            <a:endParaRPr lang="en-US" sz="1000" dirty="0"/>
          </a:p>
        </p:txBody>
      </p:sp>
      <p:sp>
        <p:nvSpPr>
          <p:cNvPr id="34" name="Shape 32"/>
          <p:cNvSpPr/>
          <p:nvPr/>
        </p:nvSpPr>
        <p:spPr>
          <a:xfrm>
            <a:off x="347472" y="3127248"/>
            <a:ext cx="8449056" cy="1078992"/>
          </a:xfrm>
          <a:prstGeom prst="rect">
            <a:avLst/>
          </a:prstGeom>
          <a:solidFill>
            <a:srgbClr val="0A1145"/>
          </a:solidFill>
          <a:ln w="12700">
            <a:solidFill>
              <a:srgbClr val="0A1145"/>
            </a:solidFill>
            <a:prstDash val="solid"/>
          </a:ln>
        </p:spPr>
      </p:sp>
      <p:sp>
        <p:nvSpPr>
          <p:cNvPr id="35" name="Shape 33"/>
          <p:cNvSpPr/>
          <p:nvPr/>
        </p:nvSpPr>
        <p:spPr>
          <a:xfrm>
            <a:off x="347472" y="3127248"/>
            <a:ext cx="64008" cy="1078992"/>
          </a:xfrm>
          <a:prstGeom prst="rect">
            <a:avLst/>
          </a:prstGeom>
          <a:solidFill>
            <a:srgbClr val="00E5FF"/>
          </a:solidFill>
          <a:ln w="12700">
            <a:solidFill>
              <a:srgbClr val="00E5FF"/>
            </a:solidFill>
            <a:prstDash val="solid"/>
          </a:ln>
        </p:spPr>
      </p:sp>
      <p:sp>
        <p:nvSpPr>
          <p:cNvPr id="36" name="Text 34"/>
          <p:cNvSpPr/>
          <p:nvPr/>
        </p:nvSpPr>
        <p:spPr>
          <a:xfrm>
            <a:off x="530352" y="3200400"/>
            <a:ext cx="8138160" cy="932688"/>
          </a:xfrm>
          <a:prstGeom prst="rect">
            <a:avLst/>
          </a:prstGeom>
          <a:noFill/>
          <a:ln/>
        </p:spPr>
        <p:txBody>
          <a:bodyPr wrap="square" lIns="0" tIns="0" rIns="0" bIns="0" rtlCol="0" anchor="ctr"/>
          <a:lstStyle/>
          <a:p>
            <a:pPr marL="0" indent="0">
              <a:buNone/>
            </a:pPr>
            <a:r>
              <a:rPr lang="en-US" sz="1100" dirty="0">
                <a:solidFill>
                  <a:srgbClr val="B0BEC5"/>
                </a:solidFill>
                <a:latin typeface="Calibri" pitchFamily="34" charset="0"/>
                <a:ea typeface="Calibri" pitchFamily="34" charset="-122"/>
                <a:cs typeface="Calibri" pitchFamily="34" charset="-120"/>
              </a:rPr>
              <a:t>The system begins with EEG-based brain signal acquisition using a wearable headset. Signals are preprocessed through noise filtering and feature extraction, then analyzed by an AI model to classify user intentions. The classified output is processed by an ESP32 microcontroller and transmitted via IoT protocols to control smart appliances — enabling real-time conversion of brain signals into actionable home automation commands.</a:t>
            </a:r>
            <a:endParaRPr lang="en-US" sz="1100" dirty="0"/>
          </a:p>
        </p:txBody>
      </p:sp>
      <p:sp>
        <p:nvSpPr>
          <p:cNvPr id="37" name="Shape 35"/>
          <p:cNvSpPr/>
          <p:nvPr/>
        </p:nvSpPr>
        <p:spPr>
          <a:xfrm>
            <a:off x="0" y="4818888"/>
            <a:ext cx="9144000" cy="324612"/>
          </a:xfrm>
          <a:prstGeom prst="rect">
            <a:avLst/>
          </a:prstGeom>
          <a:solidFill>
            <a:srgbClr val="060C38"/>
          </a:solidFill>
          <a:ln w="12700">
            <a:solidFill>
              <a:srgbClr val="060C38"/>
            </a:solidFill>
            <a:prstDash val="solid"/>
          </a:ln>
        </p:spPr>
      </p:sp>
      <p:sp>
        <p:nvSpPr>
          <p:cNvPr id="38" name="Shape 36"/>
          <p:cNvSpPr/>
          <p:nvPr/>
        </p:nvSpPr>
        <p:spPr>
          <a:xfrm>
            <a:off x="0" y="4818888"/>
            <a:ext cx="118872" cy="324612"/>
          </a:xfrm>
          <a:prstGeom prst="rect">
            <a:avLst/>
          </a:prstGeom>
          <a:solidFill>
            <a:srgbClr val="00E5FF"/>
          </a:solidFill>
          <a:ln w="12700">
            <a:solidFill>
              <a:srgbClr val="00E5FF"/>
            </a:solidFill>
            <a:prstDash val="solid"/>
          </a:ln>
        </p:spPr>
      </p:sp>
      <p:sp>
        <p:nvSpPr>
          <p:cNvPr id="39" name="Text 37"/>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40" name="Text 38"/>
          <p:cNvSpPr/>
          <p:nvPr/>
        </p:nvSpPr>
        <p:spPr>
          <a:xfrm>
            <a:off x="3931920" y="4841748"/>
            <a:ext cx="1828800" cy="274320"/>
          </a:xfrm>
          <a:prstGeom prst="rect">
            <a:avLst/>
          </a:prstGeom>
          <a:noFill/>
          <a:ln/>
        </p:spPr>
        <p:txBody>
          <a:bodyPr wrap="square" lIns="0" tIns="0" rIns="0" bIns="0" rtlCol="0" anchor="ctr"/>
          <a:lstStyle/>
          <a:p>
            <a:pPr algn="ctr"/>
            <a:r>
              <a:rPr lang="en-US" sz="850" dirty="0">
                <a:solidFill>
                  <a:srgbClr val="7986CB"/>
                </a:solidFill>
                <a:latin typeface="Calibri" pitchFamily="34" charset="0"/>
                <a:ea typeface="Calibri" pitchFamily="34" charset="-122"/>
                <a:cs typeface="Calibri" pitchFamily="34" charset="-120"/>
              </a:rPr>
              <a:t>Priyankaba Jadej</a:t>
            </a:r>
            <a:endParaRPr lang="en-US" sz="850" dirty="0"/>
          </a:p>
        </p:txBody>
      </p:sp>
      <p:sp>
        <p:nvSpPr>
          <p:cNvPr id="41" name="Text 39"/>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08 / 17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554"/>
        </a:solidFill>
        <a:effectLst/>
      </p:bgPr>
    </p:bg>
    <p:spTree>
      <p:nvGrpSpPr>
        <p:cNvPr id="1" name=""/>
        <p:cNvGrpSpPr/>
        <p:nvPr/>
      </p:nvGrpSpPr>
      <p:grpSpPr>
        <a:xfrm>
          <a:off x="0" y="0"/>
          <a:ext cx="0" cy="0"/>
          <a:chOff x="0" y="0"/>
          <a:chExt cx="0" cy="0"/>
        </a:xfrm>
      </p:grpSpPr>
      <p:sp>
        <p:nvSpPr>
          <p:cNvPr id="2" name="Text 0"/>
          <p:cNvSpPr/>
          <p:nvPr/>
        </p:nvSpPr>
        <p:spPr>
          <a:xfrm>
            <a:off x="347472" y="128016"/>
            <a:ext cx="457200" cy="274320"/>
          </a:xfrm>
          <a:prstGeom prst="rect">
            <a:avLst/>
          </a:prstGeom>
          <a:noFill/>
          <a:ln/>
        </p:spPr>
        <p:txBody>
          <a:bodyPr wrap="square" lIns="0" tIns="0" rIns="0" bIns="0" rtlCol="0" anchor="ctr"/>
          <a:lstStyle/>
          <a:p>
            <a:pPr marL="0" indent="0">
              <a:buNone/>
            </a:pPr>
            <a:r>
              <a:rPr lang="en-US" sz="1000" b="1" dirty="0">
                <a:solidFill>
                  <a:srgbClr val="00E5FF"/>
                </a:solidFill>
                <a:latin typeface="Nunito" pitchFamily="34" charset="0"/>
                <a:ea typeface="Nunito" pitchFamily="34" charset="-122"/>
                <a:cs typeface="Nunito" pitchFamily="34" charset="-120"/>
              </a:rPr>
              <a:t>09</a:t>
            </a:r>
            <a:endParaRPr lang="en-US" sz="1000" dirty="0"/>
          </a:p>
        </p:txBody>
      </p:sp>
      <p:sp>
        <p:nvSpPr>
          <p:cNvPr id="3" name="Text 1"/>
          <p:cNvSpPr/>
          <p:nvPr/>
        </p:nvSpPr>
        <p:spPr>
          <a:xfrm>
            <a:off x="538737" y="128016"/>
            <a:ext cx="8412480" cy="347472"/>
          </a:xfrm>
          <a:prstGeom prst="rect">
            <a:avLst/>
          </a:prstGeom>
          <a:noFill/>
          <a:ln/>
        </p:spPr>
        <p:txBody>
          <a:bodyPr wrap="square" lIns="0" tIns="0" rIns="0" bIns="0" rtlCol="0" anchor="ctr"/>
          <a:lstStyle/>
          <a:p>
            <a:pPr marL="0" indent="0">
              <a:buNone/>
            </a:pPr>
            <a:r>
              <a:rPr lang="en-US" sz="2000" b="1" dirty="0">
                <a:solidFill>
                  <a:srgbClr val="FFFFFF"/>
                </a:solidFill>
                <a:latin typeface="Nunito" pitchFamily="34" charset="0"/>
                <a:ea typeface="Nunito" pitchFamily="34" charset="-122"/>
                <a:cs typeface="Nunito" pitchFamily="34" charset="-120"/>
              </a:rPr>
              <a:t>Budget</a:t>
            </a:r>
            <a:endParaRPr lang="en-US" sz="2000" dirty="0"/>
          </a:p>
        </p:txBody>
      </p:sp>
      <p:sp>
        <p:nvSpPr>
          <p:cNvPr id="4" name="Shape 2"/>
          <p:cNvSpPr/>
          <p:nvPr/>
        </p:nvSpPr>
        <p:spPr>
          <a:xfrm>
            <a:off x="347472" y="512064"/>
            <a:ext cx="1280160" cy="36576"/>
          </a:xfrm>
          <a:prstGeom prst="rect">
            <a:avLst/>
          </a:prstGeom>
          <a:solidFill>
            <a:srgbClr val="00E5FF"/>
          </a:solidFill>
          <a:ln w="12700">
            <a:solidFill>
              <a:srgbClr val="00E5FF"/>
            </a:solidFill>
            <a:prstDash val="solid"/>
          </a:ln>
        </p:spPr>
      </p:sp>
      <p:sp>
        <p:nvSpPr>
          <p:cNvPr id="5" name="Shape 3"/>
          <p:cNvSpPr/>
          <p:nvPr/>
        </p:nvSpPr>
        <p:spPr>
          <a:xfrm>
            <a:off x="347472" y="658368"/>
            <a:ext cx="2560320" cy="4041648"/>
          </a:xfrm>
          <a:prstGeom prst="rect">
            <a:avLst/>
          </a:prstGeom>
          <a:solidFill>
            <a:srgbClr val="006064"/>
          </a:solidFill>
          <a:ln w="12700">
            <a:solidFill>
              <a:srgbClr val="006064"/>
            </a:solidFill>
            <a:prstDash val="solid"/>
          </a:ln>
        </p:spPr>
      </p:sp>
      <p:sp>
        <p:nvSpPr>
          <p:cNvPr id="6" name="Shape 4"/>
          <p:cNvSpPr/>
          <p:nvPr/>
        </p:nvSpPr>
        <p:spPr>
          <a:xfrm>
            <a:off x="347472" y="658368"/>
            <a:ext cx="2560320" cy="54864"/>
          </a:xfrm>
          <a:prstGeom prst="rect">
            <a:avLst/>
          </a:prstGeom>
          <a:solidFill>
            <a:srgbClr val="00BCD4"/>
          </a:solidFill>
          <a:ln w="12700">
            <a:solidFill>
              <a:srgbClr val="00BCD4"/>
            </a:solidFill>
            <a:prstDash val="solid"/>
          </a:ln>
        </p:spPr>
      </p:sp>
      <p:sp>
        <p:nvSpPr>
          <p:cNvPr id="7" name="Text 5"/>
          <p:cNvSpPr/>
          <p:nvPr/>
        </p:nvSpPr>
        <p:spPr>
          <a:xfrm>
            <a:off x="502920" y="841248"/>
            <a:ext cx="2240280" cy="685800"/>
          </a:xfrm>
          <a:prstGeom prst="rect">
            <a:avLst/>
          </a:prstGeom>
          <a:noFill/>
          <a:ln/>
        </p:spPr>
        <p:txBody>
          <a:bodyPr wrap="square" lIns="0" tIns="0" rIns="0" bIns="0" rtlCol="0" anchor="ctr"/>
          <a:lstStyle/>
          <a:p>
            <a:pPr marL="0" indent="0" algn="ctr">
              <a:buNone/>
            </a:pPr>
            <a:r>
              <a:rPr lang="en-US" sz="1100" b="1" kern="0" spc="100" dirty="0">
                <a:solidFill>
                  <a:srgbClr val="80DEEA"/>
                </a:solidFill>
                <a:latin typeface="Nunito" pitchFamily="34" charset="0"/>
                <a:ea typeface="Nunito" pitchFamily="34" charset="-122"/>
                <a:cs typeface="Nunito" pitchFamily="34" charset="-120"/>
              </a:rPr>
              <a:t>TOTAL</a:t>
            </a:r>
            <a:endParaRPr lang="en-US" sz="1100" dirty="0"/>
          </a:p>
          <a:p>
            <a:pPr marL="0" indent="0" algn="ctr">
              <a:buNone/>
            </a:pPr>
            <a:r>
              <a:rPr lang="en-US" sz="1100" b="1" kern="0" spc="100" dirty="0">
                <a:solidFill>
                  <a:srgbClr val="80DEEA"/>
                </a:solidFill>
                <a:latin typeface="Nunito" pitchFamily="34" charset="0"/>
                <a:ea typeface="Nunito" pitchFamily="34" charset="-122"/>
                <a:cs typeface="Nunito" pitchFamily="34" charset="-120"/>
              </a:rPr>
              <a:t>BUDGET</a:t>
            </a:r>
            <a:endParaRPr lang="en-US" sz="1100" dirty="0"/>
          </a:p>
        </p:txBody>
      </p:sp>
      <p:sp>
        <p:nvSpPr>
          <p:cNvPr id="8" name="Text 6"/>
          <p:cNvSpPr/>
          <p:nvPr/>
        </p:nvSpPr>
        <p:spPr>
          <a:xfrm>
            <a:off x="411480" y="1536192"/>
            <a:ext cx="2423160" cy="841248"/>
          </a:xfrm>
          <a:prstGeom prst="rect">
            <a:avLst/>
          </a:prstGeom>
          <a:noFill/>
          <a:ln/>
        </p:spPr>
        <p:txBody>
          <a:bodyPr wrap="square" lIns="0" tIns="0" rIns="0" bIns="0" rtlCol="0" anchor="ctr"/>
          <a:lstStyle/>
          <a:p>
            <a:pPr marL="0" indent="0" algn="ctr">
              <a:buNone/>
            </a:pPr>
            <a:r>
              <a:rPr lang="en-US" sz="3400" b="1" dirty="0">
                <a:solidFill>
                  <a:srgbClr val="FFFFFF"/>
                </a:solidFill>
                <a:latin typeface="Nunito" pitchFamily="34" charset="0"/>
                <a:ea typeface="Nunito" pitchFamily="34" charset="-122"/>
                <a:cs typeface="Nunito" pitchFamily="34" charset="-120"/>
              </a:rPr>
              <a:t>₹43,400</a:t>
            </a:r>
            <a:endParaRPr lang="en-US" sz="3400" dirty="0"/>
          </a:p>
        </p:txBody>
      </p:sp>
      <p:sp>
        <p:nvSpPr>
          <p:cNvPr id="9" name="Text 7"/>
          <p:cNvSpPr/>
          <p:nvPr/>
        </p:nvSpPr>
        <p:spPr>
          <a:xfrm>
            <a:off x="502920" y="2487168"/>
            <a:ext cx="2240280" cy="274320"/>
          </a:xfrm>
          <a:prstGeom prst="rect">
            <a:avLst/>
          </a:prstGeom>
          <a:noFill/>
          <a:ln/>
        </p:spPr>
        <p:txBody>
          <a:bodyPr wrap="square" lIns="0" tIns="0" rIns="0" bIns="0" rtlCol="0" anchor="ctr"/>
          <a:lstStyle/>
          <a:p>
            <a:pPr marL="0" indent="0" algn="ctr">
              <a:buNone/>
            </a:pPr>
            <a:r>
              <a:rPr lang="en-US" sz="750" b="1" kern="0" spc="100" dirty="0">
                <a:solidFill>
                  <a:srgbClr val="80DEEA"/>
                </a:solidFill>
                <a:latin typeface="Nunito" pitchFamily="34" charset="0"/>
                <a:ea typeface="Nunito" pitchFamily="34" charset="-122"/>
                <a:cs typeface="Nunito" pitchFamily="34" charset="-120"/>
              </a:rPr>
              <a:t>COST BREAKDOWN (Top 5)</a:t>
            </a:r>
            <a:endParaRPr lang="en-US" sz="750" dirty="0"/>
          </a:p>
        </p:txBody>
      </p:sp>
      <p:sp>
        <p:nvSpPr>
          <p:cNvPr id="10" name="Shape 8"/>
          <p:cNvSpPr/>
          <p:nvPr/>
        </p:nvSpPr>
        <p:spPr>
          <a:xfrm>
            <a:off x="438912" y="2852928"/>
            <a:ext cx="1828800" cy="146304"/>
          </a:xfrm>
          <a:prstGeom prst="rect">
            <a:avLst/>
          </a:prstGeom>
          <a:solidFill>
            <a:srgbClr val="FF7043"/>
          </a:solidFill>
          <a:ln w="12700">
            <a:solidFill>
              <a:srgbClr val="000000"/>
            </a:solidFill>
            <a:prstDash val="solid"/>
          </a:ln>
        </p:spPr>
      </p:sp>
      <p:sp>
        <p:nvSpPr>
          <p:cNvPr id="11" name="Text 9"/>
          <p:cNvSpPr/>
          <p:nvPr/>
        </p:nvSpPr>
        <p:spPr>
          <a:xfrm>
            <a:off x="2313432" y="2834640"/>
            <a:ext cx="914400" cy="182880"/>
          </a:xfrm>
          <a:prstGeom prst="rect">
            <a:avLst/>
          </a:prstGeom>
          <a:noFill/>
          <a:ln/>
        </p:spPr>
        <p:txBody>
          <a:bodyPr wrap="square" lIns="0" tIns="0" rIns="0" bIns="0" rtlCol="0" anchor="ctr"/>
          <a:lstStyle/>
          <a:p>
            <a:pPr marL="0" indent="0">
              <a:buNone/>
            </a:pPr>
            <a:r>
              <a:rPr lang="en-US" sz="750" dirty="0">
                <a:solidFill>
                  <a:srgbClr val="B0BEC5"/>
                </a:solidFill>
                <a:latin typeface="Calibri" pitchFamily="34" charset="0"/>
                <a:ea typeface="Calibri" pitchFamily="34" charset="-122"/>
                <a:cs typeface="Calibri" pitchFamily="34" charset="-120"/>
              </a:rPr>
              <a:t>₹22,900</a:t>
            </a:r>
            <a:endParaRPr lang="en-US" sz="750" dirty="0"/>
          </a:p>
        </p:txBody>
      </p:sp>
      <p:sp>
        <p:nvSpPr>
          <p:cNvPr id="12" name="Shape 10"/>
          <p:cNvSpPr/>
          <p:nvPr/>
        </p:nvSpPr>
        <p:spPr>
          <a:xfrm>
            <a:off x="438912" y="3072384"/>
            <a:ext cx="255553" cy="146304"/>
          </a:xfrm>
          <a:prstGeom prst="rect">
            <a:avLst/>
          </a:prstGeom>
          <a:solidFill>
            <a:srgbClr val="00BCD4"/>
          </a:solidFill>
          <a:ln w="12700">
            <a:solidFill>
              <a:srgbClr val="000000"/>
            </a:solidFill>
            <a:prstDash val="solid"/>
          </a:ln>
        </p:spPr>
      </p:sp>
      <p:sp>
        <p:nvSpPr>
          <p:cNvPr id="13" name="Text 11"/>
          <p:cNvSpPr/>
          <p:nvPr/>
        </p:nvSpPr>
        <p:spPr>
          <a:xfrm>
            <a:off x="740185" y="3054096"/>
            <a:ext cx="914400" cy="182880"/>
          </a:xfrm>
          <a:prstGeom prst="rect">
            <a:avLst/>
          </a:prstGeom>
          <a:noFill/>
          <a:ln/>
        </p:spPr>
        <p:txBody>
          <a:bodyPr wrap="square" lIns="0" tIns="0" rIns="0" bIns="0" rtlCol="0" anchor="ctr"/>
          <a:lstStyle/>
          <a:p>
            <a:pPr marL="0" indent="0">
              <a:buNone/>
            </a:pPr>
            <a:r>
              <a:rPr lang="en-US" sz="750" dirty="0">
                <a:solidFill>
                  <a:srgbClr val="B0BEC5"/>
                </a:solidFill>
                <a:latin typeface="Calibri" pitchFamily="34" charset="0"/>
                <a:ea typeface="Calibri" pitchFamily="34" charset="-122"/>
                <a:cs typeface="Calibri" pitchFamily="34" charset="-120"/>
              </a:rPr>
              <a:t>₹3,200</a:t>
            </a:r>
            <a:endParaRPr lang="en-US" sz="750" dirty="0"/>
          </a:p>
        </p:txBody>
      </p:sp>
      <p:sp>
        <p:nvSpPr>
          <p:cNvPr id="14" name="Shape 12"/>
          <p:cNvSpPr/>
          <p:nvPr/>
        </p:nvSpPr>
        <p:spPr>
          <a:xfrm>
            <a:off x="438912" y="3291840"/>
            <a:ext cx="279511" cy="146304"/>
          </a:xfrm>
          <a:prstGeom prst="rect">
            <a:avLst/>
          </a:prstGeom>
          <a:solidFill>
            <a:srgbClr val="00BCD4"/>
          </a:solidFill>
          <a:ln w="12700">
            <a:solidFill>
              <a:srgbClr val="000000"/>
            </a:solidFill>
            <a:prstDash val="solid"/>
          </a:ln>
        </p:spPr>
      </p:sp>
      <p:sp>
        <p:nvSpPr>
          <p:cNvPr id="15" name="Text 13"/>
          <p:cNvSpPr/>
          <p:nvPr/>
        </p:nvSpPr>
        <p:spPr>
          <a:xfrm>
            <a:off x="764143" y="3273552"/>
            <a:ext cx="914400" cy="182880"/>
          </a:xfrm>
          <a:prstGeom prst="rect">
            <a:avLst/>
          </a:prstGeom>
          <a:noFill/>
          <a:ln/>
        </p:spPr>
        <p:txBody>
          <a:bodyPr wrap="square" lIns="0" tIns="0" rIns="0" bIns="0" rtlCol="0" anchor="ctr"/>
          <a:lstStyle/>
          <a:p>
            <a:pPr marL="0" indent="0">
              <a:buNone/>
            </a:pPr>
            <a:r>
              <a:rPr lang="en-US" sz="750" dirty="0">
                <a:solidFill>
                  <a:srgbClr val="B0BEC5"/>
                </a:solidFill>
                <a:latin typeface="Calibri" pitchFamily="34" charset="0"/>
                <a:ea typeface="Calibri" pitchFamily="34" charset="-122"/>
                <a:cs typeface="Calibri" pitchFamily="34" charset="-120"/>
              </a:rPr>
              <a:t>₹3,500</a:t>
            </a:r>
            <a:endParaRPr lang="en-US" sz="750" dirty="0"/>
          </a:p>
        </p:txBody>
      </p:sp>
      <p:sp>
        <p:nvSpPr>
          <p:cNvPr id="16" name="Shape 14"/>
          <p:cNvSpPr/>
          <p:nvPr/>
        </p:nvSpPr>
        <p:spPr>
          <a:xfrm>
            <a:off x="438912" y="3511296"/>
            <a:ext cx="119790" cy="146304"/>
          </a:xfrm>
          <a:prstGeom prst="rect">
            <a:avLst/>
          </a:prstGeom>
          <a:solidFill>
            <a:srgbClr val="00BCD4"/>
          </a:solidFill>
          <a:ln w="12700">
            <a:solidFill>
              <a:srgbClr val="000000"/>
            </a:solidFill>
            <a:prstDash val="solid"/>
          </a:ln>
        </p:spPr>
      </p:sp>
      <p:sp>
        <p:nvSpPr>
          <p:cNvPr id="17" name="Text 15"/>
          <p:cNvSpPr/>
          <p:nvPr/>
        </p:nvSpPr>
        <p:spPr>
          <a:xfrm>
            <a:off x="604422" y="3493008"/>
            <a:ext cx="914400" cy="182880"/>
          </a:xfrm>
          <a:prstGeom prst="rect">
            <a:avLst/>
          </a:prstGeom>
          <a:noFill/>
          <a:ln/>
        </p:spPr>
        <p:txBody>
          <a:bodyPr wrap="square" lIns="0" tIns="0" rIns="0" bIns="0" rtlCol="0" anchor="ctr"/>
          <a:lstStyle/>
          <a:p>
            <a:pPr marL="0" indent="0">
              <a:buNone/>
            </a:pPr>
            <a:r>
              <a:rPr lang="en-US" sz="750" dirty="0">
                <a:solidFill>
                  <a:srgbClr val="B0BEC5"/>
                </a:solidFill>
                <a:latin typeface="Calibri" pitchFamily="34" charset="0"/>
                <a:ea typeface="Calibri" pitchFamily="34" charset="-122"/>
                <a:cs typeface="Calibri" pitchFamily="34" charset="-120"/>
              </a:rPr>
              <a:t>₹1,500</a:t>
            </a:r>
            <a:endParaRPr lang="en-US" sz="750" dirty="0"/>
          </a:p>
        </p:txBody>
      </p:sp>
      <p:sp>
        <p:nvSpPr>
          <p:cNvPr id="18" name="Shape 16"/>
          <p:cNvSpPr/>
          <p:nvPr/>
        </p:nvSpPr>
        <p:spPr>
          <a:xfrm>
            <a:off x="438912" y="3730752"/>
            <a:ext cx="199651" cy="146304"/>
          </a:xfrm>
          <a:prstGeom prst="rect">
            <a:avLst/>
          </a:prstGeom>
          <a:solidFill>
            <a:srgbClr val="00BCD4"/>
          </a:solidFill>
          <a:ln w="12700">
            <a:solidFill>
              <a:srgbClr val="000000"/>
            </a:solidFill>
            <a:prstDash val="solid"/>
          </a:ln>
        </p:spPr>
      </p:sp>
      <p:sp>
        <p:nvSpPr>
          <p:cNvPr id="19" name="Text 17"/>
          <p:cNvSpPr/>
          <p:nvPr/>
        </p:nvSpPr>
        <p:spPr>
          <a:xfrm>
            <a:off x="684283" y="3712464"/>
            <a:ext cx="914400" cy="182880"/>
          </a:xfrm>
          <a:prstGeom prst="rect">
            <a:avLst/>
          </a:prstGeom>
          <a:noFill/>
          <a:ln/>
        </p:spPr>
        <p:txBody>
          <a:bodyPr wrap="square" lIns="0" tIns="0" rIns="0" bIns="0" rtlCol="0" anchor="ctr"/>
          <a:lstStyle/>
          <a:p>
            <a:pPr marL="0" indent="0">
              <a:buNone/>
            </a:pPr>
            <a:r>
              <a:rPr lang="en-US" sz="750" dirty="0">
                <a:solidFill>
                  <a:srgbClr val="B0BEC5"/>
                </a:solidFill>
                <a:latin typeface="Calibri" pitchFamily="34" charset="0"/>
                <a:ea typeface="Calibri" pitchFamily="34" charset="-122"/>
                <a:cs typeface="Calibri" pitchFamily="34" charset="-120"/>
              </a:rPr>
              <a:t>₹2,500</a:t>
            </a:r>
            <a:endParaRPr lang="en-US" sz="750" dirty="0"/>
          </a:p>
        </p:txBody>
      </p:sp>
      <p:sp>
        <p:nvSpPr>
          <p:cNvPr id="20" name="Shape 18"/>
          <p:cNvSpPr/>
          <p:nvPr/>
        </p:nvSpPr>
        <p:spPr>
          <a:xfrm>
            <a:off x="3063240" y="658368"/>
            <a:ext cx="5733288" cy="4041648"/>
          </a:xfrm>
          <a:prstGeom prst="rect">
            <a:avLst/>
          </a:prstGeom>
          <a:solidFill>
            <a:srgbClr val="0A1145"/>
          </a:solidFill>
          <a:ln w="12700">
            <a:solidFill>
              <a:srgbClr val="0A1145"/>
            </a:solidFill>
            <a:prstDash val="solid"/>
          </a:ln>
        </p:spPr>
      </p:sp>
      <p:sp>
        <p:nvSpPr>
          <p:cNvPr id="21" name="Shape 19"/>
          <p:cNvSpPr/>
          <p:nvPr/>
        </p:nvSpPr>
        <p:spPr>
          <a:xfrm>
            <a:off x="3090672" y="713232"/>
            <a:ext cx="5669280" cy="292608"/>
          </a:xfrm>
          <a:prstGeom prst="rect">
            <a:avLst/>
          </a:prstGeom>
          <a:solidFill>
            <a:srgbClr val="006064"/>
          </a:solidFill>
          <a:ln w="12700">
            <a:solidFill>
              <a:srgbClr val="006064"/>
            </a:solidFill>
            <a:prstDash val="solid"/>
          </a:ln>
        </p:spPr>
      </p:sp>
      <p:sp>
        <p:nvSpPr>
          <p:cNvPr id="22" name="Text 20"/>
          <p:cNvSpPr/>
          <p:nvPr/>
        </p:nvSpPr>
        <p:spPr>
          <a:xfrm>
            <a:off x="3182112" y="758952"/>
            <a:ext cx="4206240" cy="219456"/>
          </a:xfrm>
          <a:prstGeom prst="rect">
            <a:avLst/>
          </a:prstGeom>
          <a:noFill/>
          <a:ln/>
        </p:spPr>
        <p:txBody>
          <a:bodyPr wrap="square" lIns="0" tIns="0" rIns="0" bIns="0" rtlCol="0" anchor="ctr"/>
          <a:lstStyle/>
          <a:p>
            <a:pPr marL="0" indent="0">
              <a:buNone/>
            </a:pPr>
            <a:r>
              <a:rPr lang="en-US" sz="950" b="1" dirty="0">
                <a:solidFill>
                  <a:srgbClr val="FFFFFF"/>
                </a:solidFill>
                <a:latin typeface="Nunito" pitchFamily="34" charset="0"/>
                <a:ea typeface="Nunito" pitchFamily="34" charset="-122"/>
                <a:cs typeface="Nunito" pitchFamily="34" charset="-120"/>
              </a:rPr>
              <a:t>Component</a:t>
            </a:r>
            <a:endParaRPr lang="en-US" sz="950" dirty="0"/>
          </a:p>
        </p:txBody>
      </p:sp>
      <p:sp>
        <p:nvSpPr>
          <p:cNvPr id="23" name="Text 21"/>
          <p:cNvSpPr/>
          <p:nvPr/>
        </p:nvSpPr>
        <p:spPr>
          <a:xfrm>
            <a:off x="7424928" y="758952"/>
            <a:ext cx="1188720" cy="219456"/>
          </a:xfrm>
          <a:prstGeom prst="rect">
            <a:avLst/>
          </a:prstGeom>
          <a:noFill/>
          <a:ln/>
        </p:spPr>
        <p:txBody>
          <a:bodyPr wrap="square" lIns="0" tIns="0" rIns="0" bIns="0" rtlCol="0" anchor="ctr"/>
          <a:lstStyle/>
          <a:p>
            <a:pPr marL="0" indent="0" algn="r">
              <a:buNone/>
            </a:pPr>
            <a:r>
              <a:rPr lang="en-US" sz="950" b="1" dirty="0">
                <a:solidFill>
                  <a:srgbClr val="FFFFFF"/>
                </a:solidFill>
                <a:latin typeface="Nunito" pitchFamily="34" charset="0"/>
                <a:ea typeface="Nunito" pitchFamily="34" charset="-122"/>
                <a:cs typeface="Nunito" pitchFamily="34" charset="-120"/>
              </a:rPr>
              <a:t>Estimated Cost</a:t>
            </a:r>
            <a:endParaRPr lang="en-US" sz="950" dirty="0"/>
          </a:p>
        </p:txBody>
      </p:sp>
      <p:sp>
        <p:nvSpPr>
          <p:cNvPr id="24" name="Shape 22"/>
          <p:cNvSpPr/>
          <p:nvPr/>
        </p:nvSpPr>
        <p:spPr>
          <a:xfrm>
            <a:off x="3090672" y="1005840"/>
            <a:ext cx="5669280" cy="292608"/>
          </a:xfrm>
          <a:prstGeom prst="rect">
            <a:avLst/>
          </a:prstGeom>
          <a:solidFill>
            <a:srgbClr val="0A1145"/>
          </a:solidFill>
          <a:ln w="12700">
            <a:solidFill>
              <a:srgbClr val="0A1145"/>
            </a:solidFill>
            <a:prstDash val="solid"/>
          </a:ln>
        </p:spPr>
      </p:sp>
      <p:sp>
        <p:nvSpPr>
          <p:cNvPr id="25" name="Text 23"/>
          <p:cNvSpPr/>
          <p:nvPr/>
        </p:nvSpPr>
        <p:spPr>
          <a:xfrm>
            <a:off x="3182112" y="1051560"/>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EEG Brain Signal Sensor</a:t>
            </a:r>
            <a:endParaRPr lang="en-US" sz="900" dirty="0"/>
          </a:p>
        </p:txBody>
      </p:sp>
      <p:sp>
        <p:nvSpPr>
          <p:cNvPr id="26" name="Text 24"/>
          <p:cNvSpPr/>
          <p:nvPr/>
        </p:nvSpPr>
        <p:spPr>
          <a:xfrm>
            <a:off x="7424928" y="1051560"/>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22,900</a:t>
            </a:r>
            <a:endParaRPr lang="en-US" sz="900" dirty="0"/>
          </a:p>
        </p:txBody>
      </p:sp>
      <p:sp>
        <p:nvSpPr>
          <p:cNvPr id="27" name="Shape 25"/>
          <p:cNvSpPr/>
          <p:nvPr/>
        </p:nvSpPr>
        <p:spPr>
          <a:xfrm>
            <a:off x="3090672" y="1298448"/>
            <a:ext cx="5669280" cy="292608"/>
          </a:xfrm>
          <a:prstGeom prst="rect">
            <a:avLst/>
          </a:prstGeom>
          <a:solidFill>
            <a:srgbClr val="0F1A6A"/>
          </a:solidFill>
          <a:ln w="12700">
            <a:solidFill>
              <a:srgbClr val="0F1A6A"/>
            </a:solidFill>
            <a:prstDash val="solid"/>
          </a:ln>
        </p:spPr>
      </p:sp>
      <p:sp>
        <p:nvSpPr>
          <p:cNvPr id="28" name="Text 26"/>
          <p:cNvSpPr/>
          <p:nvPr/>
        </p:nvSpPr>
        <p:spPr>
          <a:xfrm>
            <a:off x="3182112" y="1344168"/>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Microcontroller (ESP32 / Arduino + WiFi)</a:t>
            </a:r>
            <a:endParaRPr lang="en-US" sz="900" dirty="0"/>
          </a:p>
        </p:txBody>
      </p:sp>
      <p:sp>
        <p:nvSpPr>
          <p:cNvPr id="29" name="Text 27"/>
          <p:cNvSpPr/>
          <p:nvPr/>
        </p:nvSpPr>
        <p:spPr>
          <a:xfrm>
            <a:off x="7424928" y="1344168"/>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3,200</a:t>
            </a:r>
            <a:endParaRPr lang="en-US" sz="900" dirty="0"/>
          </a:p>
        </p:txBody>
      </p:sp>
      <p:sp>
        <p:nvSpPr>
          <p:cNvPr id="30" name="Shape 28"/>
          <p:cNvSpPr/>
          <p:nvPr/>
        </p:nvSpPr>
        <p:spPr>
          <a:xfrm>
            <a:off x="3090672" y="1591056"/>
            <a:ext cx="5669280" cy="292608"/>
          </a:xfrm>
          <a:prstGeom prst="rect">
            <a:avLst/>
          </a:prstGeom>
          <a:solidFill>
            <a:srgbClr val="0A1145"/>
          </a:solidFill>
          <a:ln w="12700">
            <a:solidFill>
              <a:srgbClr val="0A1145"/>
            </a:solidFill>
            <a:prstDash val="solid"/>
          </a:ln>
        </p:spPr>
      </p:sp>
      <p:sp>
        <p:nvSpPr>
          <p:cNvPr id="31" name="Text 29"/>
          <p:cNvSpPr/>
          <p:nvPr/>
        </p:nvSpPr>
        <p:spPr>
          <a:xfrm>
            <a:off x="3182112" y="1636776"/>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Signal Processing / Interface Module</a:t>
            </a:r>
            <a:endParaRPr lang="en-US" sz="900" dirty="0"/>
          </a:p>
        </p:txBody>
      </p:sp>
      <p:sp>
        <p:nvSpPr>
          <p:cNvPr id="32" name="Text 30"/>
          <p:cNvSpPr/>
          <p:nvPr/>
        </p:nvSpPr>
        <p:spPr>
          <a:xfrm>
            <a:off x="7424928" y="1636776"/>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3,500</a:t>
            </a:r>
            <a:endParaRPr lang="en-US" sz="900" dirty="0"/>
          </a:p>
        </p:txBody>
      </p:sp>
      <p:sp>
        <p:nvSpPr>
          <p:cNvPr id="33" name="Shape 31"/>
          <p:cNvSpPr/>
          <p:nvPr/>
        </p:nvSpPr>
        <p:spPr>
          <a:xfrm>
            <a:off x="3090672" y="1883664"/>
            <a:ext cx="5669280" cy="292608"/>
          </a:xfrm>
          <a:prstGeom prst="rect">
            <a:avLst/>
          </a:prstGeom>
          <a:solidFill>
            <a:srgbClr val="0F1A6A"/>
          </a:solidFill>
          <a:ln w="12700">
            <a:solidFill>
              <a:srgbClr val="0F1A6A"/>
            </a:solidFill>
            <a:prstDash val="solid"/>
          </a:ln>
        </p:spPr>
      </p:sp>
      <p:sp>
        <p:nvSpPr>
          <p:cNvPr id="34" name="Text 32"/>
          <p:cNvSpPr/>
          <p:nvPr/>
        </p:nvSpPr>
        <p:spPr>
          <a:xfrm>
            <a:off x="3182112" y="1929384"/>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IoT Smart Relay Modules</a:t>
            </a:r>
            <a:endParaRPr lang="en-US" sz="900" dirty="0"/>
          </a:p>
        </p:txBody>
      </p:sp>
      <p:sp>
        <p:nvSpPr>
          <p:cNvPr id="35" name="Text 33"/>
          <p:cNvSpPr/>
          <p:nvPr/>
        </p:nvSpPr>
        <p:spPr>
          <a:xfrm>
            <a:off x="7424928" y="1929384"/>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1,500</a:t>
            </a:r>
            <a:endParaRPr lang="en-US" sz="900" dirty="0"/>
          </a:p>
        </p:txBody>
      </p:sp>
      <p:sp>
        <p:nvSpPr>
          <p:cNvPr id="36" name="Shape 34"/>
          <p:cNvSpPr/>
          <p:nvPr/>
        </p:nvSpPr>
        <p:spPr>
          <a:xfrm>
            <a:off x="3090672" y="2176272"/>
            <a:ext cx="5669280" cy="292608"/>
          </a:xfrm>
          <a:prstGeom prst="rect">
            <a:avLst/>
          </a:prstGeom>
          <a:solidFill>
            <a:srgbClr val="0A1145"/>
          </a:solidFill>
          <a:ln w="12700">
            <a:solidFill>
              <a:srgbClr val="0A1145"/>
            </a:solidFill>
            <a:prstDash val="solid"/>
          </a:ln>
        </p:spPr>
      </p:sp>
      <p:sp>
        <p:nvSpPr>
          <p:cNvPr id="37" name="Text 35"/>
          <p:cNvSpPr/>
          <p:nvPr/>
        </p:nvSpPr>
        <p:spPr>
          <a:xfrm>
            <a:off x="3182112" y="2221992"/>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Power Supply &amp; Batteries</a:t>
            </a:r>
            <a:endParaRPr lang="en-US" sz="900" dirty="0"/>
          </a:p>
        </p:txBody>
      </p:sp>
      <p:sp>
        <p:nvSpPr>
          <p:cNvPr id="38" name="Text 36"/>
          <p:cNvSpPr/>
          <p:nvPr/>
        </p:nvSpPr>
        <p:spPr>
          <a:xfrm>
            <a:off x="7424928" y="2221992"/>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2,500</a:t>
            </a:r>
            <a:endParaRPr lang="en-US" sz="900" dirty="0"/>
          </a:p>
        </p:txBody>
      </p:sp>
      <p:sp>
        <p:nvSpPr>
          <p:cNvPr id="39" name="Shape 37"/>
          <p:cNvSpPr/>
          <p:nvPr/>
        </p:nvSpPr>
        <p:spPr>
          <a:xfrm>
            <a:off x="3090672" y="2468880"/>
            <a:ext cx="5669280" cy="292608"/>
          </a:xfrm>
          <a:prstGeom prst="rect">
            <a:avLst/>
          </a:prstGeom>
          <a:solidFill>
            <a:srgbClr val="0F1A6A"/>
          </a:solidFill>
          <a:ln w="12700">
            <a:solidFill>
              <a:srgbClr val="0F1A6A"/>
            </a:solidFill>
            <a:prstDash val="solid"/>
          </a:ln>
        </p:spPr>
      </p:sp>
      <p:sp>
        <p:nvSpPr>
          <p:cNvPr id="40" name="Text 38"/>
          <p:cNvSpPr/>
          <p:nvPr/>
        </p:nvSpPr>
        <p:spPr>
          <a:xfrm>
            <a:off x="3182112" y="2514600"/>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Headset Frame &amp; Mounting Hardware</a:t>
            </a:r>
            <a:endParaRPr lang="en-US" sz="900" dirty="0"/>
          </a:p>
        </p:txBody>
      </p:sp>
      <p:sp>
        <p:nvSpPr>
          <p:cNvPr id="41" name="Text 39"/>
          <p:cNvSpPr/>
          <p:nvPr/>
        </p:nvSpPr>
        <p:spPr>
          <a:xfrm>
            <a:off x="7424928" y="2514600"/>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1,800</a:t>
            </a:r>
            <a:endParaRPr lang="en-US" sz="900" dirty="0"/>
          </a:p>
        </p:txBody>
      </p:sp>
      <p:sp>
        <p:nvSpPr>
          <p:cNvPr id="42" name="Shape 40"/>
          <p:cNvSpPr/>
          <p:nvPr/>
        </p:nvSpPr>
        <p:spPr>
          <a:xfrm>
            <a:off x="3090672" y="2761488"/>
            <a:ext cx="5669280" cy="292608"/>
          </a:xfrm>
          <a:prstGeom prst="rect">
            <a:avLst/>
          </a:prstGeom>
          <a:solidFill>
            <a:srgbClr val="0A1145"/>
          </a:solidFill>
          <a:ln w="12700">
            <a:solidFill>
              <a:srgbClr val="0A1145"/>
            </a:solidFill>
            <a:prstDash val="solid"/>
          </a:ln>
        </p:spPr>
      </p:sp>
      <p:sp>
        <p:nvSpPr>
          <p:cNvPr id="43" name="Text 41"/>
          <p:cNvSpPr/>
          <p:nvPr/>
        </p:nvSpPr>
        <p:spPr>
          <a:xfrm>
            <a:off x="3182112" y="2807208"/>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PCB / Breadboard &amp; Electronic Components</a:t>
            </a:r>
            <a:endParaRPr lang="en-US" sz="900" dirty="0"/>
          </a:p>
        </p:txBody>
      </p:sp>
      <p:sp>
        <p:nvSpPr>
          <p:cNvPr id="44" name="Text 42"/>
          <p:cNvSpPr/>
          <p:nvPr/>
        </p:nvSpPr>
        <p:spPr>
          <a:xfrm>
            <a:off x="7424928" y="2807208"/>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2,000</a:t>
            </a:r>
            <a:endParaRPr lang="en-US" sz="900" dirty="0"/>
          </a:p>
        </p:txBody>
      </p:sp>
      <p:sp>
        <p:nvSpPr>
          <p:cNvPr id="45" name="Shape 43"/>
          <p:cNvSpPr/>
          <p:nvPr/>
        </p:nvSpPr>
        <p:spPr>
          <a:xfrm>
            <a:off x="3090672" y="3054096"/>
            <a:ext cx="5669280" cy="292608"/>
          </a:xfrm>
          <a:prstGeom prst="rect">
            <a:avLst/>
          </a:prstGeom>
          <a:solidFill>
            <a:srgbClr val="0F1A6A"/>
          </a:solidFill>
          <a:ln w="12700">
            <a:solidFill>
              <a:srgbClr val="0F1A6A"/>
            </a:solidFill>
            <a:prstDash val="solid"/>
          </a:ln>
        </p:spPr>
      </p:sp>
      <p:sp>
        <p:nvSpPr>
          <p:cNvPr id="46" name="Text 44"/>
          <p:cNvSpPr/>
          <p:nvPr/>
        </p:nvSpPr>
        <p:spPr>
          <a:xfrm>
            <a:off x="3182112" y="3099816"/>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Software &amp; Development Tools</a:t>
            </a:r>
            <a:endParaRPr lang="en-US" sz="900" dirty="0"/>
          </a:p>
        </p:txBody>
      </p:sp>
      <p:sp>
        <p:nvSpPr>
          <p:cNvPr id="47" name="Text 45"/>
          <p:cNvSpPr/>
          <p:nvPr/>
        </p:nvSpPr>
        <p:spPr>
          <a:xfrm>
            <a:off x="7424928" y="3099816"/>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1,500</a:t>
            </a:r>
            <a:endParaRPr lang="en-US" sz="900" dirty="0"/>
          </a:p>
        </p:txBody>
      </p:sp>
      <p:sp>
        <p:nvSpPr>
          <p:cNvPr id="48" name="Shape 46"/>
          <p:cNvSpPr/>
          <p:nvPr/>
        </p:nvSpPr>
        <p:spPr>
          <a:xfrm>
            <a:off x="3090672" y="3346704"/>
            <a:ext cx="5669280" cy="292608"/>
          </a:xfrm>
          <a:prstGeom prst="rect">
            <a:avLst/>
          </a:prstGeom>
          <a:solidFill>
            <a:srgbClr val="0A1145"/>
          </a:solidFill>
          <a:ln w="12700">
            <a:solidFill>
              <a:srgbClr val="0A1145"/>
            </a:solidFill>
            <a:prstDash val="solid"/>
          </a:ln>
        </p:spPr>
      </p:sp>
      <p:sp>
        <p:nvSpPr>
          <p:cNvPr id="49" name="Text 47"/>
          <p:cNvSpPr/>
          <p:nvPr/>
        </p:nvSpPr>
        <p:spPr>
          <a:xfrm>
            <a:off x="3182112" y="3392424"/>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Testing &amp; Calibration</a:t>
            </a:r>
            <a:endParaRPr lang="en-US" sz="900" dirty="0"/>
          </a:p>
        </p:txBody>
      </p:sp>
      <p:sp>
        <p:nvSpPr>
          <p:cNvPr id="50" name="Text 48"/>
          <p:cNvSpPr/>
          <p:nvPr/>
        </p:nvSpPr>
        <p:spPr>
          <a:xfrm>
            <a:off x="7424928" y="3392424"/>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2,000</a:t>
            </a:r>
            <a:endParaRPr lang="en-US" sz="900" dirty="0"/>
          </a:p>
        </p:txBody>
      </p:sp>
      <p:sp>
        <p:nvSpPr>
          <p:cNvPr id="51" name="Shape 49"/>
          <p:cNvSpPr/>
          <p:nvPr/>
        </p:nvSpPr>
        <p:spPr>
          <a:xfrm>
            <a:off x="3090672" y="3639312"/>
            <a:ext cx="5669280" cy="292608"/>
          </a:xfrm>
          <a:prstGeom prst="rect">
            <a:avLst/>
          </a:prstGeom>
          <a:solidFill>
            <a:srgbClr val="0F1A6A"/>
          </a:solidFill>
          <a:ln w="12700">
            <a:solidFill>
              <a:srgbClr val="0F1A6A"/>
            </a:solidFill>
            <a:prstDash val="solid"/>
          </a:ln>
        </p:spPr>
      </p:sp>
      <p:sp>
        <p:nvSpPr>
          <p:cNvPr id="52" name="Text 50"/>
          <p:cNvSpPr/>
          <p:nvPr/>
        </p:nvSpPr>
        <p:spPr>
          <a:xfrm>
            <a:off x="3182112" y="3685032"/>
            <a:ext cx="4206240" cy="219456"/>
          </a:xfrm>
          <a:prstGeom prst="rect">
            <a:avLst/>
          </a:prstGeom>
          <a:noFill/>
          <a:ln/>
        </p:spPr>
        <p:txBody>
          <a:bodyPr wrap="square" lIns="0" tIns="0" rIns="0" bIns="0" rtlCol="0" anchor="ctr"/>
          <a:lstStyle/>
          <a:p>
            <a:pPr marL="0" indent="0">
              <a:buNone/>
            </a:pPr>
            <a:r>
              <a:rPr lang="en-US" sz="900" dirty="0">
                <a:solidFill>
                  <a:srgbClr val="CFD8DC"/>
                </a:solidFill>
                <a:latin typeface="Calibri" pitchFamily="34" charset="0"/>
                <a:ea typeface="Calibri" pitchFamily="34" charset="-122"/>
                <a:cs typeface="Calibri" pitchFamily="34" charset="-120"/>
              </a:rPr>
              <a:t>Mobile / Web Interface Development</a:t>
            </a:r>
            <a:endParaRPr lang="en-US" sz="900" dirty="0"/>
          </a:p>
        </p:txBody>
      </p:sp>
      <p:sp>
        <p:nvSpPr>
          <p:cNvPr id="53" name="Text 51"/>
          <p:cNvSpPr/>
          <p:nvPr/>
        </p:nvSpPr>
        <p:spPr>
          <a:xfrm>
            <a:off x="7424928" y="3685032"/>
            <a:ext cx="1188720" cy="219456"/>
          </a:xfrm>
          <a:prstGeom prst="rect">
            <a:avLst/>
          </a:prstGeom>
          <a:noFill/>
          <a:ln/>
        </p:spPr>
        <p:txBody>
          <a:bodyPr wrap="square" lIns="0" tIns="0" rIns="0" bIns="0" rtlCol="0" anchor="ctr"/>
          <a:lstStyle/>
          <a:p>
            <a:pPr marL="0" indent="0" algn="r">
              <a:buNone/>
            </a:pPr>
            <a:r>
              <a:rPr lang="en-US" sz="900" dirty="0">
                <a:solidFill>
                  <a:srgbClr val="CFD8DC"/>
                </a:solidFill>
                <a:latin typeface="Calibri" pitchFamily="34" charset="0"/>
                <a:ea typeface="Calibri" pitchFamily="34" charset="-122"/>
                <a:cs typeface="Calibri" pitchFamily="34" charset="-120"/>
              </a:rPr>
              <a:t>₹ 2,500</a:t>
            </a:r>
            <a:endParaRPr lang="en-US" sz="900" dirty="0"/>
          </a:p>
        </p:txBody>
      </p:sp>
      <p:sp>
        <p:nvSpPr>
          <p:cNvPr id="54" name="Shape 52"/>
          <p:cNvSpPr/>
          <p:nvPr/>
        </p:nvSpPr>
        <p:spPr>
          <a:xfrm>
            <a:off x="3090672" y="3931920"/>
            <a:ext cx="5669280" cy="292608"/>
          </a:xfrm>
          <a:prstGeom prst="rect">
            <a:avLst/>
          </a:prstGeom>
          <a:solidFill>
            <a:srgbClr val="1A237E"/>
          </a:solidFill>
          <a:ln w="12700">
            <a:solidFill>
              <a:srgbClr val="1A237E"/>
            </a:solidFill>
            <a:prstDash val="solid"/>
          </a:ln>
        </p:spPr>
      </p:sp>
      <p:sp>
        <p:nvSpPr>
          <p:cNvPr id="55" name="Text 53"/>
          <p:cNvSpPr/>
          <p:nvPr/>
        </p:nvSpPr>
        <p:spPr>
          <a:xfrm>
            <a:off x="3182112" y="3977640"/>
            <a:ext cx="4206240" cy="219456"/>
          </a:xfrm>
          <a:prstGeom prst="rect">
            <a:avLst/>
          </a:prstGeom>
          <a:noFill/>
          <a:ln/>
        </p:spPr>
        <p:txBody>
          <a:bodyPr wrap="square" lIns="0" tIns="0" rIns="0" bIns="0" rtlCol="0" anchor="ctr"/>
          <a:lstStyle/>
          <a:p>
            <a:pPr marL="0" indent="0">
              <a:buNone/>
            </a:pPr>
            <a:r>
              <a:rPr lang="en-US" sz="950" b="1" dirty="0">
                <a:solidFill>
                  <a:srgbClr val="00E5FF"/>
                </a:solidFill>
                <a:latin typeface="Nunito" pitchFamily="34" charset="0"/>
                <a:ea typeface="Nunito" pitchFamily="34" charset="-122"/>
                <a:cs typeface="Nunito" pitchFamily="34" charset="-120"/>
              </a:rPr>
              <a:t>TOTAL</a:t>
            </a:r>
            <a:endParaRPr lang="en-US" sz="950" dirty="0"/>
          </a:p>
        </p:txBody>
      </p:sp>
      <p:sp>
        <p:nvSpPr>
          <p:cNvPr id="56" name="Text 54"/>
          <p:cNvSpPr/>
          <p:nvPr/>
        </p:nvSpPr>
        <p:spPr>
          <a:xfrm>
            <a:off x="7424928" y="3977640"/>
            <a:ext cx="1188720" cy="219456"/>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 43,400</a:t>
            </a:r>
            <a:endParaRPr lang="en-US" sz="950" dirty="0"/>
          </a:p>
        </p:txBody>
      </p:sp>
      <p:sp>
        <p:nvSpPr>
          <p:cNvPr id="57" name="Shape 55"/>
          <p:cNvSpPr/>
          <p:nvPr/>
        </p:nvSpPr>
        <p:spPr>
          <a:xfrm>
            <a:off x="0" y="4818888"/>
            <a:ext cx="9144000" cy="324612"/>
          </a:xfrm>
          <a:prstGeom prst="rect">
            <a:avLst/>
          </a:prstGeom>
          <a:solidFill>
            <a:srgbClr val="060C38"/>
          </a:solidFill>
          <a:ln w="12700">
            <a:solidFill>
              <a:srgbClr val="060C38"/>
            </a:solidFill>
            <a:prstDash val="solid"/>
          </a:ln>
        </p:spPr>
      </p:sp>
      <p:sp>
        <p:nvSpPr>
          <p:cNvPr id="58" name="Shape 56"/>
          <p:cNvSpPr/>
          <p:nvPr/>
        </p:nvSpPr>
        <p:spPr>
          <a:xfrm>
            <a:off x="0" y="4818888"/>
            <a:ext cx="118872" cy="324612"/>
          </a:xfrm>
          <a:prstGeom prst="rect">
            <a:avLst/>
          </a:prstGeom>
          <a:solidFill>
            <a:srgbClr val="00E5FF"/>
          </a:solidFill>
          <a:ln w="12700">
            <a:solidFill>
              <a:srgbClr val="00E5FF"/>
            </a:solidFill>
            <a:prstDash val="solid"/>
          </a:ln>
        </p:spPr>
      </p:sp>
      <p:sp>
        <p:nvSpPr>
          <p:cNvPr id="59" name="Text 57"/>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60" name="Text 58"/>
          <p:cNvSpPr/>
          <p:nvPr/>
        </p:nvSpPr>
        <p:spPr>
          <a:xfrm>
            <a:off x="3931920" y="4841748"/>
            <a:ext cx="1828800" cy="274320"/>
          </a:xfrm>
          <a:prstGeom prst="rect">
            <a:avLst/>
          </a:prstGeom>
          <a:noFill/>
          <a:ln/>
        </p:spPr>
        <p:txBody>
          <a:bodyPr wrap="square" lIns="0" tIns="0" rIns="0" bIns="0" rtlCol="0" anchor="ctr"/>
          <a:lstStyle/>
          <a:p>
            <a:pPr algn="ctr"/>
            <a:r>
              <a:rPr lang="en-US" sz="850" dirty="0">
                <a:solidFill>
                  <a:srgbClr val="7986CB"/>
                </a:solidFill>
                <a:latin typeface="Calibri" pitchFamily="34" charset="0"/>
                <a:ea typeface="Calibri" pitchFamily="34" charset="-122"/>
                <a:cs typeface="Calibri" pitchFamily="34" charset="-120"/>
              </a:rPr>
              <a:t>Priyankaba Jadej</a:t>
            </a:r>
            <a:endParaRPr lang="en-US" sz="850" dirty="0"/>
          </a:p>
        </p:txBody>
      </p:sp>
      <p:sp>
        <p:nvSpPr>
          <p:cNvPr id="61" name="Text 59"/>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09 / 17</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554"/>
        </a:solidFill>
        <a:effectLst/>
      </p:bgPr>
    </p:bg>
    <p:spTree>
      <p:nvGrpSpPr>
        <p:cNvPr id="1" name=""/>
        <p:cNvGrpSpPr/>
        <p:nvPr/>
      </p:nvGrpSpPr>
      <p:grpSpPr>
        <a:xfrm>
          <a:off x="0" y="0"/>
          <a:ext cx="0" cy="0"/>
          <a:chOff x="0" y="0"/>
          <a:chExt cx="0" cy="0"/>
        </a:xfrm>
      </p:grpSpPr>
      <p:sp>
        <p:nvSpPr>
          <p:cNvPr id="2" name="Text 0"/>
          <p:cNvSpPr/>
          <p:nvPr/>
        </p:nvSpPr>
        <p:spPr>
          <a:xfrm>
            <a:off x="347472" y="91440"/>
            <a:ext cx="457200" cy="274320"/>
          </a:xfrm>
          <a:prstGeom prst="rect">
            <a:avLst/>
          </a:prstGeom>
          <a:noFill/>
          <a:ln/>
        </p:spPr>
        <p:txBody>
          <a:bodyPr wrap="square" lIns="0" tIns="0" rIns="0" bIns="0" rtlCol="0" anchor="ctr"/>
          <a:lstStyle/>
          <a:p>
            <a:pPr marL="0" indent="0">
              <a:buNone/>
            </a:pPr>
            <a:r>
              <a:rPr lang="en-US" sz="1000" b="1" dirty="0">
                <a:solidFill>
                  <a:srgbClr val="00E5FF"/>
                </a:solidFill>
                <a:latin typeface="Nunito" pitchFamily="34" charset="0"/>
                <a:ea typeface="Nunito" pitchFamily="34" charset="-122"/>
                <a:cs typeface="Nunito" pitchFamily="34" charset="-120"/>
              </a:rPr>
              <a:t>10</a:t>
            </a:r>
            <a:endParaRPr lang="en-US" sz="1000" dirty="0"/>
          </a:p>
        </p:txBody>
      </p:sp>
      <p:sp>
        <p:nvSpPr>
          <p:cNvPr id="3" name="Text 1"/>
          <p:cNvSpPr/>
          <p:nvPr/>
        </p:nvSpPr>
        <p:spPr>
          <a:xfrm>
            <a:off x="548640" y="82296"/>
            <a:ext cx="8412480" cy="347472"/>
          </a:xfrm>
          <a:prstGeom prst="rect">
            <a:avLst/>
          </a:prstGeom>
          <a:noFill/>
          <a:ln/>
        </p:spPr>
        <p:txBody>
          <a:bodyPr wrap="square" lIns="0" tIns="0" rIns="0" bIns="0" rtlCol="0" anchor="ctr"/>
          <a:lstStyle/>
          <a:p>
            <a:pPr marL="0" indent="0">
              <a:buNone/>
            </a:pPr>
            <a:r>
              <a:rPr lang="en-US" sz="2000" b="1" dirty="0">
                <a:solidFill>
                  <a:srgbClr val="FFFFFF"/>
                </a:solidFill>
                <a:latin typeface="Nunito" pitchFamily="34" charset="0"/>
                <a:ea typeface="Nunito" pitchFamily="34" charset="-122"/>
                <a:cs typeface="Nunito" pitchFamily="34" charset="-120"/>
              </a:rPr>
              <a:t>Time Frame — Execution Plan (8 Months)</a:t>
            </a:r>
            <a:endParaRPr lang="en-US" sz="2000" dirty="0"/>
          </a:p>
        </p:txBody>
      </p:sp>
      <p:sp>
        <p:nvSpPr>
          <p:cNvPr id="4" name="Shape 2"/>
          <p:cNvSpPr/>
          <p:nvPr/>
        </p:nvSpPr>
        <p:spPr>
          <a:xfrm>
            <a:off x="347472" y="475488"/>
            <a:ext cx="1280160" cy="36576"/>
          </a:xfrm>
          <a:prstGeom prst="rect">
            <a:avLst/>
          </a:prstGeom>
          <a:solidFill>
            <a:srgbClr val="00E5FF"/>
          </a:solidFill>
          <a:ln w="12700">
            <a:solidFill>
              <a:srgbClr val="00E5FF"/>
            </a:solidFill>
            <a:prstDash val="solid"/>
          </a:ln>
        </p:spPr>
      </p:sp>
      <p:sp>
        <p:nvSpPr>
          <p:cNvPr id="5" name="Shape 3"/>
          <p:cNvSpPr/>
          <p:nvPr/>
        </p:nvSpPr>
        <p:spPr>
          <a:xfrm>
            <a:off x="347472" y="585216"/>
            <a:ext cx="2331720" cy="365760"/>
          </a:xfrm>
          <a:prstGeom prst="rect">
            <a:avLst/>
          </a:prstGeom>
          <a:solidFill>
            <a:srgbClr val="1A237E"/>
          </a:solidFill>
          <a:ln w="12700">
            <a:solidFill>
              <a:srgbClr val="1A237E"/>
            </a:solidFill>
            <a:prstDash val="solid"/>
          </a:ln>
        </p:spPr>
      </p:sp>
      <p:sp>
        <p:nvSpPr>
          <p:cNvPr id="6" name="Text 4"/>
          <p:cNvSpPr/>
          <p:nvPr/>
        </p:nvSpPr>
        <p:spPr>
          <a:xfrm>
            <a:off x="475488" y="676656"/>
            <a:ext cx="2148840" cy="219456"/>
          </a:xfrm>
          <a:prstGeom prst="rect">
            <a:avLst/>
          </a:prstGeom>
          <a:noFill/>
          <a:ln/>
        </p:spPr>
        <p:txBody>
          <a:bodyPr wrap="square" lIns="0" tIns="0" rIns="0" bIns="0" rtlCol="0" anchor="ctr"/>
          <a:lstStyle/>
          <a:p>
            <a:pPr marL="0" indent="0">
              <a:buNone/>
            </a:pPr>
            <a:r>
              <a:rPr lang="en-US" sz="900" b="1" dirty="0">
                <a:solidFill>
                  <a:srgbClr val="80DEEA"/>
                </a:solidFill>
                <a:latin typeface="Nunito" pitchFamily="34" charset="0"/>
                <a:ea typeface="Nunito" pitchFamily="34" charset="-122"/>
                <a:cs typeface="Nunito" pitchFamily="34" charset="-120"/>
              </a:rPr>
              <a:t>Phase &amp; Task</a:t>
            </a:r>
            <a:endParaRPr lang="en-US" sz="900" dirty="0"/>
          </a:p>
        </p:txBody>
      </p:sp>
      <p:sp>
        <p:nvSpPr>
          <p:cNvPr id="7" name="Shape 5"/>
          <p:cNvSpPr/>
          <p:nvPr/>
        </p:nvSpPr>
        <p:spPr>
          <a:xfrm>
            <a:off x="2743200" y="585216"/>
            <a:ext cx="713232" cy="365760"/>
          </a:xfrm>
          <a:prstGeom prst="rect">
            <a:avLst/>
          </a:prstGeom>
          <a:solidFill>
            <a:srgbClr val="1A237E"/>
          </a:solidFill>
          <a:ln w="12700">
            <a:solidFill>
              <a:srgbClr val="1A237E"/>
            </a:solidFill>
            <a:prstDash val="solid"/>
          </a:ln>
        </p:spPr>
      </p:sp>
      <p:sp>
        <p:nvSpPr>
          <p:cNvPr id="8" name="Text 6"/>
          <p:cNvSpPr/>
          <p:nvPr/>
        </p:nvSpPr>
        <p:spPr>
          <a:xfrm>
            <a:off x="2743200" y="676656"/>
            <a:ext cx="713232" cy="219456"/>
          </a:xfrm>
          <a:prstGeom prst="rect">
            <a:avLst/>
          </a:prstGeom>
          <a:noFill/>
          <a:ln/>
        </p:spPr>
        <p:txBody>
          <a:bodyPr wrap="square" lIns="0" tIns="0" rIns="0" bIns="0" rtlCol="0" anchor="ctr"/>
          <a:lstStyle/>
          <a:p>
            <a:pPr marL="0" indent="0" algn="ctr">
              <a:buNone/>
            </a:pPr>
            <a:r>
              <a:rPr lang="en-US" sz="900" b="1" dirty="0">
                <a:solidFill>
                  <a:srgbClr val="80DEEA"/>
                </a:solidFill>
                <a:latin typeface="Nunito" pitchFamily="34" charset="0"/>
                <a:ea typeface="Nunito" pitchFamily="34" charset="-122"/>
                <a:cs typeface="Nunito" pitchFamily="34" charset="-120"/>
              </a:rPr>
              <a:t>M1</a:t>
            </a:r>
            <a:endParaRPr lang="en-US" sz="900" dirty="0"/>
          </a:p>
        </p:txBody>
      </p:sp>
      <p:sp>
        <p:nvSpPr>
          <p:cNvPr id="9" name="Shape 7"/>
          <p:cNvSpPr/>
          <p:nvPr/>
        </p:nvSpPr>
        <p:spPr>
          <a:xfrm>
            <a:off x="3502152" y="585216"/>
            <a:ext cx="713232" cy="365760"/>
          </a:xfrm>
          <a:prstGeom prst="rect">
            <a:avLst/>
          </a:prstGeom>
          <a:solidFill>
            <a:srgbClr val="1A237E"/>
          </a:solidFill>
          <a:ln w="12700">
            <a:solidFill>
              <a:srgbClr val="1A237E"/>
            </a:solidFill>
            <a:prstDash val="solid"/>
          </a:ln>
        </p:spPr>
      </p:sp>
      <p:sp>
        <p:nvSpPr>
          <p:cNvPr id="10" name="Text 8"/>
          <p:cNvSpPr/>
          <p:nvPr/>
        </p:nvSpPr>
        <p:spPr>
          <a:xfrm>
            <a:off x="3502152" y="676656"/>
            <a:ext cx="713232" cy="219456"/>
          </a:xfrm>
          <a:prstGeom prst="rect">
            <a:avLst/>
          </a:prstGeom>
          <a:noFill/>
          <a:ln/>
        </p:spPr>
        <p:txBody>
          <a:bodyPr wrap="square" lIns="0" tIns="0" rIns="0" bIns="0" rtlCol="0" anchor="ctr"/>
          <a:lstStyle/>
          <a:p>
            <a:pPr marL="0" indent="0" algn="ctr">
              <a:buNone/>
            </a:pPr>
            <a:r>
              <a:rPr lang="en-US" sz="900" b="1" dirty="0">
                <a:solidFill>
                  <a:srgbClr val="80DEEA"/>
                </a:solidFill>
                <a:latin typeface="Nunito" pitchFamily="34" charset="0"/>
                <a:ea typeface="Nunito" pitchFamily="34" charset="-122"/>
                <a:cs typeface="Nunito" pitchFamily="34" charset="-120"/>
              </a:rPr>
              <a:t>M2</a:t>
            </a:r>
            <a:endParaRPr lang="en-US" sz="900" dirty="0"/>
          </a:p>
        </p:txBody>
      </p:sp>
      <p:sp>
        <p:nvSpPr>
          <p:cNvPr id="11" name="Shape 9"/>
          <p:cNvSpPr/>
          <p:nvPr/>
        </p:nvSpPr>
        <p:spPr>
          <a:xfrm>
            <a:off x="4261104" y="585216"/>
            <a:ext cx="713232" cy="365760"/>
          </a:xfrm>
          <a:prstGeom prst="rect">
            <a:avLst/>
          </a:prstGeom>
          <a:solidFill>
            <a:srgbClr val="1A237E"/>
          </a:solidFill>
          <a:ln w="12700">
            <a:solidFill>
              <a:srgbClr val="1A237E"/>
            </a:solidFill>
            <a:prstDash val="solid"/>
          </a:ln>
        </p:spPr>
      </p:sp>
      <p:sp>
        <p:nvSpPr>
          <p:cNvPr id="12" name="Text 10"/>
          <p:cNvSpPr/>
          <p:nvPr/>
        </p:nvSpPr>
        <p:spPr>
          <a:xfrm>
            <a:off x="4261104" y="676656"/>
            <a:ext cx="713232" cy="219456"/>
          </a:xfrm>
          <a:prstGeom prst="rect">
            <a:avLst/>
          </a:prstGeom>
          <a:noFill/>
          <a:ln/>
        </p:spPr>
        <p:txBody>
          <a:bodyPr wrap="square" lIns="0" tIns="0" rIns="0" bIns="0" rtlCol="0" anchor="ctr"/>
          <a:lstStyle/>
          <a:p>
            <a:pPr marL="0" indent="0" algn="ctr">
              <a:buNone/>
            </a:pPr>
            <a:r>
              <a:rPr lang="en-US" sz="900" b="1" dirty="0">
                <a:solidFill>
                  <a:srgbClr val="80DEEA"/>
                </a:solidFill>
                <a:latin typeface="Nunito" pitchFamily="34" charset="0"/>
                <a:ea typeface="Nunito" pitchFamily="34" charset="-122"/>
                <a:cs typeface="Nunito" pitchFamily="34" charset="-120"/>
              </a:rPr>
              <a:t>M3</a:t>
            </a:r>
            <a:endParaRPr lang="en-US" sz="900" dirty="0"/>
          </a:p>
        </p:txBody>
      </p:sp>
      <p:sp>
        <p:nvSpPr>
          <p:cNvPr id="13" name="Shape 11"/>
          <p:cNvSpPr/>
          <p:nvPr/>
        </p:nvSpPr>
        <p:spPr>
          <a:xfrm>
            <a:off x="5020056" y="585216"/>
            <a:ext cx="713232" cy="365760"/>
          </a:xfrm>
          <a:prstGeom prst="rect">
            <a:avLst/>
          </a:prstGeom>
          <a:solidFill>
            <a:srgbClr val="1A237E"/>
          </a:solidFill>
          <a:ln w="12700">
            <a:solidFill>
              <a:srgbClr val="1A237E"/>
            </a:solidFill>
            <a:prstDash val="solid"/>
          </a:ln>
        </p:spPr>
      </p:sp>
      <p:sp>
        <p:nvSpPr>
          <p:cNvPr id="14" name="Text 12"/>
          <p:cNvSpPr/>
          <p:nvPr/>
        </p:nvSpPr>
        <p:spPr>
          <a:xfrm>
            <a:off x="5020056" y="676656"/>
            <a:ext cx="713232" cy="219456"/>
          </a:xfrm>
          <a:prstGeom prst="rect">
            <a:avLst/>
          </a:prstGeom>
          <a:noFill/>
          <a:ln/>
        </p:spPr>
        <p:txBody>
          <a:bodyPr wrap="square" lIns="0" tIns="0" rIns="0" bIns="0" rtlCol="0" anchor="ctr"/>
          <a:lstStyle/>
          <a:p>
            <a:pPr marL="0" indent="0" algn="ctr">
              <a:buNone/>
            </a:pPr>
            <a:r>
              <a:rPr lang="en-US" sz="900" b="1" dirty="0">
                <a:solidFill>
                  <a:srgbClr val="80DEEA"/>
                </a:solidFill>
                <a:latin typeface="Nunito" pitchFamily="34" charset="0"/>
                <a:ea typeface="Nunito" pitchFamily="34" charset="-122"/>
                <a:cs typeface="Nunito" pitchFamily="34" charset="-120"/>
              </a:rPr>
              <a:t>M4</a:t>
            </a:r>
            <a:endParaRPr lang="en-US" sz="900" dirty="0"/>
          </a:p>
        </p:txBody>
      </p:sp>
      <p:sp>
        <p:nvSpPr>
          <p:cNvPr id="15" name="Shape 13"/>
          <p:cNvSpPr/>
          <p:nvPr/>
        </p:nvSpPr>
        <p:spPr>
          <a:xfrm>
            <a:off x="5779008" y="585216"/>
            <a:ext cx="713232" cy="365760"/>
          </a:xfrm>
          <a:prstGeom prst="rect">
            <a:avLst/>
          </a:prstGeom>
          <a:solidFill>
            <a:srgbClr val="1A237E"/>
          </a:solidFill>
          <a:ln w="12700">
            <a:solidFill>
              <a:srgbClr val="1A237E"/>
            </a:solidFill>
            <a:prstDash val="solid"/>
          </a:ln>
        </p:spPr>
      </p:sp>
      <p:sp>
        <p:nvSpPr>
          <p:cNvPr id="16" name="Text 14"/>
          <p:cNvSpPr/>
          <p:nvPr/>
        </p:nvSpPr>
        <p:spPr>
          <a:xfrm>
            <a:off x="5779008" y="676656"/>
            <a:ext cx="713232" cy="219456"/>
          </a:xfrm>
          <a:prstGeom prst="rect">
            <a:avLst/>
          </a:prstGeom>
          <a:noFill/>
          <a:ln/>
        </p:spPr>
        <p:txBody>
          <a:bodyPr wrap="square" lIns="0" tIns="0" rIns="0" bIns="0" rtlCol="0" anchor="ctr"/>
          <a:lstStyle/>
          <a:p>
            <a:pPr marL="0" indent="0" algn="ctr">
              <a:buNone/>
            </a:pPr>
            <a:r>
              <a:rPr lang="en-US" sz="900" b="1" dirty="0">
                <a:solidFill>
                  <a:srgbClr val="80DEEA"/>
                </a:solidFill>
                <a:latin typeface="Nunito" pitchFamily="34" charset="0"/>
                <a:ea typeface="Nunito" pitchFamily="34" charset="-122"/>
                <a:cs typeface="Nunito" pitchFamily="34" charset="-120"/>
              </a:rPr>
              <a:t>M5</a:t>
            </a:r>
            <a:endParaRPr lang="en-US" sz="900" dirty="0"/>
          </a:p>
        </p:txBody>
      </p:sp>
      <p:sp>
        <p:nvSpPr>
          <p:cNvPr id="17" name="Shape 15"/>
          <p:cNvSpPr/>
          <p:nvPr/>
        </p:nvSpPr>
        <p:spPr>
          <a:xfrm>
            <a:off x="6537960" y="585216"/>
            <a:ext cx="713232" cy="365760"/>
          </a:xfrm>
          <a:prstGeom prst="rect">
            <a:avLst/>
          </a:prstGeom>
          <a:solidFill>
            <a:srgbClr val="1A237E"/>
          </a:solidFill>
          <a:ln w="12700">
            <a:solidFill>
              <a:srgbClr val="1A237E"/>
            </a:solidFill>
            <a:prstDash val="solid"/>
          </a:ln>
        </p:spPr>
      </p:sp>
      <p:sp>
        <p:nvSpPr>
          <p:cNvPr id="18" name="Text 16"/>
          <p:cNvSpPr/>
          <p:nvPr/>
        </p:nvSpPr>
        <p:spPr>
          <a:xfrm>
            <a:off x="6537960" y="676656"/>
            <a:ext cx="713232" cy="219456"/>
          </a:xfrm>
          <a:prstGeom prst="rect">
            <a:avLst/>
          </a:prstGeom>
          <a:noFill/>
          <a:ln/>
        </p:spPr>
        <p:txBody>
          <a:bodyPr wrap="square" lIns="0" tIns="0" rIns="0" bIns="0" rtlCol="0" anchor="ctr"/>
          <a:lstStyle/>
          <a:p>
            <a:pPr marL="0" indent="0" algn="ctr">
              <a:buNone/>
            </a:pPr>
            <a:r>
              <a:rPr lang="en-US" sz="900" b="1" dirty="0">
                <a:solidFill>
                  <a:srgbClr val="80DEEA"/>
                </a:solidFill>
                <a:latin typeface="Nunito" pitchFamily="34" charset="0"/>
                <a:ea typeface="Nunito" pitchFamily="34" charset="-122"/>
                <a:cs typeface="Nunito" pitchFamily="34" charset="-120"/>
              </a:rPr>
              <a:t>M6</a:t>
            </a:r>
            <a:endParaRPr lang="en-US" sz="900" dirty="0"/>
          </a:p>
        </p:txBody>
      </p:sp>
      <p:sp>
        <p:nvSpPr>
          <p:cNvPr id="19" name="Shape 17"/>
          <p:cNvSpPr/>
          <p:nvPr/>
        </p:nvSpPr>
        <p:spPr>
          <a:xfrm>
            <a:off x="7296912" y="585216"/>
            <a:ext cx="713232" cy="365760"/>
          </a:xfrm>
          <a:prstGeom prst="rect">
            <a:avLst/>
          </a:prstGeom>
          <a:solidFill>
            <a:srgbClr val="1A237E"/>
          </a:solidFill>
          <a:ln w="12700">
            <a:solidFill>
              <a:srgbClr val="1A237E"/>
            </a:solidFill>
            <a:prstDash val="solid"/>
          </a:ln>
        </p:spPr>
      </p:sp>
      <p:sp>
        <p:nvSpPr>
          <p:cNvPr id="20" name="Text 18"/>
          <p:cNvSpPr/>
          <p:nvPr/>
        </p:nvSpPr>
        <p:spPr>
          <a:xfrm>
            <a:off x="7296912" y="676656"/>
            <a:ext cx="713232" cy="219456"/>
          </a:xfrm>
          <a:prstGeom prst="rect">
            <a:avLst/>
          </a:prstGeom>
          <a:noFill/>
          <a:ln/>
        </p:spPr>
        <p:txBody>
          <a:bodyPr wrap="square" lIns="0" tIns="0" rIns="0" bIns="0" rtlCol="0" anchor="ctr"/>
          <a:lstStyle/>
          <a:p>
            <a:pPr marL="0" indent="0" algn="ctr">
              <a:buNone/>
            </a:pPr>
            <a:r>
              <a:rPr lang="en-US" sz="900" b="1" dirty="0">
                <a:solidFill>
                  <a:srgbClr val="80DEEA"/>
                </a:solidFill>
                <a:latin typeface="Nunito" pitchFamily="34" charset="0"/>
                <a:ea typeface="Nunito" pitchFamily="34" charset="-122"/>
                <a:cs typeface="Nunito" pitchFamily="34" charset="-120"/>
              </a:rPr>
              <a:t>M7</a:t>
            </a:r>
            <a:endParaRPr lang="en-US" sz="900" dirty="0"/>
          </a:p>
        </p:txBody>
      </p:sp>
      <p:sp>
        <p:nvSpPr>
          <p:cNvPr id="21" name="Shape 19"/>
          <p:cNvSpPr/>
          <p:nvPr/>
        </p:nvSpPr>
        <p:spPr>
          <a:xfrm>
            <a:off x="8055864" y="585216"/>
            <a:ext cx="713232" cy="365760"/>
          </a:xfrm>
          <a:prstGeom prst="rect">
            <a:avLst/>
          </a:prstGeom>
          <a:solidFill>
            <a:srgbClr val="1A237E"/>
          </a:solidFill>
          <a:ln w="12700">
            <a:solidFill>
              <a:srgbClr val="1A237E"/>
            </a:solidFill>
            <a:prstDash val="solid"/>
          </a:ln>
        </p:spPr>
      </p:sp>
      <p:sp>
        <p:nvSpPr>
          <p:cNvPr id="22" name="Text 20"/>
          <p:cNvSpPr/>
          <p:nvPr/>
        </p:nvSpPr>
        <p:spPr>
          <a:xfrm>
            <a:off x="8055864" y="676656"/>
            <a:ext cx="713232" cy="219456"/>
          </a:xfrm>
          <a:prstGeom prst="rect">
            <a:avLst/>
          </a:prstGeom>
          <a:noFill/>
          <a:ln/>
        </p:spPr>
        <p:txBody>
          <a:bodyPr wrap="square" lIns="0" tIns="0" rIns="0" bIns="0" rtlCol="0" anchor="ctr"/>
          <a:lstStyle/>
          <a:p>
            <a:pPr marL="0" indent="0" algn="ctr">
              <a:buNone/>
            </a:pPr>
            <a:r>
              <a:rPr lang="en-US" sz="900" b="1" dirty="0">
                <a:solidFill>
                  <a:srgbClr val="80DEEA"/>
                </a:solidFill>
                <a:latin typeface="Nunito" pitchFamily="34" charset="0"/>
                <a:ea typeface="Nunito" pitchFamily="34" charset="-122"/>
                <a:cs typeface="Nunito" pitchFamily="34" charset="-120"/>
              </a:rPr>
              <a:t>M8</a:t>
            </a:r>
            <a:endParaRPr lang="en-US" sz="900" dirty="0"/>
          </a:p>
        </p:txBody>
      </p:sp>
      <p:sp>
        <p:nvSpPr>
          <p:cNvPr id="23" name="Shape 21"/>
          <p:cNvSpPr/>
          <p:nvPr/>
        </p:nvSpPr>
        <p:spPr>
          <a:xfrm>
            <a:off x="347472" y="996696"/>
            <a:ext cx="2331720" cy="502920"/>
          </a:xfrm>
          <a:prstGeom prst="rect">
            <a:avLst/>
          </a:prstGeom>
          <a:solidFill>
            <a:srgbClr val="0D1462"/>
          </a:solidFill>
          <a:ln w="12700">
            <a:solidFill>
              <a:srgbClr val="0D1462"/>
            </a:solidFill>
            <a:prstDash val="solid"/>
          </a:ln>
        </p:spPr>
      </p:sp>
      <p:sp>
        <p:nvSpPr>
          <p:cNvPr id="24" name="Shape 22"/>
          <p:cNvSpPr/>
          <p:nvPr/>
        </p:nvSpPr>
        <p:spPr>
          <a:xfrm>
            <a:off x="347472" y="996696"/>
            <a:ext cx="45720" cy="502920"/>
          </a:xfrm>
          <a:prstGeom prst="rect">
            <a:avLst/>
          </a:prstGeom>
          <a:solidFill>
            <a:srgbClr val="00BCD4"/>
          </a:solidFill>
          <a:ln w="12700">
            <a:solidFill>
              <a:srgbClr val="00BCD4"/>
            </a:solidFill>
            <a:prstDash val="solid"/>
          </a:ln>
        </p:spPr>
      </p:sp>
      <p:sp>
        <p:nvSpPr>
          <p:cNvPr id="25" name="Text 23"/>
          <p:cNvSpPr/>
          <p:nvPr/>
        </p:nvSpPr>
        <p:spPr>
          <a:xfrm>
            <a:off x="457200" y="1069848"/>
            <a:ext cx="384048" cy="201168"/>
          </a:xfrm>
          <a:prstGeom prst="rect">
            <a:avLst/>
          </a:prstGeom>
          <a:noFill/>
          <a:ln/>
        </p:spPr>
        <p:txBody>
          <a:bodyPr wrap="square" lIns="0" tIns="0" rIns="0" bIns="0" rtlCol="0" anchor="ctr"/>
          <a:lstStyle/>
          <a:p>
            <a:pPr marL="0" indent="0">
              <a:buNone/>
            </a:pPr>
            <a:r>
              <a:rPr lang="en-US" sz="850" b="1" dirty="0">
                <a:solidFill>
                  <a:srgbClr val="00BCD4"/>
                </a:solidFill>
                <a:latin typeface="Nunito" pitchFamily="34" charset="0"/>
                <a:ea typeface="Nunito" pitchFamily="34" charset="-122"/>
                <a:cs typeface="Nunito" pitchFamily="34" charset="-120"/>
              </a:rPr>
              <a:t>Ph1</a:t>
            </a:r>
            <a:endParaRPr lang="en-US" sz="850" dirty="0"/>
          </a:p>
        </p:txBody>
      </p:sp>
      <p:sp>
        <p:nvSpPr>
          <p:cNvPr id="26" name="Text 24"/>
          <p:cNvSpPr/>
          <p:nvPr/>
        </p:nvSpPr>
        <p:spPr>
          <a:xfrm>
            <a:off x="877824" y="1051560"/>
            <a:ext cx="1764792" cy="4114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Research, Planning &amp; Literature Review</a:t>
            </a:r>
            <a:endParaRPr lang="en-US" sz="900" dirty="0"/>
          </a:p>
        </p:txBody>
      </p:sp>
      <p:sp>
        <p:nvSpPr>
          <p:cNvPr id="27" name="Shape 25"/>
          <p:cNvSpPr/>
          <p:nvPr/>
        </p:nvSpPr>
        <p:spPr>
          <a:xfrm>
            <a:off x="2743200" y="996696"/>
            <a:ext cx="713232" cy="502920"/>
          </a:xfrm>
          <a:prstGeom prst="rect">
            <a:avLst/>
          </a:prstGeom>
          <a:solidFill>
            <a:srgbClr val="0A1145"/>
          </a:solidFill>
          <a:ln w="12700">
            <a:solidFill>
              <a:srgbClr val="0A1145"/>
            </a:solidFill>
            <a:prstDash val="solid"/>
          </a:ln>
        </p:spPr>
      </p:sp>
      <p:sp>
        <p:nvSpPr>
          <p:cNvPr id="28" name="Shape 26"/>
          <p:cNvSpPr/>
          <p:nvPr/>
        </p:nvSpPr>
        <p:spPr>
          <a:xfrm>
            <a:off x="3502152" y="996696"/>
            <a:ext cx="713232" cy="502920"/>
          </a:xfrm>
          <a:prstGeom prst="rect">
            <a:avLst/>
          </a:prstGeom>
          <a:solidFill>
            <a:srgbClr val="0A1145"/>
          </a:solidFill>
          <a:ln w="12700">
            <a:solidFill>
              <a:srgbClr val="0A1145"/>
            </a:solidFill>
            <a:prstDash val="solid"/>
          </a:ln>
        </p:spPr>
      </p:sp>
      <p:sp>
        <p:nvSpPr>
          <p:cNvPr id="29" name="Shape 27"/>
          <p:cNvSpPr/>
          <p:nvPr/>
        </p:nvSpPr>
        <p:spPr>
          <a:xfrm>
            <a:off x="4261104" y="996696"/>
            <a:ext cx="713232" cy="502920"/>
          </a:xfrm>
          <a:prstGeom prst="rect">
            <a:avLst/>
          </a:prstGeom>
          <a:solidFill>
            <a:srgbClr val="0A1145"/>
          </a:solidFill>
          <a:ln w="12700">
            <a:solidFill>
              <a:srgbClr val="0A1145"/>
            </a:solidFill>
            <a:prstDash val="solid"/>
          </a:ln>
        </p:spPr>
      </p:sp>
      <p:sp>
        <p:nvSpPr>
          <p:cNvPr id="30" name="Shape 28"/>
          <p:cNvSpPr/>
          <p:nvPr/>
        </p:nvSpPr>
        <p:spPr>
          <a:xfrm>
            <a:off x="5020056" y="996696"/>
            <a:ext cx="713232" cy="502920"/>
          </a:xfrm>
          <a:prstGeom prst="rect">
            <a:avLst/>
          </a:prstGeom>
          <a:solidFill>
            <a:srgbClr val="0A1145"/>
          </a:solidFill>
          <a:ln w="12700">
            <a:solidFill>
              <a:srgbClr val="0A1145"/>
            </a:solidFill>
            <a:prstDash val="solid"/>
          </a:ln>
        </p:spPr>
      </p:sp>
      <p:sp>
        <p:nvSpPr>
          <p:cNvPr id="31" name="Shape 29"/>
          <p:cNvSpPr/>
          <p:nvPr/>
        </p:nvSpPr>
        <p:spPr>
          <a:xfrm>
            <a:off x="5779008" y="996696"/>
            <a:ext cx="713232" cy="502920"/>
          </a:xfrm>
          <a:prstGeom prst="rect">
            <a:avLst/>
          </a:prstGeom>
          <a:solidFill>
            <a:srgbClr val="0A1145"/>
          </a:solidFill>
          <a:ln w="12700">
            <a:solidFill>
              <a:srgbClr val="0A1145"/>
            </a:solidFill>
            <a:prstDash val="solid"/>
          </a:ln>
        </p:spPr>
      </p:sp>
      <p:sp>
        <p:nvSpPr>
          <p:cNvPr id="32" name="Shape 30"/>
          <p:cNvSpPr/>
          <p:nvPr/>
        </p:nvSpPr>
        <p:spPr>
          <a:xfrm>
            <a:off x="6537960" y="996696"/>
            <a:ext cx="713232" cy="502920"/>
          </a:xfrm>
          <a:prstGeom prst="rect">
            <a:avLst/>
          </a:prstGeom>
          <a:solidFill>
            <a:srgbClr val="0A1145"/>
          </a:solidFill>
          <a:ln w="12700">
            <a:solidFill>
              <a:srgbClr val="0A1145"/>
            </a:solidFill>
            <a:prstDash val="solid"/>
          </a:ln>
        </p:spPr>
      </p:sp>
      <p:sp>
        <p:nvSpPr>
          <p:cNvPr id="33" name="Shape 31"/>
          <p:cNvSpPr/>
          <p:nvPr/>
        </p:nvSpPr>
        <p:spPr>
          <a:xfrm>
            <a:off x="7296912" y="996696"/>
            <a:ext cx="713232" cy="502920"/>
          </a:xfrm>
          <a:prstGeom prst="rect">
            <a:avLst/>
          </a:prstGeom>
          <a:solidFill>
            <a:srgbClr val="0A1145"/>
          </a:solidFill>
          <a:ln w="12700">
            <a:solidFill>
              <a:srgbClr val="0A1145"/>
            </a:solidFill>
            <a:prstDash val="solid"/>
          </a:ln>
        </p:spPr>
      </p:sp>
      <p:sp>
        <p:nvSpPr>
          <p:cNvPr id="34" name="Shape 32"/>
          <p:cNvSpPr/>
          <p:nvPr/>
        </p:nvSpPr>
        <p:spPr>
          <a:xfrm>
            <a:off x="8055864" y="996696"/>
            <a:ext cx="713232" cy="502920"/>
          </a:xfrm>
          <a:prstGeom prst="rect">
            <a:avLst/>
          </a:prstGeom>
          <a:solidFill>
            <a:srgbClr val="0A1145"/>
          </a:solidFill>
          <a:ln w="12700">
            <a:solidFill>
              <a:srgbClr val="0A1145"/>
            </a:solidFill>
            <a:prstDash val="solid"/>
          </a:ln>
        </p:spPr>
      </p:sp>
      <p:sp>
        <p:nvSpPr>
          <p:cNvPr id="35" name="Shape 33"/>
          <p:cNvSpPr/>
          <p:nvPr/>
        </p:nvSpPr>
        <p:spPr>
          <a:xfrm>
            <a:off x="2788920" y="1088136"/>
            <a:ext cx="667512" cy="301752"/>
          </a:xfrm>
          <a:prstGeom prst="rect">
            <a:avLst/>
          </a:prstGeom>
          <a:solidFill>
            <a:srgbClr val="00BCD4">
              <a:alpha val="72000"/>
            </a:srgbClr>
          </a:solidFill>
          <a:ln w="12700">
            <a:solidFill>
              <a:srgbClr val="00BCD4"/>
            </a:solidFill>
            <a:prstDash val="solid"/>
          </a:ln>
        </p:spPr>
      </p:sp>
      <p:sp>
        <p:nvSpPr>
          <p:cNvPr id="36" name="Shape 34"/>
          <p:cNvSpPr/>
          <p:nvPr/>
        </p:nvSpPr>
        <p:spPr>
          <a:xfrm>
            <a:off x="347472" y="1545336"/>
            <a:ext cx="2331720" cy="502920"/>
          </a:xfrm>
          <a:prstGeom prst="rect">
            <a:avLst/>
          </a:prstGeom>
          <a:solidFill>
            <a:srgbClr val="0D1462"/>
          </a:solidFill>
          <a:ln w="12700">
            <a:solidFill>
              <a:srgbClr val="0D1462"/>
            </a:solidFill>
            <a:prstDash val="solid"/>
          </a:ln>
        </p:spPr>
      </p:sp>
      <p:sp>
        <p:nvSpPr>
          <p:cNvPr id="37" name="Shape 35"/>
          <p:cNvSpPr/>
          <p:nvPr/>
        </p:nvSpPr>
        <p:spPr>
          <a:xfrm>
            <a:off x="347472" y="1545336"/>
            <a:ext cx="45720" cy="502920"/>
          </a:xfrm>
          <a:prstGeom prst="rect">
            <a:avLst/>
          </a:prstGeom>
          <a:solidFill>
            <a:srgbClr val="00E5FF"/>
          </a:solidFill>
          <a:ln w="12700">
            <a:solidFill>
              <a:srgbClr val="00E5FF"/>
            </a:solidFill>
            <a:prstDash val="solid"/>
          </a:ln>
        </p:spPr>
      </p:sp>
      <p:sp>
        <p:nvSpPr>
          <p:cNvPr id="38" name="Text 36"/>
          <p:cNvSpPr/>
          <p:nvPr/>
        </p:nvSpPr>
        <p:spPr>
          <a:xfrm>
            <a:off x="457200" y="1618488"/>
            <a:ext cx="384048" cy="201168"/>
          </a:xfrm>
          <a:prstGeom prst="rect">
            <a:avLst/>
          </a:prstGeom>
          <a:noFill/>
          <a:ln/>
        </p:spPr>
        <p:txBody>
          <a:bodyPr wrap="square" lIns="0" tIns="0" rIns="0" bIns="0" rtlCol="0" anchor="ctr"/>
          <a:lstStyle/>
          <a:p>
            <a:pPr marL="0" indent="0">
              <a:buNone/>
            </a:pPr>
            <a:r>
              <a:rPr lang="en-US" sz="850" b="1" dirty="0">
                <a:solidFill>
                  <a:srgbClr val="00E5FF"/>
                </a:solidFill>
                <a:latin typeface="Nunito" pitchFamily="34" charset="0"/>
                <a:ea typeface="Nunito" pitchFamily="34" charset="-122"/>
                <a:cs typeface="Nunito" pitchFamily="34" charset="-120"/>
              </a:rPr>
              <a:t>Ph2</a:t>
            </a:r>
            <a:endParaRPr lang="en-US" sz="850" dirty="0"/>
          </a:p>
        </p:txBody>
      </p:sp>
      <p:sp>
        <p:nvSpPr>
          <p:cNvPr id="39" name="Text 37"/>
          <p:cNvSpPr/>
          <p:nvPr/>
        </p:nvSpPr>
        <p:spPr>
          <a:xfrm>
            <a:off x="877824" y="1600200"/>
            <a:ext cx="1764792" cy="4114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Hardware Procurement &amp; System Setup</a:t>
            </a:r>
            <a:endParaRPr lang="en-US" sz="900" dirty="0"/>
          </a:p>
        </p:txBody>
      </p:sp>
      <p:sp>
        <p:nvSpPr>
          <p:cNvPr id="40" name="Shape 38"/>
          <p:cNvSpPr/>
          <p:nvPr/>
        </p:nvSpPr>
        <p:spPr>
          <a:xfrm>
            <a:off x="2743200" y="1545336"/>
            <a:ext cx="713232" cy="502920"/>
          </a:xfrm>
          <a:prstGeom prst="rect">
            <a:avLst/>
          </a:prstGeom>
          <a:solidFill>
            <a:srgbClr val="0A1145"/>
          </a:solidFill>
          <a:ln w="12700">
            <a:solidFill>
              <a:srgbClr val="0A1145"/>
            </a:solidFill>
            <a:prstDash val="solid"/>
          </a:ln>
        </p:spPr>
      </p:sp>
      <p:sp>
        <p:nvSpPr>
          <p:cNvPr id="41" name="Shape 39"/>
          <p:cNvSpPr/>
          <p:nvPr/>
        </p:nvSpPr>
        <p:spPr>
          <a:xfrm>
            <a:off x="3502152" y="1545336"/>
            <a:ext cx="713232" cy="502920"/>
          </a:xfrm>
          <a:prstGeom prst="rect">
            <a:avLst/>
          </a:prstGeom>
          <a:solidFill>
            <a:srgbClr val="0A1145"/>
          </a:solidFill>
          <a:ln w="12700">
            <a:solidFill>
              <a:srgbClr val="0A1145"/>
            </a:solidFill>
            <a:prstDash val="solid"/>
          </a:ln>
        </p:spPr>
      </p:sp>
      <p:sp>
        <p:nvSpPr>
          <p:cNvPr id="42" name="Shape 40"/>
          <p:cNvSpPr/>
          <p:nvPr/>
        </p:nvSpPr>
        <p:spPr>
          <a:xfrm>
            <a:off x="4261104" y="1545336"/>
            <a:ext cx="713232" cy="502920"/>
          </a:xfrm>
          <a:prstGeom prst="rect">
            <a:avLst/>
          </a:prstGeom>
          <a:solidFill>
            <a:srgbClr val="0A1145"/>
          </a:solidFill>
          <a:ln w="12700">
            <a:solidFill>
              <a:srgbClr val="0A1145"/>
            </a:solidFill>
            <a:prstDash val="solid"/>
          </a:ln>
        </p:spPr>
      </p:sp>
      <p:sp>
        <p:nvSpPr>
          <p:cNvPr id="43" name="Shape 41"/>
          <p:cNvSpPr/>
          <p:nvPr/>
        </p:nvSpPr>
        <p:spPr>
          <a:xfrm>
            <a:off x="5020056" y="1545336"/>
            <a:ext cx="713232" cy="502920"/>
          </a:xfrm>
          <a:prstGeom prst="rect">
            <a:avLst/>
          </a:prstGeom>
          <a:solidFill>
            <a:srgbClr val="0A1145"/>
          </a:solidFill>
          <a:ln w="12700">
            <a:solidFill>
              <a:srgbClr val="0A1145"/>
            </a:solidFill>
            <a:prstDash val="solid"/>
          </a:ln>
        </p:spPr>
      </p:sp>
      <p:sp>
        <p:nvSpPr>
          <p:cNvPr id="44" name="Shape 42"/>
          <p:cNvSpPr/>
          <p:nvPr/>
        </p:nvSpPr>
        <p:spPr>
          <a:xfrm>
            <a:off x="5779008" y="1545336"/>
            <a:ext cx="713232" cy="502920"/>
          </a:xfrm>
          <a:prstGeom prst="rect">
            <a:avLst/>
          </a:prstGeom>
          <a:solidFill>
            <a:srgbClr val="0A1145"/>
          </a:solidFill>
          <a:ln w="12700">
            <a:solidFill>
              <a:srgbClr val="0A1145"/>
            </a:solidFill>
            <a:prstDash val="solid"/>
          </a:ln>
        </p:spPr>
      </p:sp>
      <p:sp>
        <p:nvSpPr>
          <p:cNvPr id="45" name="Shape 43"/>
          <p:cNvSpPr/>
          <p:nvPr/>
        </p:nvSpPr>
        <p:spPr>
          <a:xfrm>
            <a:off x="6537960" y="1545336"/>
            <a:ext cx="713232" cy="502920"/>
          </a:xfrm>
          <a:prstGeom prst="rect">
            <a:avLst/>
          </a:prstGeom>
          <a:solidFill>
            <a:srgbClr val="0A1145"/>
          </a:solidFill>
          <a:ln w="12700">
            <a:solidFill>
              <a:srgbClr val="0A1145"/>
            </a:solidFill>
            <a:prstDash val="solid"/>
          </a:ln>
        </p:spPr>
      </p:sp>
      <p:sp>
        <p:nvSpPr>
          <p:cNvPr id="46" name="Shape 44"/>
          <p:cNvSpPr/>
          <p:nvPr/>
        </p:nvSpPr>
        <p:spPr>
          <a:xfrm>
            <a:off x="7296912" y="1545336"/>
            <a:ext cx="713232" cy="502920"/>
          </a:xfrm>
          <a:prstGeom prst="rect">
            <a:avLst/>
          </a:prstGeom>
          <a:solidFill>
            <a:srgbClr val="0A1145"/>
          </a:solidFill>
          <a:ln w="12700">
            <a:solidFill>
              <a:srgbClr val="0A1145"/>
            </a:solidFill>
            <a:prstDash val="solid"/>
          </a:ln>
        </p:spPr>
      </p:sp>
      <p:sp>
        <p:nvSpPr>
          <p:cNvPr id="47" name="Shape 45"/>
          <p:cNvSpPr/>
          <p:nvPr/>
        </p:nvSpPr>
        <p:spPr>
          <a:xfrm>
            <a:off x="8055864" y="1545336"/>
            <a:ext cx="713232" cy="502920"/>
          </a:xfrm>
          <a:prstGeom prst="rect">
            <a:avLst/>
          </a:prstGeom>
          <a:solidFill>
            <a:srgbClr val="0A1145"/>
          </a:solidFill>
          <a:ln w="12700">
            <a:solidFill>
              <a:srgbClr val="0A1145"/>
            </a:solidFill>
            <a:prstDash val="solid"/>
          </a:ln>
        </p:spPr>
      </p:sp>
      <p:sp>
        <p:nvSpPr>
          <p:cNvPr id="48" name="Shape 46"/>
          <p:cNvSpPr/>
          <p:nvPr/>
        </p:nvSpPr>
        <p:spPr>
          <a:xfrm>
            <a:off x="3547872" y="1636776"/>
            <a:ext cx="667512" cy="301752"/>
          </a:xfrm>
          <a:prstGeom prst="rect">
            <a:avLst/>
          </a:prstGeom>
          <a:solidFill>
            <a:srgbClr val="00E5FF">
              <a:alpha val="72000"/>
            </a:srgbClr>
          </a:solidFill>
          <a:ln w="12700">
            <a:solidFill>
              <a:srgbClr val="00E5FF"/>
            </a:solidFill>
            <a:prstDash val="solid"/>
          </a:ln>
        </p:spPr>
      </p:sp>
      <p:sp>
        <p:nvSpPr>
          <p:cNvPr id="49" name="Shape 47"/>
          <p:cNvSpPr/>
          <p:nvPr/>
        </p:nvSpPr>
        <p:spPr>
          <a:xfrm>
            <a:off x="347472" y="2093976"/>
            <a:ext cx="2331720" cy="502920"/>
          </a:xfrm>
          <a:prstGeom prst="rect">
            <a:avLst/>
          </a:prstGeom>
          <a:solidFill>
            <a:srgbClr val="0D1462"/>
          </a:solidFill>
          <a:ln w="12700">
            <a:solidFill>
              <a:srgbClr val="0D1462"/>
            </a:solidFill>
            <a:prstDash val="solid"/>
          </a:ln>
        </p:spPr>
      </p:sp>
      <p:sp>
        <p:nvSpPr>
          <p:cNvPr id="50" name="Shape 48"/>
          <p:cNvSpPr/>
          <p:nvPr/>
        </p:nvSpPr>
        <p:spPr>
          <a:xfrm>
            <a:off x="347472" y="2093976"/>
            <a:ext cx="45720" cy="502920"/>
          </a:xfrm>
          <a:prstGeom prst="rect">
            <a:avLst/>
          </a:prstGeom>
          <a:solidFill>
            <a:srgbClr val="FF7043"/>
          </a:solidFill>
          <a:ln w="12700">
            <a:solidFill>
              <a:srgbClr val="FF7043"/>
            </a:solidFill>
            <a:prstDash val="solid"/>
          </a:ln>
        </p:spPr>
      </p:sp>
      <p:sp>
        <p:nvSpPr>
          <p:cNvPr id="51" name="Text 49"/>
          <p:cNvSpPr/>
          <p:nvPr/>
        </p:nvSpPr>
        <p:spPr>
          <a:xfrm>
            <a:off x="457200" y="2167128"/>
            <a:ext cx="384048" cy="201168"/>
          </a:xfrm>
          <a:prstGeom prst="rect">
            <a:avLst/>
          </a:prstGeom>
          <a:noFill/>
          <a:ln/>
        </p:spPr>
        <p:txBody>
          <a:bodyPr wrap="square" lIns="0" tIns="0" rIns="0" bIns="0" rtlCol="0" anchor="ctr"/>
          <a:lstStyle/>
          <a:p>
            <a:pPr marL="0" indent="0">
              <a:buNone/>
            </a:pPr>
            <a:r>
              <a:rPr lang="en-US" sz="850" b="1" dirty="0">
                <a:solidFill>
                  <a:srgbClr val="FF7043"/>
                </a:solidFill>
                <a:latin typeface="Nunito" pitchFamily="34" charset="0"/>
                <a:ea typeface="Nunito" pitchFamily="34" charset="-122"/>
                <a:cs typeface="Nunito" pitchFamily="34" charset="-120"/>
              </a:rPr>
              <a:t>Ph3</a:t>
            </a:r>
            <a:endParaRPr lang="en-US" sz="850" dirty="0"/>
          </a:p>
        </p:txBody>
      </p:sp>
      <p:sp>
        <p:nvSpPr>
          <p:cNvPr id="52" name="Text 50"/>
          <p:cNvSpPr/>
          <p:nvPr/>
        </p:nvSpPr>
        <p:spPr>
          <a:xfrm>
            <a:off x="877824" y="2148840"/>
            <a:ext cx="1764792" cy="4114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Data [Brain Signal] Collection</a:t>
            </a:r>
            <a:endParaRPr lang="en-US" sz="900" dirty="0"/>
          </a:p>
        </p:txBody>
      </p:sp>
      <p:sp>
        <p:nvSpPr>
          <p:cNvPr id="53" name="Shape 51"/>
          <p:cNvSpPr/>
          <p:nvPr/>
        </p:nvSpPr>
        <p:spPr>
          <a:xfrm>
            <a:off x="2743200" y="2093976"/>
            <a:ext cx="713232" cy="502920"/>
          </a:xfrm>
          <a:prstGeom prst="rect">
            <a:avLst/>
          </a:prstGeom>
          <a:solidFill>
            <a:srgbClr val="0A1145"/>
          </a:solidFill>
          <a:ln w="12700">
            <a:solidFill>
              <a:srgbClr val="0A1145"/>
            </a:solidFill>
            <a:prstDash val="solid"/>
          </a:ln>
        </p:spPr>
      </p:sp>
      <p:sp>
        <p:nvSpPr>
          <p:cNvPr id="54" name="Shape 52"/>
          <p:cNvSpPr/>
          <p:nvPr/>
        </p:nvSpPr>
        <p:spPr>
          <a:xfrm>
            <a:off x="3502152" y="2093976"/>
            <a:ext cx="713232" cy="502920"/>
          </a:xfrm>
          <a:prstGeom prst="rect">
            <a:avLst/>
          </a:prstGeom>
          <a:solidFill>
            <a:srgbClr val="0A1145"/>
          </a:solidFill>
          <a:ln w="12700">
            <a:solidFill>
              <a:srgbClr val="0A1145"/>
            </a:solidFill>
            <a:prstDash val="solid"/>
          </a:ln>
        </p:spPr>
      </p:sp>
      <p:sp>
        <p:nvSpPr>
          <p:cNvPr id="55" name="Shape 53"/>
          <p:cNvSpPr/>
          <p:nvPr/>
        </p:nvSpPr>
        <p:spPr>
          <a:xfrm>
            <a:off x="4261104" y="2093976"/>
            <a:ext cx="713232" cy="502920"/>
          </a:xfrm>
          <a:prstGeom prst="rect">
            <a:avLst/>
          </a:prstGeom>
          <a:solidFill>
            <a:srgbClr val="0A1145"/>
          </a:solidFill>
          <a:ln w="12700">
            <a:solidFill>
              <a:srgbClr val="0A1145"/>
            </a:solidFill>
            <a:prstDash val="solid"/>
          </a:ln>
        </p:spPr>
      </p:sp>
      <p:sp>
        <p:nvSpPr>
          <p:cNvPr id="56" name="Shape 54"/>
          <p:cNvSpPr/>
          <p:nvPr/>
        </p:nvSpPr>
        <p:spPr>
          <a:xfrm>
            <a:off x="5020056" y="2093976"/>
            <a:ext cx="713232" cy="502920"/>
          </a:xfrm>
          <a:prstGeom prst="rect">
            <a:avLst/>
          </a:prstGeom>
          <a:solidFill>
            <a:srgbClr val="0A1145"/>
          </a:solidFill>
          <a:ln w="12700">
            <a:solidFill>
              <a:srgbClr val="0A1145"/>
            </a:solidFill>
            <a:prstDash val="solid"/>
          </a:ln>
        </p:spPr>
      </p:sp>
      <p:sp>
        <p:nvSpPr>
          <p:cNvPr id="57" name="Shape 55"/>
          <p:cNvSpPr/>
          <p:nvPr/>
        </p:nvSpPr>
        <p:spPr>
          <a:xfrm>
            <a:off x="5779008" y="2093976"/>
            <a:ext cx="713232" cy="502920"/>
          </a:xfrm>
          <a:prstGeom prst="rect">
            <a:avLst/>
          </a:prstGeom>
          <a:solidFill>
            <a:srgbClr val="0A1145"/>
          </a:solidFill>
          <a:ln w="12700">
            <a:solidFill>
              <a:srgbClr val="0A1145"/>
            </a:solidFill>
            <a:prstDash val="solid"/>
          </a:ln>
        </p:spPr>
      </p:sp>
      <p:sp>
        <p:nvSpPr>
          <p:cNvPr id="58" name="Shape 56"/>
          <p:cNvSpPr/>
          <p:nvPr/>
        </p:nvSpPr>
        <p:spPr>
          <a:xfrm>
            <a:off x="6537960" y="2093976"/>
            <a:ext cx="713232" cy="502920"/>
          </a:xfrm>
          <a:prstGeom prst="rect">
            <a:avLst/>
          </a:prstGeom>
          <a:solidFill>
            <a:srgbClr val="0A1145"/>
          </a:solidFill>
          <a:ln w="12700">
            <a:solidFill>
              <a:srgbClr val="0A1145"/>
            </a:solidFill>
            <a:prstDash val="solid"/>
          </a:ln>
        </p:spPr>
      </p:sp>
      <p:sp>
        <p:nvSpPr>
          <p:cNvPr id="59" name="Shape 57"/>
          <p:cNvSpPr/>
          <p:nvPr/>
        </p:nvSpPr>
        <p:spPr>
          <a:xfrm>
            <a:off x="7296912" y="2093976"/>
            <a:ext cx="713232" cy="502920"/>
          </a:xfrm>
          <a:prstGeom prst="rect">
            <a:avLst/>
          </a:prstGeom>
          <a:solidFill>
            <a:srgbClr val="0A1145"/>
          </a:solidFill>
          <a:ln w="12700">
            <a:solidFill>
              <a:srgbClr val="0A1145"/>
            </a:solidFill>
            <a:prstDash val="solid"/>
          </a:ln>
        </p:spPr>
      </p:sp>
      <p:sp>
        <p:nvSpPr>
          <p:cNvPr id="60" name="Shape 58"/>
          <p:cNvSpPr/>
          <p:nvPr/>
        </p:nvSpPr>
        <p:spPr>
          <a:xfrm>
            <a:off x="8055864" y="2093976"/>
            <a:ext cx="713232" cy="502920"/>
          </a:xfrm>
          <a:prstGeom prst="rect">
            <a:avLst/>
          </a:prstGeom>
          <a:solidFill>
            <a:srgbClr val="0A1145"/>
          </a:solidFill>
          <a:ln w="12700">
            <a:solidFill>
              <a:srgbClr val="0A1145"/>
            </a:solidFill>
            <a:prstDash val="solid"/>
          </a:ln>
        </p:spPr>
      </p:sp>
      <p:sp>
        <p:nvSpPr>
          <p:cNvPr id="61" name="Shape 59"/>
          <p:cNvSpPr/>
          <p:nvPr/>
        </p:nvSpPr>
        <p:spPr>
          <a:xfrm>
            <a:off x="4306824" y="2185416"/>
            <a:ext cx="1426464" cy="301752"/>
          </a:xfrm>
          <a:prstGeom prst="rect">
            <a:avLst/>
          </a:prstGeom>
          <a:solidFill>
            <a:srgbClr val="FF7043">
              <a:alpha val="72000"/>
            </a:srgbClr>
          </a:solidFill>
          <a:ln w="12700">
            <a:solidFill>
              <a:srgbClr val="FF7043"/>
            </a:solidFill>
            <a:prstDash val="solid"/>
          </a:ln>
        </p:spPr>
      </p:sp>
      <p:sp>
        <p:nvSpPr>
          <p:cNvPr id="62" name="Shape 60"/>
          <p:cNvSpPr/>
          <p:nvPr/>
        </p:nvSpPr>
        <p:spPr>
          <a:xfrm>
            <a:off x="347472" y="2642616"/>
            <a:ext cx="2331720" cy="502920"/>
          </a:xfrm>
          <a:prstGeom prst="rect">
            <a:avLst/>
          </a:prstGeom>
          <a:solidFill>
            <a:srgbClr val="0D1462"/>
          </a:solidFill>
          <a:ln w="12700">
            <a:solidFill>
              <a:srgbClr val="0D1462"/>
            </a:solidFill>
            <a:prstDash val="solid"/>
          </a:ln>
        </p:spPr>
      </p:sp>
      <p:sp>
        <p:nvSpPr>
          <p:cNvPr id="63" name="Shape 61"/>
          <p:cNvSpPr/>
          <p:nvPr/>
        </p:nvSpPr>
        <p:spPr>
          <a:xfrm>
            <a:off x="347472" y="2642616"/>
            <a:ext cx="45720" cy="502920"/>
          </a:xfrm>
          <a:prstGeom prst="rect">
            <a:avLst/>
          </a:prstGeom>
          <a:solidFill>
            <a:srgbClr val="FFB300"/>
          </a:solidFill>
          <a:ln w="12700">
            <a:solidFill>
              <a:srgbClr val="FFB300"/>
            </a:solidFill>
            <a:prstDash val="solid"/>
          </a:ln>
        </p:spPr>
      </p:sp>
      <p:sp>
        <p:nvSpPr>
          <p:cNvPr id="64" name="Text 62"/>
          <p:cNvSpPr/>
          <p:nvPr/>
        </p:nvSpPr>
        <p:spPr>
          <a:xfrm>
            <a:off x="457200" y="2715768"/>
            <a:ext cx="384048" cy="201168"/>
          </a:xfrm>
          <a:prstGeom prst="rect">
            <a:avLst/>
          </a:prstGeom>
          <a:noFill/>
          <a:ln/>
        </p:spPr>
        <p:txBody>
          <a:bodyPr wrap="square" lIns="0" tIns="0" rIns="0" bIns="0" rtlCol="0" anchor="ctr"/>
          <a:lstStyle/>
          <a:p>
            <a:pPr marL="0" indent="0">
              <a:buNone/>
            </a:pPr>
            <a:r>
              <a:rPr lang="en-US" sz="850" b="1" dirty="0">
                <a:solidFill>
                  <a:srgbClr val="FFB300"/>
                </a:solidFill>
                <a:latin typeface="Nunito" pitchFamily="34" charset="0"/>
                <a:ea typeface="Nunito" pitchFamily="34" charset="-122"/>
                <a:cs typeface="Nunito" pitchFamily="34" charset="-120"/>
              </a:rPr>
              <a:t>Ph4</a:t>
            </a:r>
            <a:endParaRPr lang="en-US" sz="850" dirty="0"/>
          </a:p>
        </p:txBody>
      </p:sp>
      <p:sp>
        <p:nvSpPr>
          <p:cNvPr id="65" name="Text 63"/>
          <p:cNvSpPr/>
          <p:nvPr/>
        </p:nvSpPr>
        <p:spPr>
          <a:xfrm>
            <a:off x="877824" y="2697480"/>
            <a:ext cx="1764792" cy="4114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System Analysis &amp; AI Model Training</a:t>
            </a:r>
            <a:endParaRPr lang="en-US" sz="900" dirty="0"/>
          </a:p>
        </p:txBody>
      </p:sp>
      <p:sp>
        <p:nvSpPr>
          <p:cNvPr id="66" name="Shape 64"/>
          <p:cNvSpPr/>
          <p:nvPr/>
        </p:nvSpPr>
        <p:spPr>
          <a:xfrm>
            <a:off x="2743200" y="2642616"/>
            <a:ext cx="713232" cy="502920"/>
          </a:xfrm>
          <a:prstGeom prst="rect">
            <a:avLst/>
          </a:prstGeom>
          <a:solidFill>
            <a:srgbClr val="0A1145"/>
          </a:solidFill>
          <a:ln w="12700">
            <a:solidFill>
              <a:srgbClr val="0A1145"/>
            </a:solidFill>
            <a:prstDash val="solid"/>
          </a:ln>
        </p:spPr>
      </p:sp>
      <p:sp>
        <p:nvSpPr>
          <p:cNvPr id="67" name="Shape 65"/>
          <p:cNvSpPr/>
          <p:nvPr/>
        </p:nvSpPr>
        <p:spPr>
          <a:xfrm>
            <a:off x="3502152" y="2642616"/>
            <a:ext cx="713232" cy="502920"/>
          </a:xfrm>
          <a:prstGeom prst="rect">
            <a:avLst/>
          </a:prstGeom>
          <a:solidFill>
            <a:srgbClr val="0A1145"/>
          </a:solidFill>
          <a:ln w="12700">
            <a:solidFill>
              <a:srgbClr val="0A1145"/>
            </a:solidFill>
            <a:prstDash val="solid"/>
          </a:ln>
        </p:spPr>
      </p:sp>
      <p:sp>
        <p:nvSpPr>
          <p:cNvPr id="68" name="Shape 66"/>
          <p:cNvSpPr/>
          <p:nvPr/>
        </p:nvSpPr>
        <p:spPr>
          <a:xfrm>
            <a:off x="4261104" y="2642616"/>
            <a:ext cx="713232" cy="502920"/>
          </a:xfrm>
          <a:prstGeom prst="rect">
            <a:avLst/>
          </a:prstGeom>
          <a:solidFill>
            <a:srgbClr val="0A1145"/>
          </a:solidFill>
          <a:ln w="12700">
            <a:solidFill>
              <a:srgbClr val="0A1145"/>
            </a:solidFill>
            <a:prstDash val="solid"/>
          </a:ln>
        </p:spPr>
      </p:sp>
      <p:sp>
        <p:nvSpPr>
          <p:cNvPr id="69" name="Shape 67"/>
          <p:cNvSpPr/>
          <p:nvPr/>
        </p:nvSpPr>
        <p:spPr>
          <a:xfrm>
            <a:off x="5020056" y="2642616"/>
            <a:ext cx="713232" cy="502920"/>
          </a:xfrm>
          <a:prstGeom prst="rect">
            <a:avLst/>
          </a:prstGeom>
          <a:solidFill>
            <a:srgbClr val="0A1145"/>
          </a:solidFill>
          <a:ln w="12700">
            <a:solidFill>
              <a:srgbClr val="0A1145"/>
            </a:solidFill>
            <a:prstDash val="solid"/>
          </a:ln>
        </p:spPr>
      </p:sp>
      <p:sp>
        <p:nvSpPr>
          <p:cNvPr id="70" name="Shape 68"/>
          <p:cNvSpPr/>
          <p:nvPr/>
        </p:nvSpPr>
        <p:spPr>
          <a:xfrm>
            <a:off x="5779008" y="2642616"/>
            <a:ext cx="713232" cy="502920"/>
          </a:xfrm>
          <a:prstGeom prst="rect">
            <a:avLst/>
          </a:prstGeom>
          <a:solidFill>
            <a:srgbClr val="0A1145"/>
          </a:solidFill>
          <a:ln w="12700">
            <a:solidFill>
              <a:srgbClr val="0A1145"/>
            </a:solidFill>
            <a:prstDash val="solid"/>
          </a:ln>
        </p:spPr>
      </p:sp>
      <p:sp>
        <p:nvSpPr>
          <p:cNvPr id="71" name="Shape 69"/>
          <p:cNvSpPr/>
          <p:nvPr/>
        </p:nvSpPr>
        <p:spPr>
          <a:xfrm>
            <a:off x="6537960" y="2642616"/>
            <a:ext cx="713232" cy="502920"/>
          </a:xfrm>
          <a:prstGeom prst="rect">
            <a:avLst/>
          </a:prstGeom>
          <a:solidFill>
            <a:srgbClr val="0A1145"/>
          </a:solidFill>
          <a:ln w="12700">
            <a:solidFill>
              <a:srgbClr val="0A1145"/>
            </a:solidFill>
            <a:prstDash val="solid"/>
          </a:ln>
        </p:spPr>
      </p:sp>
      <p:sp>
        <p:nvSpPr>
          <p:cNvPr id="72" name="Shape 70"/>
          <p:cNvSpPr/>
          <p:nvPr/>
        </p:nvSpPr>
        <p:spPr>
          <a:xfrm>
            <a:off x="7296912" y="2642616"/>
            <a:ext cx="713232" cy="502920"/>
          </a:xfrm>
          <a:prstGeom prst="rect">
            <a:avLst/>
          </a:prstGeom>
          <a:solidFill>
            <a:srgbClr val="0A1145"/>
          </a:solidFill>
          <a:ln w="12700">
            <a:solidFill>
              <a:srgbClr val="0A1145"/>
            </a:solidFill>
            <a:prstDash val="solid"/>
          </a:ln>
        </p:spPr>
      </p:sp>
      <p:sp>
        <p:nvSpPr>
          <p:cNvPr id="73" name="Shape 71"/>
          <p:cNvSpPr/>
          <p:nvPr/>
        </p:nvSpPr>
        <p:spPr>
          <a:xfrm>
            <a:off x="8055864" y="2642616"/>
            <a:ext cx="713232" cy="502920"/>
          </a:xfrm>
          <a:prstGeom prst="rect">
            <a:avLst/>
          </a:prstGeom>
          <a:solidFill>
            <a:srgbClr val="0A1145"/>
          </a:solidFill>
          <a:ln w="12700">
            <a:solidFill>
              <a:srgbClr val="0A1145"/>
            </a:solidFill>
            <a:prstDash val="solid"/>
          </a:ln>
        </p:spPr>
      </p:sp>
      <p:sp>
        <p:nvSpPr>
          <p:cNvPr id="74" name="Shape 72"/>
          <p:cNvSpPr/>
          <p:nvPr/>
        </p:nvSpPr>
        <p:spPr>
          <a:xfrm>
            <a:off x="5824728" y="2734056"/>
            <a:ext cx="667512" cy="301752"/>
          </a:xfrm>
          <a:prstGeom prst="rect">
            <a:avLst/>
          </a:prstGeom>
          <a:solidFill>
            <a:srgbClr val="FFB300">
              <a:alpha val="72000"/>
            </a:srgbClr>
          </a:solidFill>
          <a:ln w="12700">
            <a:solidFill>
              <a:srgbClr val="FFB300"/>
            </a:solidFill>
            <a:prstDash val="solid"/>
          </a:ln>
        </p:spPr>
      </p:sp>
      <p:sp>
        <p:nvSpPr>
          <p:cNvPr id="75" name="Shape 73"/>
          <p:cNvSpPr/>
          <p:nvPr/>
        </p:nvSpPr>
        <p:spPr>
          <a:xfrm>
            <a:off x="347472" y="3191256"/>
            <a:ext cx="2331720" cy="502920"/>
          </a:xfrm>
          <a:prstGeom prst="rect">
            <a:avLst/>
          </a:prstGeom>
          <a:solidFill>
            <a:srgbClr val="0D1462"/>
          </a:solidFill>
          <a:ln w="12700">
            <a:solidFill>
              <a:srgbClr val="0D1462"/>
            </a:solidFill>
            <a:prstDash val="solid"/>
          </a:ln>
        </p:spPr>
      </p:sp>
      <p:sp>
        <p:nvSpPr>
          <p:cNvPr id="76" name="Shape 74"/>
          <p:cNvSpPr/>
          <p:nvPr/>
        </p:nvSpPr>
        <p:spPr>
          <a:xfrm>
            <a:off x="347472" y="3191256"/>
            <a:ext cx="45720" cy="502920"/>
          </a:xfrm>
          <a:prstGeom prst="rect">
            <a:avLst/>
          </a:prstGeom>
          <a:solidFill>
            <a:srgbClr val="00BCD4"/>
          </a:solidFill>
          <a:ln w="12700">
            <a:solidFill>
              <a:srgbClr val="00BCD4"/>
            </a:solidFill>
            <a:prstDash val="solid"/>
          </a:ln>
        </p:spPr>
      </p:sp>
      <p:sp>
        <p:nvSpPr>
          <p:cNvPr id="77" name="Text 75"/>
          <p:cNvSpPr/>
          <p:nvPr/>
        </p:nvSpPr>
        <p:spPr>
          <a:xfrm>
            <a:off x="457200" y="3264408"/>
            <a:ext cx="384048" cy="201168"/>
          </a:xfrm>
          <a:prstGeom prst="rect">
            <a:avLst/>
          </a:prstGeom>
          <a:noFill/>
          <a:ln/>
        </p:spPr>
        <p:txBody>
          <a:bodyPr wrap="square" lIns="0" tIns="0" rIns="0" bIns="0" rtlCol="0" anchor="ctr"/>
          <a:lstStyle/>
          <a:p>
            <a:pPr marL="0" indent="0">
              <a:buNone/>
            </a:pPr>
            <a:r>
              <a:rPr lang="en-US" sz="850" b="1" dirty="0">
                <a:solidFill>
                  <a:srgbClr val="00BCD4"/>
                </a:solidFill>
                <a:latin typeface="Nunito" pitchFamily="34" charset="0"/>
                <a:ea typeface="Nunito" pitchFamily="34" charset="-122"/>
                <a:cs typeface="Nunito" pitchFamily="34" charset="-120"/>
              </a:rPr>
              <a:t>Ph5</a:t>
            </a:r>
            <a:endParaRPr lang="en-US" sz="850" dirty="0"/>
          </a:p>
        </p:txBody>
      </p:sp>
      <p:sp>
        <p:nvSpPr>
          <p:cNvPr id="78" name="Text 76"/>
          <p:cNvSpPr/>
          <p:nvPr/>
        </p:nvSpPr>
        <p:spPr>
          <a:xfrm>
            <a:off x="877824" y="3246120"/>
            <a:ext cx="1764792" cy="4114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Prototype Development</a:t>
            </a:r>
            <a:endParaRPr lang="en-US" sz="900" dirty="0"/>
          </a:p>
        </p:txBody>
      </p:sp>
      <p:sp>
        <p:nvSpPr>
          <p:cNvPr id="79" name="Shape 77"/>
          <p:cNvSpPr/>
          <p:nvPr/>
        </p:nvSpPr>
        <p:spPr>
          <a:xfrm>
            <a:off x="2743200" y="3191256"/>
            <a:ext cx="713232" cy="502920"/>
          </a:xfrm>
          <a:prstGeom prst="rect">
            <a:avLst/>
          </a:prstGeom>
          <a:solidFill>
            <a:srgbClr val="0A1145"/>
          </a:solidFill>
          <a:ln w="12700">
            <a:solidFill>
              <a:srgbClr val="0A1145"/>
            </a:solidFill>
            <a:prstDash val="solid"/>
          </a:ln>
        </p:spPr>
      </p:sp>
      <p:sp>
        <p:nvSpPr>
          <p:cNvPr id="80" name="Shape 78"/>
          <p:cNvSpPr/>
          <p:nvPr/>
        </p:nvSpPr>
        <p:spPr>
          <a:xfrm>
            <a:off x="3502152" y="3191256"/>
            <a:ext cx="713232" cy="502920"/>
          </a:xfrm>
          <a:prstGeom prst="rect">
            <a:avLst/>
          </a:prstGeom>
          <a:solidFill>
            <a:srgbClr val="0A1145"/>
          </a:solidFill>
          <a:ln w="12700">
            <a:solidFill>
              <a:srgbClr val="0A1145"/>
            </a:solidFill>
            <a:prstDash val="solid"/>
          </a:ln>
        </p:spPr>
      </p:sp>
      <p:sp>
        <p:nvSpPr>
          <p:cNvPr id="81" name="Shape 79"/>
          <p:cNvSpPr/>
          <p:nvPr/>
        </p:nvSpPr>
        <p:spPr>
          <a:xfrm>
            <a:off x="4261104" y="3191256"/>
            <a:ext cx="713232" cy="502920"/>
          </a:xfrm>
          <a:prstGeom prst="rect">
            <a:avLst/>
          </a:prstGeom>
          <a:solidFill>
            <a:srgbClr val="0A1145"/>
          </a:solidFill>
          <a:ln w="12700">
            <a:solidFill>
              <a:srgbClr val="0A1145"/>
            </a:solidFill>
            <a:prstDash val="solid"/>
          </a:ln>
        </p:spPr>
      </p:sp>
      <p:sp>
        <p:nvSpPr>
          <p:cNvPr id="82" name="Shape 80"/>
          <p:cNvSpPr/>
          <p:nvPr/>
        </p:nvSpPr>
        <p:spPr>
          <a:xfrm>
            <a:off x="5020056" y="3191256"/>
            <a:ext cx="713232" cy="502920"/>
          </a:xfrm>
          <a:prstGeom prst="rect">
            <a:avLst/>
          </a:prstGeom>
          <a:solidFill>
            <a:srgbClr val="0A1145"/>
          </a:solidFill>
          <a:ln w="12700">
            <a:solidFill>
              <a:srgbClr val="0A1145"/>
            </a:solidFill>
            <a:prstDash val="solid"/>
          </a:ln>
        </p:spPr>
      </p:sp>
      <p:sp>
        <p:nvSpPr>
          <p:cNvPr id="83" name="Shape 81"/>
          <p:cNvSpPr/>
          <p:nvPr/>
        </p:nvSpPr>
        <p:spPr>
          <a:xfrm>
            <a:off x="5779008" y="3191256"/>
            <a:ext cx="713232" cy="502920"/>
          </a:xfrm>
          <a:prstGeom prst="rect">
            <a:avLst/>
          </a:prstGeom>
          <a:solidFill>
            <a:srgbClr val="0A1145"/>
          </a:solidFill>
          <a:ln w="12700">
            <a:solidFill>
              <a:srgbClr val="0A1145"/>
            </a:solidFill>
            <a:prstDash val="solid"/>
          </a:ln>
        </p:spPr>
      </p:sp>
      <p:sp>
        <p:nvSpPr>
          <p:cNvPr id="84" name="Shape 82"/>
          <p:cNvSpPr/>
          <p:nvPr/>
        </p:nvSpPr>
        <p:spPr>
          <a:xfrm>
            <a:off x="6537960" y="3191256"/>
            <a:ext cx="713232" cy="502920"/>
          </a:xfrm>
          <a:prstGeom prst="rect">
            <a:avLst/>
          </a:prstGeom>
          <a:solidFill>
            <a:srgbClr val="0A1145"/>
          </a:solidFill>
          <a:ln w="12700">
            <a:solidFill>
              <a:srgbClr val="0A1145"/>
            </a:solidFill>
            <a:prstDash val="solid"/>
          </a:ln>
        </p:spPr>
      </p:sp>
      <p:sp>
        <p:nvSpPr>
          <p:cNvPr id="85" name="Shape 83"/>
          <p:cNvSpPr/>
          <p:nvPr/>
        </p:nvSpPr>
        <p:spPr>
          <a:xfrm>
            <a:off x="7296912" y="3191256"/>
            <a:ext cx="713232" cy="502920"/>
          </a:xfrm>
          <a:prstGeom prst="rect">
            <a:avLst/>
          </a:prstGeom>
          <a:solidFill>
            <a:srgbClr val="0A1145"/>
          </a:solidFill>
          <a:ln w="12700">
            <a:solidFill>
              <a:srgbClr val="0A1145"/>
            </a:solidFill>
            <a:prstDash val="solid"/>
          </a:ln>
        </p:spPr>
      </p:sp>
      <p:sp>
        <p:nvSpPr>
          <p:cNvPr id="86" name="Shape 84"/>
          <p:cNvSpPr/>
          <p:nvPr/>
        </p:nvSpPr>
        <p:spPr>
          <a:xfrm>
            <a:off x="8055864" y="3191256"/>
            <a:ext cx="713232" cy="502920"/>
          </a:xfrm>
          <a:prstGeom prst="rect">
            <a:avLst/>
          </a:prstGeom>
          <a:solidFill>
            <a:srgbClr val="0A1145"/>
          </a:solidFill>
          <a:ln w="12700">
            <a:solidFill>
              <a:srgbClr val="0A1145"/>
            </a:solidFill>
            <a:prstDash val="solid"/>
          </a:ln>
        </p:spPr>
      </p:sp>
      <p:sp>
        <p:nvSpPr>
          <p:cNvPr id="87" name="Shape 85"/>
          <p:cNvSpPr/>
          <p:nvPr/>
        </p:nvSpPr>
        <p:spPr>
          <a:xfrm>
            <a:off x="6583680" y="3282696"/>
            <a:ext cx="667512" cy="301752"/>
          </a:xfrm>
          <a:prstGeom prst="rect">
            <a:avLst/>
          </a:prstGeom>
          <a:solidFill>
            <a:srgbClr val="00BCD4">
              <a:alpha val="72000"/>
            </a:srgbClr>
          </a:solidFill>
          <a:ln w="12700">
            <a:solidFill>
              <a:srgbClr val="00BCD4"/>
            </a:solidFill>
            <a:prstDash val="solid"/>
          </a:ln>
        </p:spPr>
      </p:sp>
      <p:sp>
        <p:nvSpPr>
          <p:cNvPr id="88" name="Shape 86"/>
          <p:cNvSpPr/>
          <p:nvPr/>
        </p:nvSpPr>
        <p:spPr>
          <a:xfrm>
            <a:off x="347472" y="3739896"/>
            <a:ext cx="2331720" cy="502920"/>
          </a:xfrm>
          <a:prstGeom prst="rect">
            <a:avLst/>
          </a:prstGeom>
          <a:solidFill>
            <a:srgbClr val="0D1462"/>
          </a:solidFill>
          <a:ln w="12700">
            <a:solidFill>
              <a:srgbClr val="0D1462"/>
            </a:solidFill>
            <a:prstDash val="solid"/>
          </a:ln>
        </p:spPr>
      </p:sp>
      <p:sp>
        <p:nvSpPr>
          <p:cNvPr id="89" name="Shape 87"/>
          <p:cNvSpPr/>
          <p:nvPr/>
        </p:nvSpPr>
        <p:spPr>
          <a:xfrm>
            <a:off x="347472" y="3739896"/>
            <a:ext cx="45720" cy="502920"/>
          </a:xfrm>
          <a:prstGeom prst="rect">
            <a:avLst/>
          </a:prstGeom>
          <a:solidFill>
            <a:srgbClr val="00E5FF"/>
          </a:solidFill>
          <a:ln w="12700">
            <a:solidFill>
              <a:srgbClr val="00E5FF"/>
            </a:solidFill>
            <a:prstDash val="solid"/>
          </a:ln>
        </p:spPr>
      </p:sp>
      <p:sp>
        <p:nvSpPr>
          <p:cNvPr id="90" name="Text 88"/>
          <p:cNvSpPr/>
          <p:nvPr/>
        </p:nvSpPr>
        <p:spPr>
          <a:xfrm>
            <a:off x="457200" y="3813048"/>
            <a:ext cx="384048" cy="201168"/>
          </a:xfrm>
          <a:prstGeom prst="rect">
            <a:avLst/>
          </a:prstGeom>
          <a:noFill/>
          <a:ln/>
        </p:spPr>
        <p:txBody>
          <a:bodyPr wrap="square" lIns="0" tIns="0" rIns="0" bIns="0" rtlCol="0" anchor="ctr"/>
          <a:lstStyle/>
          <a:p>
            <a:pPr marL="0" indent="0">
              <a:buNone/>
            </a:pPr>
            <a:r>
              <a:rPr lang="en-US" sz="850" b="1" dirty="0">
                <a:solidFill>
                  <a:srgbClr val="00E5FF"/>
                </a:solidFill>
                <a:latin typeface="Nunito" pitchFamily="34" charset="0"/>
                <a:ea typeface="Nunito" pitchFamily="34" charset="-122"/>
                <a:cs typeface="Nunito" pitchFamily="34" charset="-120"/>
              </a:rPr>
              <a:t>Ph6</a:t>
            </a:r>
            <a:endParaRPr lang="en-US" sz="850" dirty="0"/>
          </a:p>
        </p:txBody>
      </p:sp>
      <p:sp>
        <p:nvSpPr>
          <p:cNvPr id="91" name="Text 89"/>
          <p:cNvSpPr/>
          <p:nvPr/>
        </p:nvSpPr>
        <p:spPr>
          <a:xfrm>
            <a:off x="877824" y="3794760"/>
            <a:ext cx="1764792" cy="4114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Testing &amp; Optimization</a:t>
            </a:r>
            <a:endParaRPr lang="en-US" sz="900" dirty="0"/>
          </a:p>
        </p:txBody>
      </p:sp>
      <p:sp>
        <p:nvSpPr>
          <p:cNvPr id="92" name="Shape 90"/>
          <p:cNvSpPr/>
          <p:nvPr/>
        </p:nvSpPr>
        <p:spPr>
          <a:xfrm>
            <a:off x="2743200" y="3739896"/>
            <a:ext cx="713232" cy="502920"/>
          </a:xfrm>
          <a:prstGeom prst="rect">
            <a:avLst/>
          </a:prstGeom>
          <a:solidFill>
            <a:srgbClr val="0A1145"/>
          </a:solidFill>
          <a:ln w="12700">
            <a:solidFill>
              <a:srgbClr val="0A1145"/>
            </a:solidFill>
            <a:prstDash val="solid"/>
          </a:ln>
        </p:spPr>
      </p:sp>
      <p:sp>
        <p:nvSpPr>
          <p:cNvPr id="93" name="Shape 91"/>
          <p:cNvSpPr/>
          <p:nvPr/>
        </p:nvSpPr>
        <p:spPr>
          <a:xfrm>
            <a:off x="3502152" y="3739896"/>
            <a:ext cx="713232" cy="502920"/>
          </a:xfrm>
          <a:prstGeom prst="rect">
            <a:avLst/>
          </a:prstGeom>
          <a:solidFill>
            <a:srgbClr val="0A1145"/>
          </a:solidFill>
          <a:ln w="12700">
            <a:solidFill>
              <a:srgbClr val="0A1145"/>
            </a:solidFill>
            <a:prstDash val="solid"/>
          </a:ln>
        </p:spPr>
      </p:sp>
      <p:sp>
        <p:nvSpPr>
          <p:cNvPr id="94" name="Shape 92"/>
          <p:cNvSpPr/>
          <p:nvPr/>
        </p:nvSpPr>
        <p:spPr>
          <a:xfrm>
            <a:off x="4261104" y="3739896"/>
            <a:ext cx="713232" cy="502920"/>
          </a:xfrm>
          <a:prstGeom prst="rect">
            <a:avLst/>
          </a:prstGeom>
          <a:solidFill>
            <a:srgbClr val="0A1145"/>
          </a:solidFill>
          <a:ln w="12700">
            <a:solidFill>
              <a:srgbClr val="0A1145"/>
            </a:solidFill>
            <a:prstDash val="solid"/>
          </a:ln>
        </p:spPr>
      </p:sp>
      <p:sp>
        <p:nvSpPr>
          <p:cNvPr id="95" name="Shape 93"/>
          <p:cNvSpPr/>
          <p:nvPr/>
        </p:nvSpPr>
        <p:spPr>
          <a:xfrm>
            <a:off x="5020056" y="3739896"/>
            <a:ext cx="713232" cy="502920"/>
          </a:xfrm>
          <a:prstGeom prst="rect">
            <a:avLst/>
          </a:prstGeom>
          <a:solidFill>
            <a:srgbClr val="0A1145"/>
          </a:solidFill>
          <a:ln w="12700">
            <a:solidFill>
              <a:srgbClr val="0A1145"/>
            </a:solidFill>
            <a:prstDash val="solid"/>
          </a:ln>
        </p:spPr>
      </p:sp>
      <p:sp>
        <p:nvSpPr>
          <p:cNvPr id="96" name="Shape 94"/>
          <p:cNvSpPr/>
          <p:nvPr/>
        </p:nvSpPr>
        <p:spPr>
          <a:xfrm>
            <a:off x="5779008" y="3739896"/>
            <a:ext cx="713232" cy="502920"/>
          </a:xfrm>
          <a:prstGeom prst="rect">
            <a:avLst/>
          </a:prstGeom>
          <a:solidFill>
            <a:srgbClr val="0A1145"/>
          </a:solidFill>
          <a:ln w="12700">
            <a:solidFill>
              <a:srgbClr val="0A1145"/>
            </a:solidFill>
            <a:prstDash val="solid"/>
          </a:ln>
        </p:spPr>
      </p:sp>
      <p:sp>
        <p:nvSpPr>
          <p:cNvPr id="97" name="Shape 95"/>
          <p:cNvSpPr/>
          <p:nvPr/>
        </p:nvSpPr>
        <p:spPr>
          <a:xfrm>
            <a:off x="6537960" y="3739896"/>
            <a:ext cx="713232" cy="502920"/>
          </a:xfrm>
          <a:prstGeom prst="rect">
            <a:avLst/>
          </a:prstGeom>
          <a:solidFill>
            <a:srgbClr val="0A1145"/>
          </a:solidFill>
          <a:ln w="12700">
            <a:solidFill>
              <a:srgbClr val="0A1145"/>
            </a:solidFill>
            <a:prstDash val="solid"/>
          </a:ln>
        </p:spPr>
      </p:sp>
      <p:sp>
        <p:nvSpPr>
          <p:cNvPr id="98" name="Shape 96"/>
          <p:cNvSpPr/>
          <p:nvPr/>
        </p:nvSpPr>
        <p:spPr>
          <a:xfrm>
            <a:off x="7296912" y="3739896"/>
            <a:ext cx="713232" cy="502920"/>
          </a:xfrm>
          <a:prstGeom prst="rect">
            <a:avLst/>
          </a:prstGeom>
          <a:solidFill>
            <a:srgbClr val="0A1145"/>
          </a:solidFill>
          <a:ln w="12700">
            <a:solidFill>
              <a:srgbClr val="0A1145"/>
            </a:solidFill>
            <a:prstDash val="solid"/>
          </a:ln>
        </p:spPr>
      </p:sp>
      <p:sp>
        <p:nvSpPr>
          <p:cNvPr id="99" name="Shape 97"/>
          <p:cNvSpPr/>
          <p:nvPr/>
        </p:nvSpPr>
        <p:spPr>
          <a:xfrm>
            <a:off x="8055864" y="3739896"/>
            <a:ext cx="713232" cy="502920"/>
          </a:xfrm>
          <a:prstGeom prst="rect">
            <a:avLst/>
          </a:prstGeom>
          <a:solidFill>
            <a:srgbClr val="0A1145"/>
          </a:solidFill>
          <a:ln w="12700">
            <a:solidFill>
              <a:srgbClr val="0A1145"/>
            </a:solidFill>
            <a:prstDash val="solid"/>
          </a:ln>
        </p:spPr>
      </p:sp>
      <p:sp>
        <p:nvSpPr>
          <p:cNvPr id="100" name="Shape 98"/>
          <p:cNvSpPr/>
          <p:nvPr/>
        </p:nvSpPr>
        <p:spPr>
          <a:xfrm>
            <a:off x="7342632" y="3831336"/>
            <a:ext cx="667512" cy="301752"/>
          </a:xfrm>
          <a:prstGeom prst="rect">
            <a:avLst/>
          </a:prstGeom>
          <a:solidFill>
            <a:srgbClr val="00E5FF">
              <a:alpha val="72000"/>
            </a:srgbClr>
          </a:solidFill>
          <a:ln w="12700">
            <a:solidFill>
              <a:srgbClr val="00E5FF"/>
            </a:solidFill>
            <a:prstDash val="solid"/>
          </a:ln>
        </p:spPr>
      </p:sp>
      <p:sp>
        <p:nvSpPr>
          <p:cNvPr id="101" name="Shape 99"/>
          <p:cNvSpPr/>
          <p:nvPr/>
        </p:nvSpPr>
        <p:spPr>
          <a:xfrm>
            <a:off x="347472" y="4288536"/>
            <a:ext cx="2331720" cy="502920"/>
          </a:xfrm>
          <a:prstGeom prst="rect">
            <a:avLst/>
          </a:prstGeom>
          <a:solidFill>
            <a:srgbClr val="0D1462"/>
          </a:solidFill>
          <a:ln w="12700">
            <a:solidFill>
              <a:srgbClr val="0D1462"/>
            </a:solidFill>
            <a:prstDash val="solid"/>
          </a:ln>
        </p:spPr>
      </p:sp>
      <p:sp>
        <p:nvSpPr>
          <p:cNvPr id="102" name="Shape 100"/>
          <p:cNvSpPr/>
          <p:nvPr/>
        </p:nvSpPr>
        <p:spPr>
          <a:xfrm>
            <a:off x="347472" y="4288536"/>
            <a:ext cx="45720" cy="502920"/>
          </a:xfrm>
          <a:prstGeom prst="rect">
            <a:avLst/>
          </a:prstGeom>
          <a:solidFill>
            <a:srgbClr val="FF7043"/>
          </a:solidFill>
          <a:ln w="12700">
            <a:solidFill>
              <a:srgbClr val="FF7043"/>
            </a:solidFill>
            <a:prstDash val="solid"/>
          </a:ln>
        </p:spPr>
      </p:sp>
      <p:sp>
        <p:nvSpPr>
          <p:cNvPr id="103" name="Text 101"/>
          <p:cNvSpPr/>
          <p:nvPr/>
        </p:nvSpPr>
        <p:spPr>
          <a:xfrm>
            <a:off x="457200" y="4361688"/>
            <a:ext cx="384048" cy="201168"/>
          </a:xfrm>
          <a:prstGeom prst="rect">
            <a:avLst/>
          </a:prstGeom>
          <a:noFill/>
          <a:ln/>
        </p:spPr>
        <p:txBody>
          <a:bodyPr wrap="square" lIns="0" tIns="0" rIns="0" bIns="0" rtlCol="0" anchor="ctr"/>
          <a:lstStyle/>
          <a:p>
            <a:pPr marL="0" indent="0">
              <a:buNone/>
            </a:pPr>
            <a:r>
              <a:rPr lang="en-US" sz="850" b="1" dirty="0">
                <a:solidFill>
                  <a:srgbClr val="FF7043"/>
                </a:solidFill>
                <a:latin typeface="Nunito" pitchFamily="34" charset="0"/>
                <a:ea typeface="Nunito" pitchFamily="34" charset="-122"/>
                <a:cs typeface="Nunito" pitchFamily="34" charset="-120"/>
              </a:rPr>
              <a:t>Ph7</a:t>
            </a:r>
            <a:endParaRPr lang="en-US" sz="850" dirty="0"/>
          </a:p>
        </p:txBody>
      </p:sp>
      <p:sp>
        <p:nvSpPr>
          <p:cNvPr id="104" name="Text 102"/>
          <p:cNvSpPr/>
          <p:nvPr/>
        </p:nvSpPr>
        <p:spPr>
          <a:xfrm>
            <a:off x="877824" y="4343400"/>
            <a:ext cx="1764792" cy="4114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Reporting &amp; Documentation</a:t>
            </a:r>
            <a:endParaRPr lang="en-US" sz="900" dirty="0"/>
          </a:p>
        </p:txBody>
      </p:sp>
      <p:sp>
        <p:nvSpPr>
          <p:cNvPr id="105" name="Shape 103"/>
          <p:cNvSpPr/>
          <p:nvPr/>
        </p:nvSpPr>
        <p:spPr>
          <a:xfrm>
            <a:off x="2743200" y="4288536"/>
            <a:ext cx="713232" cy="502920"/>
          </a:xfrm>
          <a:prstGeom prst="rect">
            <a:avLst/>
          </a:prstGeom>
          <a:solidFill>
            <a:srgbClr val="0A1145"/>
          </a:solidFill>
          <a:ln w="12700">
            <a:solidFill>
              <a:srgbClr val="0A1145"/>
            </a:solidFill>
            <a:prstDash val="solid"/>
          </a:ln>
        </p:spPr>
      </p:sp>
      <p:sp>
        <p:nvSpPr>
          <p:cNvPr id="106" name="Shape 104"/>
          <p:cNvSpPr/>
          <p:nvPr/>
        </p:nvSpPr>
        <p:spPr>
          <a:xfrm>
            <a:off x="3502152" y="4288536"/>
            <a:ext cx="713232" cy="502920"/>
          </a:xfrm>
          <a:prstGeom prst="rect">
            <a:avLst/>
          </a:prstGeom>
          <a:solidFill>
            <a:srgbClr val="0A1145"/>
          </a:solidFill>
          <a:ln w="12700">
            <a:solidFill>
              <a:srgbClr val="0A1145"/>
            </a:solidFill>
            <a:prstDash val="solid"/>
          </a:ln>
        </p:spPr>
      </p:sp>
      <p:sp>
        <p:nvSpPr>
          <p:cNvPr id="107" name="Shape 105"/>
          <p:cNvSpPr/>
          <p:nvPr/>
        </p:nvSpPr>
        <p:spPr>
          <a:xfrm>
            <a:off x="4261104" y="4288536"/>
            <a:ext cx="713232" cy="502920"/>
          </a:xfrm>
          <a:prstGeom prst="rect">
            <a:avLst/>
          </a:prstGeom>
          <a:solidFill>
            <a:srgbClr val="0A1145"/>
          </a:solidFill>
          <a:ln w="12700">
            <a:solidFill>
              <a:srgbClr val="0A1145"/>
            </a:solidFill>
            <a:prstDash val="solid"/>
          </a:ln>
        </p:spPr>
      </p:sp>
      <p:sp>
        <p:nvSpPr>
          <p:cNvPr id="108" name="Shape 106"/>
          <p:cNvSpPr/>
          <p:nvPr/>
        </p:nvSpPr>
        <p:spPr>
          <a:xfrm>
            <a:off x="5020056" y="4288536"/>
            <a:ext cx="713232" cy="502920"/>
          </a:xfrm>
          <a:prstGeom prst="rect">
            <a:avLst/>
          </a:prstGeom>
          <a:solidFill>
            <a:srgbClr val="0A1145"/>
          </a:solidFill>
          <a:ln w="12700">
            <a:solidFill>
              <a:srgbClr val="0A1145"/>
            </a:solidFill>
            <a:prstDash val="solid"/>
          </a:ln>
        </p:spPr>
      </p:sp>
      <p:sp>
        <p:nvSpPr>
          <p:cNvPr id="109" name="Shape 107"/>
          <p:cNvSpPr/>
          <p:nvPr/>
        </p:nvSpPr>
        <p:spPr>
          <a:xfrm>
            <a:off x="5779008" y="4288536"/>
            <a:ext cx="713232" cy="502920"/>
          </a:xfrm>
          <a:prstGeom prst="rect">
            <a:avLst/>
          </a:prstGeom>
          <a:solidFill>
            <a:srgbClr val="0A1145"/>
          </a:solidFill>
          <a:ln w="12700">
            <a:solidFill>
              <a:srgbClr val="0A1145"/>
            </a:solidFill>
            <a:prstDash val="solid"/>
          </a:ln>
        </p:spPr>
      </p:sp>
      <p:sp>
        <p:nvSpPr>
          <p:cNvPr id="110" name="Shape 108"/>
          <p:cNvSpPr/>
          <p:nvPr/>
        </p:nvSpPr>
        <p:spPr>
          <a:xfrm>
            <a:off x="6537960" y="4288536"/>
            <a:ext cx="713232" cy="502920"/>
          </a:xfrm>
          <a:prstGeom prst="rect">
            <a:avLst/>
          </a:prstGeom>
          <a:solidFill>
            <a:srgbClr val="0A1145"/>
          </a:solidFill>
          <a:ln w="12700">
            <a:solidFill>
              <a:srgbClr val="0A1145"/>
            </a:solidFill>
            <a:prstDash val="solid"/>
          </a:ln>
        </p:spPr>
      </p:sp>
      <p:sp>
        <p:nvSpPr>
          <p:cNvPr id="111" name="Shape 109"/>
          <p:cNvSpPr/>
          <p:nvPr/>
        </p:nvSpPr>
        <p:spPr>
          <a:xfrm>
            <a:off x="7296912" y="4288536"/>
            <a:ext cx="713232" cy="502920"/>
          </a:xfrm>
          <a:prstGeom prst="rect">
            <a:avLst/>
          </a:prstGeom>
          <a:solidFill>
            <a:srgbClr val="0A1145"/>
          </a:solidFill>
          <a:ln w="12700">
            <a:solidFill>
              <a:srgbClr val="0A1145"/>
            </a:solidFill>
            <a:prstDash val="solid"/>
          </a:ln>
        </p:spPr>
      </p:sp>
      <p:sp>
        <p:nvSpPr>
          <p:cNvPr id="112" name="Shape 110"/>
          <p:cNvSpPr/>
          <p:nvPr/>
        </p:nvSpPr>
        <p:spPr>
          <a:xfrm>
            <a:off x="8055864" y="4288536"/>
            <a:ext cx="713232" cy="502920"/>
          </a:xfrm>
          <a:prstGeom prst="rect">
            <a:avLst/>
          </a:prstGeom>
          <a:solidFill>
            <a:srgbClr val="0A1145"/>
          </a:solidFill>
          <a:ln w="12700">
            <a:solidFill>
              <a:srgbClr val="0A1145"/>
            </a:solidFill>
            <a:prstDash val="solid"/>
          </a:ln>
        </p:spPr>
      </p:sp>
      <p:sp>
        <p:nvSpPr>
          <p:cNvPr id="113" name="Shape 111"/>
          <p:cNvSpPr/>
          <p:nvPr/>
        </p:nvSpPr>
        <p:spPr>
          <a:xfrm>
            <a:off x="8101584" y="4379976"/>
            <a:ext cx="667512" cy="301752"/>
          </a:xfrm>
          <a:prstGeom prst="rect">
            <a:avLst/>
          </a:prstGeom>
          <a:solidFill>
            <a:srgbClr val="FF7043">
              <a:alpha val="72000"/>
            </a:srgbClr>
          </a:solidFill>
          <a:ln w="12700">
            <a:solidFill>
              <a:srgbClr val="FF7043"/>
            </a:solidFill>
            <a:prstDash val="solid"/>
          </a:ln>
        </p:spPr>
      </p:sp>
      <p:sp>
        <p:nvSpPr>
          <p:cNvPr id="114" name="Shape 112"/>
          <p:cNvSpPr/>
          <p:nvPr/>
        </p:nvSpPr>
        <p:spPr>
          <a:xfrm>
            <a:off x="0" y="4818888"/>
            <a:ext cx="9144000" cy="324612"/>
          </a:xfrm>
          <a:prstGeom prst="rect">
            <a:avLst/>
          </a:prstGeom>
          <a:solidFill>
            <a:srgbClr val="060C38"/>
          </a:solidFill>
          <a:ln w="12700">
            <a:solidFill>
              <a:srgbClr val="060C38"/>
            </a:solidFill>
            <a:prstDash val="solid"/>
          </a:ln>
        </p:spPr>
      </p:sp>
      <p:sp>
        <p:nvSpPr>
          <p:cNvPr id="115" name="Shape 113"/>
          <p:cNvSpPr/>
          <p:nvPr/>
        </p:nvSpPr>
        <p:spPr>
          <a:xfrm>
            <a:off x="0" y="4818888"/>
            <a:ext cx="118872" cy="324612"/>
          </a:xfrm>
          <a:prstGeom prst="rect">
            <a:avLst/>
          </a:prstGeom>
          <a:solidFill>
            <a:srgbClr val="00E5FF"/>
          </a:solidFill>
          <a:ln w="12700">
            <a:solidFill>
              <a:srgbClr val="00E5FF"/>
            </a:solidFill>
            <a:prstDash val="solid"/>
          </a:ln>
        </p:spPr>
      </p:sp>
      <p:sp>
        <p:nvSpPr>
          <p:cNvPr id="116" name="Text 114"/>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117" name="Text 115"/>
          <p:cNvSpPr/>
          <p:nvPr/>
        </p:nvSpPr>
        <p:spPr>
          <a:xfrm>
            <a:off x="3931920" y="4841748"/>
            <a:ext cx="1828800" cy="274320"/>
          </a:xfrm>
          <a:prstGeom prst="rect">
            <a:avLst/>
          </a:prstGeom>
          <a:noFill/>
          <a:ln/>
        </p:spPr>
        <p:txBody>
          <a:bodyPr wrap="square" lIns="0" tIns="0" rIns="0" bIns="0" rtlCol="0" anchor="ctr"/>
          <a:lstStyle/>
          <a:p>
            <a:pPr algn="ctr"/>
            <a:r>
              <a:rPr lang="en-US" sz="850" dirty="0">
                <a:solidFill>
                  <a:srgbClr val="7986CB"/>
                </a:solidFill>
                <a:latin typeface="Calibri" pitchFamily="34" charset="0"/>
                <a:ea typeface="Calibri" pitchFamily="34" charset="-122"/>
                <a:cs typeface="Calibri" pitchFamily="34" charset="-120"/>
              </a:rPr>
              <a:t>Priyankaba Jadej</a:t>
            </a:r>
            <a:endParaRPr lang="en-US" sz="850" dirty="0"/>
          </a:p>
        </p:txBody>
      </p:sp>
      <p:sp>
        <p:nvSpPr>
          <p:cNvPr id="118" name="Text 116"/>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10 / 17</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554"/>
        </a:solidFill>
        <a:effectLst/>
      </p:bgPr>
    </p:bg>
    <p:spTree>
      <p:nvGrpSpPr>
        <p:cNvPr id="1" name=""/>
        <p:cNvGrpSpPr/>
        <p:nvPr/>
      </p:nvGrpSpPr>
      <p:grpSpPr>
        <a:xfrm>
          <a:off x="0" y="0"/>
          <a:ext cx="0" cy="0"/>
          <a:chOff x="0" y="0"/>
          <a:chExt cx="0" cy="0"/>
        </a:xfrm>
      </p:grpSpPr>
      <p:sp>
        <p:nvSpPr>
          <p:cNvPr id="2" name="Text 0"/>
          <p:cNvSpPr/>
          <p:nvPr/>
        </p:nvSpPr>
        <p:spPr>
          <a:xfrm>
            <a:off x="347472" y="128016"/>
            <a:ext cx="457200" cy="274320"/>
          </a:xfrm>
          <a:prstGeom prst="rect">
            <a:avLst/>
          </a:prstGeom>
          <a:noFill/>
          <a:ln/>
        </p:spPr>
        <p:txBody>
          <a:bodyPr wrap="square" lIns="0" tIns="0" rIns="0" bIns="0" rtlCol="0" anchor="ctr"/>
          <a:lstStyle/>
          <a:p>
            <a:pPr marL="0" indent="0">
              <a:buNone/>
            </a:pPr>
            <a:r>
              <a:rPr lang="en-US" sz="1000" b="1" dirty="0">
                <a:solidFill>
                  <a:srgbClr val="00E5FF"/>
                </a:solidFill>
                <a:latin typeface="Nunito" pitchFamily="34" charset="0"/>
                <a:ea typeface="Nunito" pitchFamily="34" charset="-122"/>
                <a:cs typeface="Nunito" pitchFamily="34" charset="-120"/>
              </a:rPr>
              <a:t>11</a:t>
            </a:r>
            <a:endParaRPr lang="en-US" sz="1000" dirty="0"/>
          </a:p>
        </p:txBody>
      </p:sp>
      <p:sp>
        <p:nvSpPr>
          <p:cNvPr id="3" name="Text 1"/>
          <p:cNvSpPr/>
          <p:nvPr/>
        </p:nvSpPr>
        <p:spPr>
          <a:xfrm>
            <a:off x="530352" y="136984"/>
            <a:ext cx="8412480" cy="347472"/>
          </a:xfrm>
          <a:prstGeom prst="rect">
            <a:avLst/>
          </a:prstGeom>
          <a:noFill/>
          <a:ln/>
        </p:spPr>
        <p:txBody>
          <a:bodyPr wrap="square" lIns="0" tIns="0" rIns="0" bIns="0" rtlCol="0" anchor="ctr"/>
          <a:lstStyle/>
          <a:p>
            <a:pPr marL="0" indent="0">
              <a:buNone/>
            </a:pPr>
            <a:r>
              <a:rPr lang="en-US" sz="2000" b="1" dirty="0">
                <a:solidFill>
                  <a:srgbClr val="FFFFFF"/>
                </a:solidFill>
                <a:latin typeface="Nunito" pitchFamily="34" charset="0"/>
                <a:ea typeface="Nunito" pitchFamily="34" charset="-122"/>
                <a:cs typeface="Nunito" pitchFamily="34" charset="-120"/>
              </a:rPr>
              <a:t>Possible Outcomes</a:t>
            </a:r>
            <a:endParaRPr lang="en-US" sz="2000" dirty="0"/>
          </a:p>
        </p:txBody>
      </p:sp>
      <p:sp>
        <p:nvSpPr>
          <p:cNvPr id="4" name="Shape 2"/>
          <p:cNvSpPr/>
          <p:nvPr/>
        </p:nvSpPr>
        <p:spPr>
          <a:xfrm flipV="1">
            <a:off x="347472" y="457200"/>
            <a:ext cx="2487168" cy="54864"/>
          </a:xfrm>
          <a:prstGeom prst="rect">
            <a:avLst/>
          </a:prstGeom>
          <a:solidFill>
            <a:srgbClr val="00E5FF"/>
          </a:solidFill>
          <a:ln w="12700">
            <a:solidFill>
              <a:srgbClr val="00E5FF"/>
            </a:solidFill>
            <a:prstDash val="solid"/>
          </a:ln>
        </p:spPr>
      </p:sp>
      <p:sp>
        <p:nvSpPr>
          <p:cNvPr id="5" name="Shape 3"/>
          <p:cNvSpPr/>
          <p:nvPr/>
        </p:nvSpPr>
        <p:spPr>
          <a:xfrm>
            <a:off x="347472" y="658368"/>
            <a:ext cx="2743200" cy="1554480"/>
          </a:xfrm>
          <a:prstGeom prst="rect">
            <a:avLst/>
          </a:prstGeom>
          <a:solidFill>
            <a:srgbClr val="1E2B8F"/>
          </a:solidFill>
          <a:ln w="12700">
            <a:solidFill>
              <a:srgbClr val="1E2B8F"/>
            </a:solidFill>
            <a:prstDash val="solid"/>
          </a:ln>
        </p:spPr>
      </p:sp>
      <p:sp>
        <p:nvSpPr>
          <p:cNvPr id="6" name="Text 4"/>
          <p:cNvSpPr/>
          <p:nvPr/>
        </p:nvSpPr>
        <p:spPr>
          <a:xfrm>
            <a:off x="2432304" y="749808"/>
            <a:ext cx="566928" cy="566928"/>
          </a:xfrm>
          <a:prstGeom prst="rect">
            <a:avLst/>
          </a:prstGeom>
          <a:noFill/>
          <a:ln/>
        </p:spPr>
        <p:txBody>
          <a:bodyPr wrap="square" lIns="0" tIns="0" rIns="0" bIns="0" rtlCol="0" anchor="ctr"/>
          <a:lstStyle/>
          <a:p>
            <a:pPr marL="0" indent="0" algn="r">
              <a:buNone/>
            </a:pPr>
            <a:r>
              <a:rPr lang="en-US" sz="3400" b="1" dirty="0">
                <a:solidFill>
                  <a:srgbClr val="00BCD4"/>
                </a:solidFill>
                <a:latin typeface="Nunito" pitchFamily="34" charset="0"/>
                <a:ea typeface="Nunito" pitchFamily="34" charset="-122"/>
                <a:cs typeface="Nunito" pitchFamily="34" charset="-120"/>
              </a:rPr>
              <a:t>01</a:t>
            </a:r>
            <a:endParaRPr lang="en-US" sz="3400" dirty="0"/>
          </a:p>
        </p:txBody>
      </p:sp>
      <p:sp>
        <p:nvSpPr>
          <p:cNvPr id="7" name="Shape 5"/>
          <p:cNvSpPr/>
          <p:nvPr/>
        </p:nvSpPr>
        <p:spPr>
          <a:xfrm>
            <a:off x="347472" y="658368"/>
            <a:ext cx="64008" cy="1554480"/>
          </a:xfrm>
          <a:prstGeom prst="rect">
            <a:avLst/>
          </a:prstGeom>
          <a:solidFill>
            <a:srgbClr val="00BCD4"/>
          </a:solidFill>
          <a:ln w="12700">
            <a:solidFill>
              <a:srgbClr val="00BCD4"/>
            </a:solidFill>
            <a:prstDash val="solid"/>
          </a:ln>
        </p:spPr>
      </p:sp>
      <p:sp>
        <p:nvSpPr>
          <p:cNvPr id="8" name="Text 6"/>
          <p:cNvSpPr/>
          <p:nvPr/>
        </p:nvSpPr>
        <p:spPr>
          <a:xfrm>
            <a:off x="530352" y="786384"/>
            <a:ext cx="1920240" cy="502920"/>
          </a:xfrm>
          <a:prstGeom prst="rect">
            <a:avLst/>
          </a:prstGeom>
          <a:noFill/>
          <a:ln/>
        </p:spPr>
        <p:txBody>
          <a:bodyPr wrap="square" lIns="0" tIns="0" rIns="0" bIns="0" rtlCol="0" anchor="ctr"/>
          <a:lstStyle/>
          <a:p>
            <a:pPr marL="0" indent="0">
              <a:buNone/>
            </a:pPr>
            <a:r>
              <a:rPr lang="en-US" sz="1200" b="1" dirty="0">
                <a:solidFill>
                  <a:srgbClr val="FFFFFF"/>
                </a:solidFill>
                <a:latin typeface="Nunito" pitchFamily="34" charset="0"/>
                <a:ea typeface="Nunito" pitchFamily="34" charset="-122"/>
                <a:cs typeface="Nunito" pitchFamily="34" charset="-120"/>
              </a:rPr>
              <a:t>AI + BCI + IoT Integration</a:t>
            </a:r>
            <a:endParaRPr lang="en-US" sz="1200" dirty="0"/>
          </a:p>
        </p:txBody>
      </p:sp>
      <p:sp>
        <p:nvSpPr>
          <p:cNvPr id="9" name="Text 7"/>
          <p:cNvSpPr/>
          <p:nvPr/>
        </p:nvSpPr>
        <p:spPr>
          <a:xfrm>
            <a:off x="530352" y="1316736"/>
            <a:ext cx="2450592" cy="841248"/>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Fully integrated assistive automation system combining AI, BCI and IoT technologies.</a:t>
            </a:r>
            <a:endParaRPr lang="en-US" sz="1050" dirty="0"/>
          </a:p>
        </p:txBody>
      </p:sp>
      <p:sp>
        <p:nvSpPr>
          <p:cNvPr id="10" name="Shape 8"/>
          <p:cNvSpPr/>
          <p:nvPr/>
        </p:nvSpPr>
        <p:spPr>
          <a:xfrm>
            <a:off x="3191256" y="658368"/>
            <a:ext cx="2743200" cy="1554480"/>
          </a:xfrm>
          <a:prstGeom prst="rect">
            <a:avLst/>
          </a:prstGeom>
          <a:solidFill>
            <a:srgbClr val="1E2B8F"/>
          </a:solidFill>
          <a:ln w="12700">
            <a:solidFill>
              <a:srgbClr val="1E2B8F"/>
            </a:solidFill>
            <a:prstDash val="solid"/>
          </a:ln>
        </p:spPr>
      </p:sp>
      <p:sp>
        <p:nvSpPr>
          <p:cNvPr id="11" name="Text 9"/>
          <p:cNvSpPr/>
          <p:nvPr/>
        </p:nvSpPr>
        <p:spPr>
          <a:xfrm>
            <a:off x="5276088" y="749808"/>
            <a:ext cx="566928" cy="566928"/>
          </a:xfrm>
          <a:prstGeom prst="rect">
            <a:avLst/>
          </a:prstGeom>
          <a:noFill/>
          <a:ln/>
        </p:spPr>
        <p:txBody>
          <a:bodyPr wrap="square" lIns="0" tIns="0" rIns="0" bIns="0" rtlCol="0" anchor="ctr"/>
          <a:lstStyle/>
          <a:p>
            <a:pPr marL="0" indent="0" algn="r">
              <a:buNone/>
            </a:pPr>
            <a:r>
              <a:rPr lang="en-US" sz="3400" b="1" dirty="0">
                <a:solidFill>
                  <a:srgbClr val="00E5FF"/>
                </a:solidFill>
                <a:latin typeface="Nunito" pitchFamily="34" charset="0"/>
                <a:ea typeface="Nunito" pitchFamily="34" charset="-122"/>
                <a:cs typeface="Nunito" pitchFamily="34" charset="-120"/>
              </a:rPr>
              <a:t>02</a:t>
            </a:r>
            <a:endParaRPr lang="en-US" sz="3400" dirty="0"/>
          </a:p>
        </p:txBody>
      </p:sp>
      <p:sp>
        <p:nvSpPr>
          <p:cNvPr id="12" name="Shape 10"/>
          <p:cNvSpPr/>
          <p:nvPr/>
        </p:nvSpPr>
        <p:spPr>
          <a:xfrm>
            <a:off x="3191256" y="658368"/>
            <a:ext cx="64008" cy="1554480"/>
          </a:xfrm>
          <a:prstGeom prst="rect">
            <a:avLst/>
          </a:prstGeom>
          <a:solidFill>
            <a:srgbClr val="00E5FF"/>
          </a:solidFill>
          <a:ln w="12700">
            <a:solidFill>
              <a:srgbClr val="00E5FF"/>
            </a:solidFill>
            <a:prstDash val="solid"/>
          </a:ln>
        </p:spPr>
      </p:sp>
      <p:sp>
        <p:nvSpPr>
          <p:cNvPr id="13" name="Text 11"/>
          <p:cNvSpPr/>
          <p:nvPr/>
        </p:nvSpPr>
        <p:spPr>
          <a:xfrm>
            <a:off x="3374136" y="786384"/>
            <a:ext cx="1920240" cy="502920"/>
          </a:xfrm>
          <a:prstGeom prst="rect">
            <a:avLst/>
          </a:prstGeom>
          <a:noFill/>
          <a:ln/>
        </p:spPr>
        <p:txBody>
          <a:bodyPr wrap="square" lIns="0" tIns="0" rIns="0" bIns="0" rtlCol="0" anchor="ctr"/>
          <a:lstStyle/>
          <a:p>
            <a:pPr marL="0" indent="0">
              <a:buNone/>
            </a:pPr>
            <a:r>
              <a:rPr lang="en-US" sz="1200" b="1" dirty="0">
                <a:solidFill>
                  <a:srgbClr val="FFFFFF"/>
                </a:solidFill>
                <a:latin typeface="Nunito" pitchFamily="34" charset="0"/>
                <a:ea typeface="Nunito" pitchFamily="34" charset="-122"/>
                <a:cs typeface="Nunito" pitchFamily="34" charset="-120"/>
              </a:rPr>
              <a:t>Functional EEG Prototype</a:t>
            </a:r>
            <a:endParaRPr lang="en-US" sz="1200" dirty="0"/>
          </a:p>
        </p:txBody>
      </p:sp>
      <p:sp>
        <p:nvSpPr>
          <p:cNvPr id="14" name="Text 12"/>
          <p:cNvSpPr/>
          <p:nvPr/>
        </p:nvSpPr>
        <p:spPr>
          <a:xfrm>
            <a:off x="3374136" y="1316736"/>
            <a:ext cx="2450592" cy="841248"/>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Development of a working EEG-based assistive home prototype device.</a:t>
            </a:r>
            <a:endParaRPr lang="en-US" sz="1050" dirty="0"/>
          </a:p>
        </p:txBody>
      </p:sp>
      <p:sp>
        <p:nvSpPr>
          <p:cNvPr id="15" name="Shape 13"/>
          <p:cNvSpPr/>
          <p:nvPr/>
        </p:nvSpPr>
        <p:spPr>
          <a:xfrm>
            <a:off x="6035040" y="658368"/>
            <a:ext cx="2743200" cy="1554480"/>
          </a:xfrm>
          <a:prstGeom prst="rect">
            <a:avLst/>
          </a:prstGeom>
          <a:solidFill>
            <a:srgbClr val="1E2B8F"/>
          </a:solidFill>
          <a:ln w="12700">
            <a:solidFill>
              <a:srgbClr val="1E2B8F"/>
            </a:solidFill>
            <a:prstDash val="solid"/>
          </a:ln>
        </p:spPr>
      </p:sp>
      <p:sp>
        <p:nvSpPr>
          <p:cNvPr id="16" name="Text 14"/>
          <p:cNvSpPr/>
          <p:nvPr/>
        </p:nvSpPr>
        <p:spPr>
          <a:xfrm>
            <a:off x="8119872" y="749808"/>
            <a:ext cx="566928" cy="566928"/>
          </a:xfrm>
          <a:prstGeom prst="rect">
            <a:avLst/>
          </a:prstGeom>
          <a:noFill/>
          <a:ln/>
        </p:spPr>
        <p:txBody>
          <a:bodyPr wrap="square" lIns="0" tIns="0" rIns="0" bIns="0" rtlCol="0" anchor="ctr"/>
          <a:lstStyle/>
          <a:p>
            <a:pPr marL="0" indent="0" algn="r">
              <a:buNone/>
            </a:pPr>
            <a:r>
              <a:rPr lang="en-US" sz="3400" b="1" dirty="0">
                <a:solidFill>
                  <a:srgbClr val="FF7043"/>
                </a:solidFill>
                <a:latin typeface="Nunito" pitchFamily="34" charset="0"/>
                <a:ea typeface="Nunito" pitchFamily="34" charset="-122"/>
                <a:cs typeface="Nunito" pitchFamily="34" charset="-120"/>
              </a:rPr>
              <a:t>03</a:t>
            </a:r>
            <a:endParaRPr lang="en-US" sz="3400" dirty="0"/>
          </a:p>
        </p:txBody>
      </p:sp>
      <p:sp>
        <p:nvSpPr>
          <p:cNvPr id="17" name="Shape 15"/>
          <p:cNvSpPr/>
          <p:nvPr/>
        </p:nvSpPr>
        <p:spPr>
          <a:xfrm>
            <a:off x="6035040" y="658368"/>
            <a:ext cx="64008" cy="1554480"/>
          </a:xfrm>
          <a:prstGeom prst="rect">
            <a:avLst/>
          </a:prstGeom>
          <a:solidFill>
            <a:srgbClr val="FF7043"/>
          </a:solidFill>
          <a:ln w="12700">
            <a:solidFill>
              <a:srgbClr val="FF7043"/>
            </a:solidFill>
            <a:prstDash val="solid"/>
          </a:ln>
        </p:spPr>
      </p:sp>
      <p:sp>
        <p:nvSpPr>
          <p:cNvPr id="18" name="Text 16"/>
          <p:cNvSpPr/>
          <p:nvPr/>
        </p:nvSpPr>
        <p:spPr>
          <a:xfrm>
            <a:off x="6217920" y="786384"/>
            <a:ext cx="1920240" cy="502920"/>
          </a:xfrm>
          <a:prstGeom prst="rect">
            <a:avLst/>
          </a:prstGeom>
          <a:noFill/>
          <a:ln/>
        </p:spPr>
        <p:txBody>
          <a:bodyPr wrap="square" lIns="0" tIns="0" rIns="0" bIns="0" rtlCol="0" anchor="ctr"/>
          <a:lstStyle/>
          <a:p>
            <a:pPr marL="0" indent="0">
              <a:buNone/>
            </a:pPr>
            <a:r>
              <a:rPr lang="en-US" sz="1200" b="1" dirty="0">
                <a:solidFill>
                  <a:srgbClr val="FFFFFF"/>
                </a:solidFill>
                <a:latin typeface="Nunito" pitchFamily="34" charset="0"/>
                <a:ea typeface="Nunito" pitchFamily="34" charset="-122"/>
                <a:cs typeface="Nunito" pitchFamily="34" charset="-120"/>
              </a:rPr>
              <a:t>80%+ Classification Accuracy</a:t>
            </a:r>
            <a:endParaRPr lang="en-US" sz="1200" dirty="0"/>
          </a:p>
        </p:txBody>
      </p:sp>
      <p:sp>
        <p:nvSpPr>
          <p:cNvPr id="19" name="Text 17"/>
          <p:cNvSpPr/>
          <p:nvPr/>
        </p:nvSpPr>
        <p:spPr>
          <a:xfrm>
            <a:off x="6217920" y="1316736"/>
            <a:ext cx="2450592" cy="841248"/>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Real-time brain signal interpretation achieving targeted 80%+ accuracy.</a:t>
            </a:r>
            <a:endParaRPr lang="en-US" sz="1050" dirty="0"/>
          </a:p>
        </p:txBody>
      </p:sp>
      <p:sp>
        <p:nvSpPr>
          <p:cNvPr id="20" name="Shape 18"/>
          <p:cNvSpPr/>
          <p:nvPr/>
        </p:nvSpPr>
        <p:spPr>
          <a:xfrm>
            <a:off x="347472" y="2313432"/>
            <a:ext cx="2743200" cy="1554480"/>
          </a:xfrm>
          <a:prstGeom prst="rect">
            <a:avLst/>
          </a:prstGeom>
          <a:solidFill>
            <a:srgbClr val="1E2B8F"/>
          </a:solidFill>
          <a:ln w="12700">
            <a:solidFill>
              <a:srgbClr val="1E2B8F"/>
            </a:solidFill>
            <a:prstDash val="solid"/>
          </a:ln>
        </p:spPr>
      </p:sp>
      <p:sp>
        <p:nvSpPr>
          <p:cNvPr id="21" name="Text 19"/>
          <p:cNvSpPr/>
          <p:nvPr/>
        </p:nvSpPr>
        <p:spPr>
          <a:xfrm>
            <a:off x="2432304" y="2404872"/>
            <a:ext cx="566928" cy="566928"/>
          </a:xfrm>
          <a:prstGeom prst="rect">
            <a:avLst/>
          </a:prstGeom>
          <a:noFill/>
          <a:ln/>
        </p:spPr>
        <p:txBody>
          <a:bodyPr wrap="square" lIns="0" tIns="0" rIns="0" bIns="0" rtlCol="0" anchor="ctr"/>
          <a:lstStyle/>
          <a:p>
            <a:pPr marL="0" indent="0" algn="r">
              <a:buNone/>
            </a:pPr>
            <a:r>
              <a:rPr lang="en-US" sz="3400" b="1" dirty="0">
                <a:solidFill>
                  <a:srgbClr val="FFB300"/>
                </a:solidFill>
                <a:latin typeface="Nunito" pitchFamily="34" charset="0"/>
                <a:ea typeface="Nunito" pitchFamily="34" charset="-122"/>
                <a:cs typeface="Nunito" pitchFamily="34" charset="-120"/>
              </a:rPr>
              <a:t>04</a:t>
            </a:r>
            <a:endParaRPr lang="en-US" sz="3400" dirty="0"/>
          </a:p>
        </p:txBody>
      </p:sp>
      <p:sp>
        <p:nvSpPr>
          <p:cNvPr id="22" name="Shape 20"/>
          <p:cNvSpPr/>
          <p:nvPr/>
        </p:nvSpPr>
        <p:spPr>
          <a:xfrm>
            <a:off x="347472" y="2313432"/>
            <a:ext cx="64008" cy="1554480"/>
          </a:xfrm>
          <a:prstGeom prst="rect">
            <a:avLst/>
          </a:prstGeom>
          <a:solidFill>
            <a:srgbClr val="FFB300"/>
          </a:solidFill>
          <a:ln w="12700">
            <a:solidFill>
              <a:srgbClr val="FFB300"/>
            </a:solidFill>
            <a:prstDash val="solid"/>
          </a:ln>
        </p:spPr>
      </p:sp>
      <p:sp>
        <p:nvSpPr>
          <p:cNvPr id="23" name="Text 21"/>
          <p:cNvSpPr/>
          <p:nvPr/>
        </p:nvSpPr>
        <p:spPr>
          <a:xfrm>
            <a:off x="530352" y="2441448"/>
            <a:ext cx="1920240" cy="502920"/>
          </a:xfrm>
          <a:prstGeom prst="rect">
            <a:avLst/>
          </a:prstGeom>
          <a:noFill/>
          <a:ln/>
        </p:spPr>
        <p:txBody>
          <a:bodyPr wrap="square" lIns="0" tIns="0" rIns="0" bIns="0" rtlCol="0" anchor="ctr"/>
          <a:lstStyle/>
          <a:p>
            <a:pPr marL="0" indent="0">
              <a:buNone/>
            </a:pPr>
            <a:r>
              <a:rPr lang="en-US" sz="1200" b="1" dirty="0">
                <a:solidFill>
                  <a:srgbClr val="FFFFFF"/>
                </a:solidFill>
                <a:latin typeface="Nunito" pitchFamily="34" charset="0"/>
                <a:ea typeface="Nunito" pitchFamily="34" charset="-122"/>
                <a:cs typeface="Nunito" pitchFamily="34" charset="-120"/>
              </a:rPr>
              <a:t>IoT Appliance Control Demo</a:t>
            </a:r>
            <a:endParaRPr lang="en-US" sz="1200" dirty="0"/>
          </a:p>
        </p:txBody>
      </p:sp>
      <p:sp>
        <p:nvSpPr>
          <p:cNvPr id="24" name="Text 22"/>
          <p:cNvSpPr/>
          <p:nvPr/>
        </p:nvSpPr>
        <p:spPr>
          <a:xfrm>
            <a:off x="530352" y="2971800"/>
            <a:ext cx="2450592" cy="841248"/>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Successful demonstration of IoT-enabled appliance control via brain signals.</a:t>
            </a:r>
            <a:endParaRPr lang="en-US" sz="1050" dirty="0"/>
          </a:p>
        </p:txBody>
      </p:sp>
      <p:sp>
        <p:nvSpPr>
          <p:cNvPr id="25" name="Shape 23"/>
          <p:cNvSpPr/>
          <p:nvPr/>
        </p:nvSpPr>
        <p:spPr>
          <a:xfrm>
            <a:off x="3191256" y="2313432"/>
            <a:ext cx="2743200" cy="1554480"/>
          </a:xfrm>
          <a:prstGeom prst="rect">
            <a:avLst/>
          </a:prstGeom>
          <a:solidFill>
            <a:srgbClr val="1E2B8F"/>
          </a:solidFill>
          <a:ln w="12700">
            <a:solidFill>
              <a:srgbClr val="1E2B8F"/>
            </a:solidFill>
            <a:prstDash val="solid"/>
          </a:ln>
        </p:spPr>
      </p:sp>
      <p:sp>
        <p:nvSpPr>
          <p:cNvPr id="26" name="Text 24"/>
          <p:cNvSpPr/>
          <p:nvPr/>
        </p:nvSpPr>
        <p:spPr>
          <a:xfrm>
            <a:off x="5276088" y="2404872"/>
            <a:ext cx="566928" cy="566928"/>
          </a:xfrm>
          <a:prstGeom prst="rect">
            <a:avLst/>
          </a:prstGeom>
          <a:noFill/>
          <a:ln/>
        </p:spPr>
        <p:txBody>
          <a:bodyPr wrap="square" lIns="0" tIns="0" rIns="0" bIns="0" rtlCol="0" anchor="ctr"/>
          <a:lstStyle/>
          <a:p>
            <a:pPr marL="0" indent="0" algn="r">
              <a:buNone/>
            </a:pPr>
            <a:r>
              <a:rPr lang="en-US" sz="3400" b="1" dirty="0">
                <a:solidFill>
                  <a:srgbClr val="00BCD4"/>
                </a:solidFill>
                <a:latin typeface="Nunito" pitchFamily="34" charset="0"/>
                <a:ea typeface="Nunito" pitchFamily="34" charset="-122"/>
                <a:cs typeface="Nunito" pitchFamily="34" charset="-120"/>
              </a:rPr>
              <a:t>05</a:t>
            </a:r>
            <a:endParaRPr lang="en-US" sz="3400" dirty="0"/>
          </a:p>
        </p:txBody>
      </p:sp>
      <p:sp>
        <p:nvSpPr>
          <p:cNvPr id="27" name="Shape 25"/>
          <p:cNvSpPr/>
          <p:nvPr/>
        </p:nvSpPr>
        <p:spPr>
          <a:xfrm>
            <a:off x="3191256" y="2313432"/>
            <a:ext cx="64008" cy="1554480"/>
          </a:xfrm>
          <a:prstGeom prst="rect">
            <a:avLst/>
          </a:prstGeom>
          <a:solidFill>
            <a:srgbClr val="00BCD4"/>
          </a:solidFill>
          <a:ln w="12700">
            <a:solidFill>
              <a:srgbClr val="00BCD4"/>
            </a:solidFill>
            <a:prstDash val="solid"/>
          </a:ln>
        </p:spPr>
      </p:sp>
      <p:sp>
        <p:nvSpPr>
          <p:cNvPr id="28" name="Text 26"/>
          <p:cNvSpPr/>
          <p:nvPr/>
        </p:nvSpPr>
        <p:spPr>
          <a:xfrm>
            <a:off x="3374136" y="2441448"/>
            <a:ext cx="1920240" cy="502920"/>
          </a:xfrm>
          <a:prstGeom prst="rect">
            <a:avLst/>
          </a:prstGeom>
          <a:noFill/>
          <a:ln/>
        </p:spPr>
        <p:txBody>
          <a:bodyPr wrap="square" lIns="0" tIns="0" rIns="0" bIns="0" rtlCol="0" anchor="ctr"/>
          <a:lstStyle/>
          <a:p>
            <a:pPr marL="0" indent="0">
              <a:buNone/>
            </a:pPr>
            <a:r>
              <a:rPr lang="en-US" sz="1200" b="1" dirty="0">
                <a:solidFill>
                  <a:srgbClr val="FFFFFF"/>
                </a:solidFill>
                <a:latin typeface="Nunito" pitchFamily="34" charset="0"/>
                <a:ea typeface="Nunito" pitchFamily="34" charset="-122"/>
                <a:cs typeface="Nunito" pitchFamily="34" charset="-120"/>
              </a:rPr>
              <a:t>Improved User Independence</a:t>
            </a:r>
            <a:endParaRPr lang="en-US" sz="1200" dirty="0"/>
          </a:p>
        </p:txBody>
      </p:sp>
      <p:sp>
        <p:nvSpPr>
          <p:cNvPr id="29" name="Text 27"/>
          <p:cNvSpPr/>
          <p:nvPr/>
        </p:nvSpPr>
        <p:spPr>
          <a:xfrm>
            <a:off x="3374136" y="2971800"/>
            <a:ext cx="2450592" cy="841248"/>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Enhanced independence for elderly and motor-disabled individuals.</a:t>
            </a:r>
            <a:endParaRPr lang="en-US" sz="1050" dirty="0"/>
          </a:p>
        </p:txBody>
      </p:sp>
      <p:sp>
        <p:nvSpPr>
          <p:cNvPr id="30" name="Shape 28"/>
          <p:cNvSpPr/>
          <p:nvPr/>
        </p:nvSpPr>
        <p:spPr>
          <a:xfrm>
            <a:off x="6035040" y="2313432"/>
            <a:ext cx="2743200" cy="1554480"/>
          </a:xfrm>
          <a:prstGeom prst="rect">
            <a:avLst/>
          </a:prstGeom>
          <a:solidFill>
            <a:srgbClr val="1E2B8F"/>
          </a:solidFill>
          <a:ln w="12700">
            <a:solidFill>
              <a:srgbClr val="1E2B8F"/>
            </a:solidFill>
            <a:prstDash val="solid"/>
          </a:ln>
        </p:spPr>
      </p:sp>
      <p:sp>
        <p:nvSpPr>
          <p:cNvPr id="31" name="Text 29"/>
          <p:cNvSpPr/>
          <p:nvPr/>
        </p:nvSpPr>
        <p:spPr>
          <a:xfrm>
            <a:off x="8119872" y="2404872"/>
            <a:ext cx="566928" cy="566928"/>
          </a:xfrm>
          <a:prstGeom prst="rect">
            <a:avLst/>
          </a:prstGeom>
          <a:noFill/>
          <a:ln/>
        </p:spPr>
        <p:txBody>
          <a:bodyPr wrap="square" lIns="0" tIns="0" rIns="0" bIns="0" rtlCol="0" anchor="ctr"/>
          <a:lstStyle/>
          <a:p>
            <a:pPr marL="0" indent="0" algn="r">
              <a:buNone/>
            </a:pPr>
            <a:r>
              <a:rPr lang="en-US" sz="3400" b="1" dirty="0">
                <a:solidFill>
                  <a:srgbClr val="00E5FF"/>
                </a:solidFill>
                <a:latin typeface="Nunito" pitchFamily="34" charset="0"/>
                <a:ea typeface="Nunito" pitchFamily="34" charset="-122"/>
                <a:cs typeface="Nunito" pitchFamily="34" charset="-120"/>
              </a:rPr>
              <a:t>06</a:t>
            </a:r>
            <a:endParaRPr lang="en-US" sz="3400" dirty="0"/>
          </a:p>
        </p:txBody>
      </p:sp>
      <p:sp>
        <p:nvSpPr>
          <p:cNvPr id="32" name="Shape 30"/>
          <p:cNvSpPr/>
          <p:nvPr/>
        </p:nvSpPr>
        <p:spPr>
          <a:xfrm>
            <a:off x="6035040" y="2313432"/>
            <a:ext cx="64008" cy="1554480"/>
          </a:xfrm>
          <a:prstGeom prst="rect">
            <a:avLst/>
          </a:prstGeom>
          <a:solidFill>
            <a:srgbClr val="00E5FF"/>
          </a:solidFill>
          <a:ln w="12700">
            <a:solidFill>
              <a:srgbClr val="00E5FF"/>
            </a:solidFill>
            <a:prstDash val="solid"/>
          </a:ln>
        </p:spPr>
      </p:sp>
      <p:sp>
        <p:nvSpPr>
          <p:cNvPr id="33" name="Text 31"/>
          <p:cNvSpPr/>
          <p:nvPr/>
        </p:nvSpPr>
        <p:spPr>
          <a:xfrm>
            <a:off x="6217920" y="2441448"/>
            <a:ext cx="1920240" cy="502920"/>
          </a:xfrm>
          <a:prstGeom prst="rect">
            <a:avLst/>
          </a:prstGeom>
          <a:noFill/>
          <a:ln/>
        </p:spPr>
        <p:txBody>
          <a:bodyPr wrap="square" lIns="0" tIns="0" rIns="0" bIns="0" rtlCol="0" anchor="ctr"/>
          <a:lstStyle/>
          <a:p>
            <a:pPr marL="0" indent="0">
              <a:buNone/>
            </a:pPr>
            <a:r>
              <a:rPr lang="en-US" sz="1200" b="1" dirty="0">
                <a:solidFill>
                  <a:srgbClr val="FFFFFF"/>
                </a:solidFill>
                <a:latin typeface="Nunito" pitchFamily="34" charset="0"/>
                <a:ea typeface="Nunito" pitchFamily="34" charset="-122"/>
                <a:cs typeface="Nunito" pitchFamily="34" charset="-120"/>
              </a:rPr>
              <a:t>Research Expansion Readiness</a:t>
            </a:r>
            <a:endParaRPr lang="en-US" sz="1200" dirty="0"/>
          </a:p>
        </p:txBody>
      </p:sp>
      <p:sp>
        <p:nvSpPr>
          <p:cNvPr id="34" name="Text 32"/>
          <p:cNvSpPr/>
          <p:nvPr/>
        </p:nvSpPr>
        <p:spPr>
          <a:xfrm>
            <a:off x="6217920" y="2971800"/>
            <a:ext cx="2450592" cy="841248"/>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Prototype ready for pilot implementation and further research expansion.</a:t>
            </a:r>
            <a:endParaRPr lang="en-US" sz="1050" dirty="0"/>
          </a:p>
        </p:txBody>
      </p:sp>
      <p:sp>
        <p:nvSpPr>
          <p:cNvPr id="35" name="Shape 33"/>
          <p:cNvSpPr/>
          <p:nvPr/>
        </p:nvSpPr>
        <p:spPr>
          <a:xfrm>
            <a:off x="0" y="4818888"/>
            <a:ext cx="9144000" cy="324612"/>
          </a:xfrm>
          <a:prstGeom prst="rect">
            <a:avLst/>
          </a:prstGeom>
          <a:solidFill>
            <a:srgbClr val="060C38"/>
          </a:solidFill>
          <a:ln w="12700">
            <a:solidFill>
              <a:srgbClr val="060C38"/>
            </a:solidFill>
            <a:prstDash val="solid"/>
          </a:ln>
        </p:spPr>
      </p:sp>
      <p:sp>
        <p:nvSpPr>
          <p:cNvPr id="36" name="Shape 34"/>
          <p:cNvSpPr/>
          <p:nvPr/>
        </p:nvSpPr>
        <p:spPr>
          <a:xfrm>
            <a:off x="0" y="4818888"/>
            <a:ext cx="118872" cy="324612"/>
          </a:xfrm>
          <a:prstGeom prst="rect">
            <a:avLst/>
          </a:prstGeom>
          <a:solidFill>
            <a:srgbClr val="00E5FF"/>
          </a:solidFill>
          <a:ln w="12700">
            <a:solidFill>
              <a:srgbClr val="00E5FF"/>
            </a:solidFill>
            <a:prstDash val="solid"/>
          </a:ln>
        </p:spPr>
      </p:sp>
      <p:sp>
        <p:nvSpPr>
          <p:cNvPr id="37" name="Text 35"/>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38" name="Text 36"/>
          <p:cNvSpPr/>
          <p:nvPr/>
        </p:nvSpPr>
        <p:spPr>
          <a:xfrm>
            <a:off x="3931920" y="4841748"/>
            <a:ext cx="1828800" cy="274320"/>
          </a:xfrm>
          <a:prstGeom prst="rect">
            <a:avLst/>
          </a:prstGeom>
          <a:noFill/>
          <a:ln/>
        </p:spPr>
        <p:txBody>
          <a:bodyPr wrap="square" lIns="0" tIns="0" rIns="0" bIns="0" rtlCol="0" anchor="ctr"/>
          <a:lstStyle/>
          <a:p>
            <a:pPr algn="ctr"/>
            <a:r>
              <a:rPr lang="en-US" sz="850" dirty="0">
                <a:solidFill>
                  <a:srgbClr val="7986CB"/>
                </a:solidFill>
                <a:latin typeface="Calibri" pitchFamily="34" charset="0"/>
                <a:ea typeface="Calibri" pitchFamily="34" charset="-122"/>
                <a:cs typeface="Calibri" pitchFamily="34" charset="-120"/>
              </a:rPr>
              <a:t>Priyankaba Jadej</a:t>
            </a:r>
            <a:endParaRPr lang="en-US" sz="850" dirty="0"/>
          </a:p>
        </p:txBody>
      </p:sp>
      <p:sp>
        <p:nvSpPr>
          <p:cNvPr id="39" name="Text 37"/>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11 / 17</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554"/>
        </a:solidFill>
        <a:effectLst/>
      </p:bgPr>
    </p:bg>
    <p:spTree>
      <p:nvGrpSpPr>
        <p:cNvPr id="1" name=""/>
        <p:cNvGrpSpPr/>
        <p:nvPr/>
      </p:nvGrpSpPr>
      <p:grpSpPr>
        <a:xfrm>
          <a:off x="0" y="0"/>
          <a:ext cx="0" cy="0"/>
          <a:chOff x="0" y="0"/>
          <a:chExt cx="0" cy="0"/>
        </a:xfrm>
      </p:grpSpPr>
      <p:sp>
        <p:nvSpPr>
          <p:cNvPr id="2" name="Text 0"/>
          <p:cNvSpPr/>
          <p:nvPr/>
        </p:nvSpPr>
        <p:spPr>
          <a:xfrm>
            <a:off x="347472" y="128016"/>
            <a:ext cx="457200" cy="274320"/>
          </a:xfrm>
          <a:prstGeom prst="rect">
            <a:avLst/>
          </a:prstGeom>
          <a:noFill/>
          <a:ln/>
        </p:spPr>
        <p:txBody>
          <a:bodyPr wrap="square" lIns="0" tIns="0" rIns="0" bIns="0" rtlCol="0" anchor="ctr"/>
          <a:lstStyle/>
          <a:p>
            <a:pPr marL="0" indent="0">
              <a:buNone/>
            </a:pPr>
            <a:r>
              <a:rPr lang="en-US" sz="1000" b="1" dirty="0">
                <a:solidFill>
                  <a:srgbClr val="00E5FF"/>
                </a:solidFill>
                <a:latin typeface="Nunito" pitchFamily="34" charset="0"/>
                <a:ea typeface="Nunito" pitchFamily="34" charset="-122"/>
                <a:cs typeface="Nunito" pitchFamily="34" charset="-120"/>
              </a:rPr>
              <a:t>12</a:t>
            </a:r>
            <a:endParaRPr lang="en-US" sz="1000" dirty="0"/>
          </a:p>
        </p:txBody>
      </p:sp>
      <p:sp>
        <p:nvSpPr>
          <p:cNvPr id="3" name="Text 1"/>
          <p:cNvSpPr/>
          <p:nvPr/>
        </p:nvSpPr>
        <p:spPr>
          <a:xfrm>
            <a:off x="548640" y="128016"/>
            <a:ext cx="8412480" cy="347472"/>
          </a:xfrm>
          <a:prstGeom prst="rect">
            <a:avLst/>
          </a:prstGeom>
          <a:noFill/>
          <a:ln/>
        </p:spPr>
        <p:txBody>
          <a:bodyPr wrap="square" lIns="0" tIns="0" rIns="0" bIns="0" rtlCol="0" anchor="ctr"/>
          <a:lstStyle/>
          <a:p>
            <a:pPr marL="0" indent="0">
              <a:buNone/>
            </a:pPr>
            <a:r>
              <a:rPr lang="en-US" sz="2000" b="1" dirty="0">
                <a:solidFill>
                  <a:srgbClr val="FFFFFF"/>
                </a:solidFill>
                <a:latin typeface="Nunito" pitchFamily="34" charset="0"/>
                <a:ea typeface="Nunito" pitchFamily="34" charset="-122"/>
                <a:cs typeface="Nunito" pitchFamily="34" charset="-120"/>
              </a:rPr>
              <a:t>References</a:t>
            </a:r>
            <a:endParaRPr lang="en-US" sz="2000" dirty="0"/>
          </a:p>
        </p:txBody>
      </p:sp>
      <p:sp>
        <p:nvSpPr>
          <p:cNvPr id="4" name="Shape 2"/>
          <p:cNvSpPr/>
          <p:nvPr/>
        </p:nvSpPr>
        <p:spPr>
          <a:xfrm>
            <a:off x="347472" y="512064"/>
            <a:ext cx="1280160" cy="36576"/>
          </a:xfrm>
          <a:prstGeom prst="rect">
            <a:avLst/>
          </a:prstGeom>
          <a:solidFill>
            <a:srgbClr val="00E5FF"/>
          </a:solidFill>
          <a:ln w="12700">
            <a:solidFill>
              <a:srgbClr val="00E5FF"/>
            </a:solidFill>
            <a:prstDash val="solid"/>
          </a:ln>
        </p:spPr>
      </p:sp>
      <p:sp>
        <p:nvSpPr>
          <p:cNvPr id="5" name="Shape 3"/>
          <p:cNvSpPr/>
          <p:nvPr/>
        </p:nvSpPr>
        <p:spPr>
          <a:xfrm>
            <a:off x="347472" y="658368"/>
            <a:ext cx="2834640" cy="4041648"/>
          </a:xfrm>
          <a:prstGeom prst="rect">
            <a:avLst/>
          </a:prstGeom>
          <a:solidFill>
            <a:srgbClr val="1A237E"/>
          </a:solidFill>
          <a:ln w="12700">
            <a:solidFill>
              <a:srgbClr val="1A237E"/>
            </a:solidFill>
            <a:prstDash val="solid"/>
          </a:ln>
        </p:spPr>
      </p:sp>
      <p:sp>
        <p:nvSpPr>
          <p:cNvPr id="6" name="Shape 4"/>
          <p:cNvSpPr/>
          <p:nvPr/>
        </p:nvSpPr>
        <p:spPr>
          <a:xfrm>
            <a:off x="347472" y="658368"/>
            <a:ext cx="73152" cy="4041648"/>
          </a:xfrm>
          <a:prstGeom prst="rect">
            <a:avLst/>
          </a:prstGeom>
          <a:solidFill>
            <a:srgbClr val="00BCD4"/>
          </a:solidFill>
          <a:ln w="12700">
            <a:solidFill>
              <a:srgbClr val="00BCD4"/>
            </a:solidFill>
            <a:prstDash val="solid"/>
          </a:ln>
        </p:spPr>
      </p:sp>
      <p:sp>
        <p:nvSpPr>
          <p:cNvPr id="8" name="Text 6"/>
          <p:cNvSpPr/>
          <p:nvPr/>
        </p:nvSpPr>
        <p:spPr>
          <a:xfrm>
            <a:off x="576072" y="925654"/>
            <a:ext cx="2514600" cy="594360"/>
          </a:xfrm>
          <a:prstGeom prst="rect">
            <a:avLst/>
          </a:prstGeom>
          <a:noFill/>
          <a:ln/>
        </p:spPr>
        <p:txBody>
          <a:bodyPr wrap="square" lIns="0" tIns="0" rIns="0" bIns="0" rtlCol="0" anchor="ctr"/>
          <a:lstStyle/>
          <a:p>
            <a:pPr marL="0" indent="0">
              <a:buNone/>
            </a:pPr>
            <a:r>
              <a:rPr lang="en-US" sz="1600" dirty="0">
                <a:solidFill>
                  <a:srgbClr val="B0BEC5"/>
                </a:solidFill>
                <a:latin typeface="Calibri" pitchFamily="34" charset="0"/>
                <a:ea typeface="Calibri" pitchFamily="34" charset="-122"/>
                <a:cs typeface="Calibri" pitchFamily="34" charset="-120"/>
              </a:rPr>
              <a:t>4 key references supporting</a:t>
            </a:r>
            <a:endParaRPr lang="en-US" sz="1600" dirty="0"/>
          </a:p>
          <a:p>
            <a:pPr marL="0" indent="0">
              <a:buNone/>
            </a:pPr>
            <a:r>
              <a:rPr lang="en-US" sz="1600" dirty="0">
                <a:solidFill>
                  <a:srgbClr val="B0BEC5"/>
                </a:solidFill>
                <a:latin typeface="Calibri" pitchFamily="34" charset="0"/>
                <a:ea typeface="Calibri" pitchFamily="34" charset="-122"/>
                <a:cs typeface="Calibri" pitchFamily="34" charset="-120"/>
              </a:rPr>
              <a:t>this research proposal.</a:t>
            </a:r>
            <a:endParaRPr lang="en-US" sz="1600" dirty="0"/>
          </a:p>
        </p:txBody>
      </p:sp>
      <p:sp>
        <p:nvSpPr>
          <p:cNvPr id="9" name="Shape 7"/>
          <p:cNvSpPr/>
          <p:nvPr/>
        </p:nvSpPr>
        <p:spPr>
          <a:xfrm>
            <a:off x="548640" y="1965960"/>
            <a:ext cx="1188720" cy="347472"/>
          </a:xfrm>
          <a:prstGeom prst="rect">
            <a:avLst/>
          </a:prstGeom>
          <a:solidFill>
            <a:srgbClr val="00BCD4">
              <a:alpha val="45000"/>
            </a:srgbClr>
          </a:solidFill>
          <a:ln w="12700">
            <a:solidFill>
              <a:srgbClr val="00BCD4"/>
            </a:solidFill>
            <a:prstDash val="solid"/>
          </a:ln>
        </p:spPr>
      </p:sp>
      <p:sp>
        <p:nvSpPr>
          <p:cNvPr id="10" name="Text 8"/>
          <p:cNvSpPr/>
          <p:nvPr/>
        </p:nvSpPr>
        <p:spPr>
          <a:xfrm>
            <a:off x="548640" y="196596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Nunito" pitchFamily="34" charset="0"/>
                <a:ea typeface="Nunito" pitchFamily="34" charset="-122"/>
                <a:cs typeface="Nunito" pitchFamily="34" charset="-120"/>
              </a:rPr>
              <a:t>BCI</a:t>
            </a:r>
            <a:endParaRPr lang="en-US" sz="1100" dirty="0"/>
          </a:p>
        </p:txBody>
      </p:sp>
      <p:sp>
        <p:nvSpPr>
          <p:cNvPr id="11" name="Shape 9"/>
          <p:cNvSpPr/>
          <p:nvPr/>
        </p:nvSpPr>
        <p:spPr>
          <a:xfrm>
            <a:off x="548640" y="2441448"/>
            <a:ext cx="1188720" cy="347472"/>
          </a:xfrm>
          <a:prstGeom prst="rect">
            <a:avLst/>
          </a:prstGeom>
          <a:solidFill>
            <a:srgbClr val="00E5FF">
              <a:alpha val="45000"/>
            </a:srgbClr>
          </a:solidFill>
          <a:ln w="12700">
            <a:solidFill>
              <a:srgbClr val="00E5FF"/>
            </a:solidFill>
            <a:prstDash val="solid"/>
          </a:ln>
        </p:spPr>
      </p:sp>
      <p:sp>
        <p:nvSpPr>
          <p:cNvPr id="12" name="Text 10"/>
          <p:cNvSpPr/>
          <p:nvPr/>
        </p:nvSpPr>
        <p:spPr>
          <a:xfrm>
            <a:off x="548640" y="2441448"/>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Nunito" pitchFamily="34" charset="0"/>
                <a:ea typeface="Nunito" pitchFamily="34" charset="-122"/>
                <a:cs typeface="Nunito" pitchFamily="34" charset="-120"/>
              </a:rPr>
              <a:t>AI/ML</a:t>
            </a:r>
            <a:endParaRPr lang="en-US" sz="1100" dirty="0"/>
          </a:p>
        </p:txBody>
      </p:sp>
      <p:sp>
        <p:nvSpPr>
          <p:cNvPr id="13" name="Shape 11"/>
          <p:cNvSpPr/>
          <p:nvPr/>
        </p:nvSpPr>
        <p:spPr>
          <a:xfrm>
            <a:off x="548640" y="2916936"/>
            <a:ext cx="1188720" cy="347472"/>
          </a:xfrm>
          <a:prstGeom prst="rect">
            <a:avLst/>
          </a:prstGeom>
          <a:solidFill>
            <a:srgbClr val="FF7043">
              <a:alpha val="45000"/>
            </a:srgbClr>
          </a:solidFill>
          <a:ln w="12700">
            <a:solidFill>
              <a:srgbClr val="FF7043"/>
            </a:solidFill>
            <a:prstDash val="solid"/>
          </a:ln>
        </p:spPr>
      </p:sp>
      <p:sp>
        <p:nvSpPr>
          <p:cNvPr id="14" name="Text 12"/>
          <p:cNvSpPr/>
          <p:nvPr/>
        </p:nvSpPr>
        <p:spPr>
          <a:xfrm>
            <a:off x="548640" y="2916936"/>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Nunito" pitchFamily="34" charset="0"/>
                <a:ea typeface="Nunito" pitchFamily="34" charset="-122"/>
                <a:cs typeface="Nunito" pitchFamily="34" charset="-120"/>
              </a:rPr>
              <a:t>IoT</a:t>
            </a:r>
            <a:endParaRPr lang="en-US" sz="1100" dirty="0"/>
          </a:p>
        </p:txBody>
      </p:sp>
      <p:sp>
        <p:nvSpPr>
          <p:cNvPr id="15" name="Shape 13"/>
          <p:cNvSpPr/>
          <p:nvPr/>
        </p:nvSpPr>
        <p:spPr>
          <a:xfrm>
            <a:off x="548640" y="3392424"/>
            <a:ext cx="1188720" cy="347472"/>
          </a:xfrm>
          <a:prstGeom prst="rect">
            <a:avLst/>
          </a:prstGeom>
          <a:solidFill>
            <a:srgbClr val="FFB300">
              <a:alpha val="45000"/>
            </a:srgbClr>
          </a:solidFill>
          <a:ln w="12700">
            <a:solidFill>
              <a:srgbClr val="FFB300"/>
            </a:solidFill>
            <a:prstDash val="solid"/>
          </a:ln>
        </p:spPr>
      </p:sp>
      <p:sp>
        <p:nvSpPr>
          <p:cNvPr id="16" name="Text 14"/>
          <p:cNvSpPr/>
          <p:nvPr/>
        </p:nvSpPr>
        <p:spPr>
          <a:xfrm>
            <a:off x="548640" y="3392424"/>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Nunito" pitchFamily="34" charset="0"/>
                <a:ea typeface="Nunito" pitchFamily="34" charset="-122"/>
                <a:cs typeface="Nunito" pitchFamily="34" charset="-120"/>
              </a:rPr>
              <a:t>Assistive Tech</a:t>
            </a:r>
            <a:endParaRPr lang="en-US" sz="1100" dirty="0"/>
          </a:p>
        </p:txBody>
      </p:sp>
      <p:sp>
        <p:nvSpPr>
          <p:cNvPr id="17" name="Shape 15"/>
          <p:cNvSpPr/>
          <p:nvPr/>
        </p:nvSpPr>
        <p:spPr>
          <a:xfrm>
            <a:off x="3337560" y="658368"/>
            <a:ext cx="5458968" cy="914400"/>
          </a:xfrm>
          <a:prstGeom prst="rect">
            <a:avLst/>
          </a:prstGeom>
          <a:solidFill>
            <a:srgbClr val="0A1145"/>
          </a:solidFill>
          <a:ln w="12700">
            <a:solidFill>
              <a:srgbClr val="0A1145"/>
            </a:solidFill>
            <a:prstDash val="solid"/>
          </a:ln>
        </p:spPr>
      </p:sp>
      <p:sp>
        <p:nvSpPr>
          <p:cNvPr id="18" name="Shape 16"/>
          <p:cNvSpPr/>
          <p:nvPr/>
        </p:nvSpPr>
        <p:spPr>
          <a:xfrm>
            <a:off x="3337560" y="658368"/>
            <a:ext cx="54864" cy="914400"/>
          </a:xfrm>
          <a:prstGeom prst="rect">
            <a:avLst/>
          </a:prstGeom>
          <a:solidFill>
            <a:srgbClr val="00BCD4"/>
          </a:solidFill>
          <a:ln w="12700">
            <a:solidFill>
              <a:srgbClr val="00BCD4"/>
            </a:solidFill>
            <a:prstDash val="solid"/>
          </a:ln>
        </p:spPr>
      </p:sp>
      <p:sp>
        <p:nvSpPr>
          <p:cNvPr id="19" name="Text 17"/>
          <p:cNvSpPr/>
          <p:nvPr/>
        </p:nvSpPr>
        <p:spPr>
          <a:xfrm>
            <a:off x="3474720" y="749808"/>
            <a:ext cx="347472" cy="320040"/>
          </a:xfrm>
          <a:prstGeom prst="rect">
            <a:avLst/>
          </a:prstGeom>
          <a:noFill/>
          <a:ln/>
        </p:spPr>
        <p:txBody>
          <a:bodyPr wrap="square" lIns="0" tIns="0" rIns="0" bIns="0" rtlCol="0" anchor="ctr"/>
          <a:lstStyle/>
          <a:p>
            <a:pPr marL="0" indent="0">
              <a:buNone/>
            </a:pPr>
            <a:r>
              <a:rPr lang="en-US" sz="1400" b="1" dirty="0">
                <a:solidFill>
                  <a:srgbClr val="00BCD4"/>
                </a:solidFill>
                <a:latin typeface="Nunito" pitchFamily="34" charset="0"/>
                <a:ea typeface="Nunito" pitchFamily="34" charset="-122"/>
                <a:cs typeface="Nunito" pitchFamily="34" charset="-120"/>
              </a:rPr>
              <a:t>[1]</a:t>
            </a:r>
            <a:endParaRPr lang="en-US" sz="1400" dirty="0"/>
          </a:p>
        </p:txBody>
      </p:sp>
      <p:sp>
        <p:nvSpPr>
          <p:cNvPr id="20" name="Text 18"/>
          <p:cNvSpPr/>
          <p:nvPr/>
        </p:nvSpPr>
        <p:spPr>
          <a:xfrm>
            <a:off x="3840480" y="731520"/>
            <a:ext cx="4846320" cy="768096"/>
          </a:xfrm>
          <a:prstGeom prst="rect">
            <a:avLst/>
          </a:prstGeom>
          <a:noFill/>
          <a:ln/>
        </p:spPr>
        <p:txBody>
          <a:bodyPr wrap="square" lIns="0" tIns="0" rIns="0" bIns="0" rtlCol="0" anchor="ctr"/>
          <a:lstStyle/>
          <a:p>
            <a:pPr marL="0" indent="0">
              <a:buNone/>
            </a:pPr>
            <a:r>
              <a:rPr lang="en-US" sz="1050" dirty="0">
                <a:solidFill>
                  <a:srgbClr val="CFD8DC"/>
                </a:solidFill>
                <a:latin typeface="Calibri" pitchFamily="34" charset="0"/>
                <a:ea typeface="Calibri" pitchFamily="34" charset="-122"/>
                <a:cs typeface="Calibri" pitchFamily="34" charset="-120"/>
              </a:rPr>
              <a:t>Wolpaw, J. R., &amp; Wolpaw, E. W. (2012). Brain-Computer Interfaces: Principles and Practice. Oxford University Press.</a:t>
            </a:r>
            <a:endParaRPr lang="en-US" sz="1050" dirty="0"/>
          </a:p>
        </p:txBody>
      </p:sp>
      <p:sp>
        <p:nvSpPr>
          <p:cNvPr id="21" name="Shape 19"/>
          <p:cNvSpPr/>
          <p:nvPr/>
        </p:nvSpPr>
        <p:spPr>
          <a:xfrm>
            <a:off x="3337560" y="1664208"/>
            <a:ext cx="5458968" cy="914400"/>
          </a:xfrm>
          <a:prstGeom prst="rect">
            <a:avLst/>
          </a:prstGeom>
          <a:solidFill>
            <a:srgbClr val="0A1145"/>
          </a:solidFill>
          <a:ln w="12700">
            <a:solidFill>
              <a:srgbClr val="0A1145"/>
            </a:solidFill>
            <a:prstDash val="solid"/>
          </a:ln>
        </p:spPr>
      </p:sp>
      <p:sp>
        <p:nvSpPr>
          <p:cNvPr id="22" name="Shape 20"/>
          <p:cNvSpPr/>
          <p:nvPr/>
        </p:nvSpPr>
        <p:spPr>
          <a:xfrm>
            <a:off x="3337560" y="1664208"/>
            <a:ext cx="54864" cy="914400"/>
          </a:xfrm>
          <a:prstGeom prst="rect">
            <a:avLst/>
          </a:prstGeom>
          <a:solidFill>
            <a:srgbClr val="00E5FF"/>
          </a:solidFill>
          <a:ln w="12700">
            <a:solidFill>
              <a:srgbClr val="00E5FF"/>
            </a:solidFill>
            <a:prstDash val="solid"/>
          </a:ln>
        </p:spPr>
      </p:sp>
      <p:sp>
        <p:nvSpPr>
          <p:cNvPr id="23" name="Text 21"/>
          <p:cNvSpPr/>
          <p:nvPr/>
        </p:nvSpPr>
        <p:spPr>
          <a:xfrm>
            <a:off x="3474720" y="1755648"/>
            <a:ext cx="347472" cy="320040"/>
          </a:xfrm>
          <a:prstGeom prst="rect">
            <a:avLst/>
          </a:prstGeom>
          <a:noFill/>
          <a:ln/>
        </p:spPr>
        <p:txBody>
          <a:bodyPr wrap="square" lIns="0" tIns="0" rIns="0" bIns="0" rtlCol="0" anchor="ctr"/>
          <a:lstStyle/>
          <a:p>
            <a:pPr marL="0" indent="0">
              <a:buNone/>
            </a:pPr>
            <a:r>
              <a:rPr lang="en-US" sz="1400" b="1" dirty="0">
                <a:solidFill>
                  <a:srgbClr val="00E5FF"/>
                </a:solidFill>
                <a:latin typeface="Nunito" pitchFamily="34" charset="0"/>
                <a:ea typeface="Nunito" pitchFamily="34" charset="-122"/>
                <a:cs typeface="Nunito" pitchFamily="34" charset="-120"/>
              </a:rPr>
              <a:t>[2]</a:t>
            </a:r>
            <a:endParaRPr lang="en-US" sz="1400" dirty="0"/>
          </a:p>
        </p:txBody>
      </p:sp>
      <p:sp>
        <p:nvSpPr>
          <p:cNvPr id="24" name="Text 22"/>
          <p:cNvSpPr/>
          <p:nvPr/>
        </p:nvSpPr>
        <p:spPr>
          <a:xfrm>
            <a:off x="3840480" y="1737360"/>
            <a:ext cx="4846320" cy="768096"/>
          </a:xfrm>
          <a:prstGeom prst="rect">
            <a:avLst/>
          </a:prstGeom>
          <a:noFill/>
          <a:ln/>
        </p:spPr>
        <p:txBody>
          <a:bodyPr wrap="square" lIns="0" tIns="0" rIns="0" bIns="0" rtlCol="0" anchor="ctr"/>
          <a:lstStyle/>
          <a:p>
            <a:pPr marL="0" indent="0">
              <a:buNone/>
            </a:pPr>
            <a:r>
              <a:rPr lang="en-US" sz="1050" dirty="0">
                <a:solidFill>
                  <a:srgbClr val="CFD8DC"/>
                </a:solidFill>
                <a:latin typeface="Calibri" pitchFamily="34" charset="0"/>
                <a:ea typeface="Calibri" pitchFamily="34" charset="-122"/>
                <a:cs typeface="Calibri" pitchFamily="34" charset="-120"/>
              </a:rPr>
              <a:t>Nicolas-Alonso, L. F., &amp; Gomez-Gil, J. (2012). Brain-Computer Interfaces: A Review. Sensors, 12(2), 1211–1279.</a:t>
            </a:r>
            <a:endParaRPr lang="en-US" sz="1050" dirty="0"/>
          </a:p>
        </p:txBody>
      </p:sp>
      <p:sp>
        <p:nvSpPr>
          <p:cNvPr id="25" name="Shape 23"/>
          <p:cNvSpPr/>
          <p:nvPr/>
        </p:nvSpPr>
        <p:spPr>
          <a:xfrm>
            <a:off x="3337560" y="2670048"/>
            <a:ext cx="5458968" cy="914400"/>
          </a:xfrm>
          <a:prstGeom prst="rect">
            <a:avLst/>
          </a:prstGeom>
          <a:solidFill>
            <a:srgbClr val="0A1145"/>
          </a:solidFill>
          <a:ln w="12700">
            <a:solidFill>
              <a:srgbClr val="0A1145"/>
            </a:solidFill>
            <a:prstDash val="solid"/>
          </a:ln>
        </p:spPr>
      </p:sp>
      <p:sp>
        <p:nvSpPr>
          <p:cNvPr id="26" name="Shape 24"/>
          <p:cNvSpPr/>
          <p:nvPr/>
        </p:nvSpPr>
        <p:spPr>
          <a:xfrm>
            <a:off x="3337560" y="2670048"/>
            <a:ext cx="54864" cy="914400"/>
          </a:xfrm>
          <a:prstGeom prst="rect">
            <a:avLst/>
          </a:prstGeom>
          <a:solidFill>
            <a:srgbClr val="FF7043"/>
          </a:solidFill>
          <a:ln w="12700">
            <a:solidFill>
              <a:srgbClr val="FF7043"/>
            </a:solidFill>
            <a:prstDash val="solid"/>
          </a:ln>
        </p:spPr>
      </p:sp>
      <p:sp>
        <p:nvSpPr>
          <p:cNvPr id="27" name="Text 25"/>
          <p:cNvSpPr/>
          <p:nvPr/>
        </p:nvSpPr>
        <p:spPr>
          <a:xfrm>
            <a:off x="3474720" y="2761488"/>
            <a:ext cx="347472" cy="320040"/>
          </a:xfrm>
          <a:prstGeom prst="rect">
            <a:avLst/>
          </a:prstGeom>
          <a:noFill/>
          <a:ln/>
        </p:spPr>
        <p:txBody>
          <a:bodyPr wrap="square" lIns="0" tIns="0" rIns="0" bIns="0" rtlCol="0" anchor="ctr"/>
          <a:lstStyle/>
          <a:p>
            <a:pPr marL="0" indent="0">
              <a:buNone/>
            </a:pPr>
            <a:r>
              <a:rPr lang="en-US" sz="1400" b="1" dirty="0">
                <a:solidFill>
                  <a:srgbClr val="FF7043"/>
                </a:solidFill>
                <a:latin typeface="Nunito" pitchFamily="34" charset="0"/>
                <a:ea typeface="Nunito" pitchFamily="34" charset="-122"/>
                <a:cs typeface="Nunito" pitchFamily="34" charset="-120"/>
              </a:rPr>
              <a:t>[3]</a:t>
            </a:r>
            <a:endParaRPr lang="en-US" sz="1400" dirty="0"/>
          </a:p>
        </p:txBody>
      </p:sp>
      <p:sp>
        <p:nvSpPr>
          <p:cNvPr id="28" name="Text 26"/>
          <p:cNvSpPr/>
          <p:nvPr/>
        </p:nvSpPr>
        <p:spPr>
          <a:xfrm>
            <a:off x="3840480" y="2743200"/>
            <a:ext cx="4846320" cy="768096"/>
          </a:xfrm>
          <a:prstGeom prst="rect">
            <a:avLst/>
          </a:prstGeom>
          <a:noFill/>
          <a:ln/>
        </p:spPr>
        <p:txBody>
          <a:bodyPr wrap="square" lIns="0" tIns="0" rIns="0" bIns="0" rtlCol="0" anchor="ctr"/>
          <a:lstStyle/>
          <a:p>
            <a:pPr marL="0" indent="0">
              <a:buNone/>
            </a:pPr>
            <a:r>
              <a:rPr lang="en-US" sz="1050" dirty="0">
                <a:solidFill>
                  <a:srgbClr val="CFD8DC"/>
                </a:solidFill>
                <a:latin typeface="Calibri" pitchFamily="34" charset="0"/>
                <a:ea typeface="Calibri" pitchFamily="34" charset="-122"/>
                <a:cs typeface="Calibri" pitchFamily="34" charset="-120"/>
              </a:rPr>
              <a:t>Khan, R., &amp; Abbas, S. (2019). IoT-Based Smart Home Systems: A Review. International Journal of Computer Applications, 178(40), 1–6.</a:t>
            </a:r>
            <a:endParaRPr lang="en-US" sz="1050" dirty="0"/>
          </a:p>
        </p:txBody>
      </p:sp>
      <p:sp>
        <p:nvSpPr>
          <p:cNvPr id="29" name="Shape 27"/>
          <p:cNvSpPr/>
          <p:nvPr/>
        </p:nvSpPr>
        <p:spPr>
          <a:xfrm>
            <a:off x="3337560" y="3675888"/>
            <a:ext cx="5458968" cy="914400"/>
          </a:xfrm>
          <a:prstGeom prst="rect">
            <a:avLst/>
          </a:prstGeom>
          <a:solidFill>
            <a:srgbClr val="0A1145"/>
          </a:solidFill>
          <a:ln w="12700">
            <a:solidFill>
              <a:srgbClr val="0A1145"/>
            </a:solidFill>
            <a:prstDash val="solid"/>
          </a:ln>
        </p:spPr>
      </p:sp>
      <p:sp>
        <p:nvSpPr>
          <p:cNvPr id="30" name="Shape 28"/>
          <p:cNvSpPr/>
          <p:nvPr/>
        </p:nvSpPr>
        <p:spPr>
          <a:xfrm>
            <a:off x="3337560" y="3675888"/>
            <a:ext cx="54864" cy="914400"/>
          </a:xfrm>
          <a:prstGeom prst="rect">
            <a:avLst/>
          </a:prstGeom>
          <a:solidFill>
            <a:srgbClr val="FFB300"/>
          </a:solidFill>
          <a:ln w="12700">
            <a:solidFill>
              <a:srgbClr val="FFB300"/>
            </a:solidFill>
            <a:prstDash val="solid"/>
          </a:ln>
        </p:spPr>
      </p:sp>
      <p:sp>
        <p:nvSpPr>
          <p:cNvPr id="31" name="Text 29"/>
          <p:cNvSpPr/>
          <p:nvPr/>
        </p:nvSpPr>
        <p:spPr>
          <a:xfrm>
            <a:off x="3474720" y="3767328"/>
            <a:ext cx="347472" cy="320040"/>
          </a:xfrm>
          <a:prstGeom prst="rect">
            <a:avLst/>
          </a:prstGeom>
          <a:noFill/>
          <a:ln/>
        </p:spPr>
        <p:txBody>
          <a:bodyPr wrap="square" lIns="0" tIns="0" rIns="0" bIns="0" rtlCol="0" anchor="ctr"/>
          <a:lstStyle/>
          <a:p>
            <a:pPr marL="0" indent="0">
              <a:buNone/>
            </a:pPr>
            <a:r>
              <a:rPr lang="en-US" sz="1400" b="1" dirty="0">
                <a:solidFill>
                  <a:srgbClr val="FFB300"/>
                </a:solidFill>
                <a:latin typeface="Nunito" pitchFamily="34" charset="0"/>
                <a:ea typeface="Nunito" pitchFamily="34" charset="-122"/>
                <a:cs typeface="Nunito" pitchFamily="34" charset="-120"/>
              </a:rPr>
              <a:t>[4]</a:t>
            </a:r>
            <a:endParaRPr lang="en-US" sz="1400" dirty="0"/>
          </a:p>
        </p:txBody>
      </p:sp>
      <p:sp>
        <p:nvSpPr>
          <p:cNvPr id="32" name="Text 30"/>
          <p:cNvSpPr/>
          <p:nvPr/>
        </p:nvSpPr>
        <p:spPr>
          <a:xfrm>
            <a:off x="3840480" y="3749040"/>
            <a:ext cx="4846320" cy="768096"/>
          </a:xfrm>
          <a:prstGeom prst="rect">
            <a:avLst/>
          </a:prstGeom>
          <a:noFill/>
          <a:ln/>
        </p:spPr>
        <p:txBody>
          <a:bodyPr wrap="square" lIns="0" tIns="0" rIns="0" bIns="0" rtlCol="0" anchor="ctr"/>
          <a:lstStyle/>
          <a:p>
            <a:pPr marL="0" indent="0">
              <a:buNone/>
            </a:pPr>
            <a:r>
              <a:rPr lang="en-US" sz="1050" dirty="0">
                <a:solidFill>
                  <a:srgbClr val="CFD8DC"/>
                </a:solidFill>
                <a:latin typeface="Calibri" pitchFamily="34" charset="0"/>
                <a:ea typeface="Calibri" pitchFamily="34" charset="-122"/>
                <a:cs typeface="Calibri" pitchFamily="34" charset="-120"/>
              </a:rPr>
              <a:t>Rashid, M., et al. (2020). EEG-Based Brain-Computer Interface for Assistive Applications: A Review. IEEE Access, 8, 115–134.</a:t>
            </a:r>
            <a:endParaRPr lang="en-US" sz="1050" dirty="0"/>
          </a:p>
        </p:txBody>
      </p:sp>
      <p:sp>
        <p:nvSpPr>
          <p:cNvPr id="33" name="Shape 31"/>
          <p:cNvSpPr/>
          <p:nvPr/>
        </p:nvSpPr>
        <p:spPr>
          <a:xfrm>
            <a:off x="0" y="4818888"/>
            <a:ext cx="9144000" cy="324612"/>
          </a:xfrm>
          <a:prstGeom prst="rect">
            <a:avLst/>
          </a:prstGeom>
          <a:solidFill>
            <a:srgbClr val="060C38"/>
          </a:solidFill>
          <a:ln w="12700">
            <a:solidFill>
              <a:srgbClr val="060C38"/>
            </a:solidFill>
            <a:prstDash val="solid"/>
          </a:ln>
        </p:spPr>
      </p:sp>
      <p:sp>
        <p:nvSpPr>
          <p:cNvPr id="34" name="Shape 32"/>
          <p:cNvSpPr/>
          <p:nvPr/>
        </p:nvSpPr>
        <p:spPr>
          <a:xfrm>
            <a:off x="0" y="4818888"/>
            <a:ext cx="118872" cy="324612"/>
          </a:xfrm>
          <a:prstGeom prst="rect">
            <a:avLst/>
          </a:prstGeom>
          <a:solidFill>
            <a:srgbClr val="00E5FF"/>
          </a:solidFill>
          <a:ln w="12700">
            <a:solidFill>
              <a:srgbClr val="00E5FF"/>
            </a:solidFill>
            <a:prstDash val="solid"/>
          </a:ln>
        </p:spPr>
      </p:sp>
      <p:sp>
        <p:nvSpPr>
          <p:cNvPr id="35" name="Text 33"/>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36" name="Text 34"/>
          <p:cNvSpPr/>
          <p:nvPr/>
        </p:nvSpPr>
        <p:spPr>
          <a:xfrm>
            <a:off x="3931920" y="4841748"/>
            <a:ext cx="1828800" cy="274320"/>
          </a:xfrm>
          <a:prstGeom prst="rect">
            <a:avLst/>
          </a:prstGeom>
          <a:noFill/>
          <a:ln/>
        </p:spPr>
        <p:txBody>
          <a:bodyPr wrap="square" lIns="0" tIns="0" rIns="0" bIns="0" rtlCol="0" anchor="ctr"/>
          <a:lstStyle/>
          <a:p>
            <a:pPr marL="0" indent="0" algn="ctr">
              <a:buNone/>
            </a:pPr>
            <a:r>
              <a:rPr lang="en-US" sz="850" dirty="0">
                <a:solidFill>
                  <a:srgbClr val="7986CB"/>
                </a:solidFill>
                <a:latin typeface="Calibri" pitchFamily="34" charset="0"/>
                <a:ea typeface="Calibri" pitchFamily="34" charset="-122"/>
                <a:cs typeface="Calibri" pitchFamily="34" charset="-120"/>
              </a:rPr>
              <a:t>Feb 2026</a:t>
            </a:r>
            <a:endParaRPr lang="en-US" sz="850" dirty="0"/>
          </a:p>
        </p:txBody>
      </p:sp>
      <p:sp>
        <p:nvSpPr>
          <p:cNvPr id="37" name="Text 35"/>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12 / 17</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E42"/>
        </a:solidFill>
        <a:effectLst/>
      </p:bgPr>
    </p:bg>
    <p:spTree>
      <p:nvGrpSpPr>
        <p:cNvPr id="1" name=""/>
        <p:cNvGrpSpPr/>
        <p:nvPr/>
      </p:nvGrpSpPr>
      <p:grpSpPr>
        <a:xfrm>
          <a:off x="0" y="0"/>
          <a:ext cx="0" cy="0"/>
          <a:chOff x="0" y="0"/>
          <a:chExt cx="0" cy="0"/>
        </a:xfrm>
      </p:grpSpPr>
      <p:sp>
        <p:nvSpPr>
          <p:cNvPr id="2" name="Shape 0"/>
          <p:cNvSpPr/>
          <p:nvPr/>
        </p:nvSpPr>
        <p:spPr>
          <a:xfrm>
            <a:off x="5303520" y="-365760"/>
            <a:ext cx="4389120" cy="4389120"/>
          </a:xfrm>
          <a:prstGeom prst="ellipse">
            <a:avLst/>
          </a:prstGeom>
          <a:solidFill>
            <a:srgbClr val="080E42">
              <a:alpha val="0"/>
            </a:srgbClr>
          </a:solidFill>
          <a:ln w="381000">
            <a:solidFill>
              <a:srgbClr val="00BCD4">
                <a:alpha val="40000"/>
              </a:srgbClr>
            </a:solidFill>
            <a:prstDash val="solid"/>
          </a:ln>
        </p:spPr>
      </p:sp>
      <p:sp>
        <p:nvSpPr>
          <p:cNvPr id="3" name="Shape 1"/>
          <p:cNvSpPr/>
          <p:nvPr/>
        </p:nvSpPr>
        <p:spPr>
          <a:xfrm>
            <a:off x="6583680" y="1371600"/>
            <a:ext cx="2194560" cy="2194560"/>
          </a:xfrm>
          <a:prstGeom prst="ellipse">
            <a:avLst/>
          </a:prstGeom>
          <a:solidFill>
            <a:srgbClr val="080E42">
              <a:alpha val="0"/>
            </a:srgbClr>
          </a:solidFill>
          <a:ln w="228600">
            <a:solidFill>
              <a:srgbClr val="00E5FF">
                <a:alpha val="28000"/>
              </a:srgbClr>
            </a:solidFill>
            <a:prstDash val="solid"/>
          </a:ln>
        </p:spPr>
      </p:sp>
      <p:sp>
        <p:nvSpPr>
          <p:cNvPr id="4" name="Shape 2"/>
          <p:cNvSpPr/>
          <p:nvPr/>
        </p:nvSpPr>
        <p:spPr>
          <a:xfrm>
            <a:off x="8412480" y="4114800"/>
            <a:ext cx="502920" cy="502920"/>
          </a:xfrm>
          <a:prstGeom prst="ellipse">
            <a:avLst/>
          </a:prstGeom>
          <a:solidFill>
            <a:srgbClr val="00BCD4"/>
          </a:solidFill>
          <a:ln w="12700">
            <a:solidFill>
              <a:srgbClr val="00BCD4"/>
            </a:solidFill>
            <a:prstDash val="solid"/>
          </a:ln>
        </p:spPr>
      </p:sp>
      <p:sp>
        <p:nvSpPr>
          <p:cNvPr id="5" name="Shape 3"/>
          <p:cNvSpPr/>
          <p:nvPr/>
        </p:nvSpPr>
        <p:spPr>
          <a:xfrm>
            <a:off x="0" y="0"/>
            <a:ext cx="91440" cy="4818888"/>
          </a:xfrm>
          <a:prstGeom prst="rect">
            <a:avLst/>
          </a:prstGeom>
          <a:solidFill>
            <a:srgbClr val="00E5FF"/>
          </a:solidFill>
          <a:ln w="12700">
            <a:solidFill>
              <a:srgbClr val="00E5FF"/>
            </a:solidFill>
            <a:prstDash val="solid"/>
          </a:ln>
        </p:spPr>
      </p:sp>
      <p:sp>
        <p:nvSpPr>
          <p:cNvPr id="6" name="Text 4"/>
          <p:cNvSpPr/>
          <p:nvPr/>
        </p:nvSpPr>
        <p:spPr>
          <a:xfrm>
            <a:off x="320040" y="347472"/>
            <a:ext cx="4754880" cy="1188720"/>
          </a:xfrm>
          <a:prstGeom prst="rect">
            <a:avLst/>
          </a:prstGeom>
          <a:noFill/>
          <a:ln/>
        </p:spPr>
        <p:txBody>
          <a:bodyPr wrap="square" lIns="0" tIns="0" rIns="0" bIns="0" rtlCol="0" anchor="ctr"/>
          <a:lstStyle/>
          <a:p>
            <a:pPr marL="0" indent="0">
              <a:buNone/>
            </a:pPr>
            <a:r>
              <a:rPr lang="en-US" sz="7200" b="1" dirty="0">
                <a:solidFill>
                  <a:srgbClr val="FFFFFF"/>
                </a:solidFill>
                <a:latin typeface="Nunito" pitchFamily="34" charset="0"/>
                <a:ea typeface="Nunito" pitchFamily="34" charset="-122"/>
                <a:cs typeface="Nunito" pitchFamily="34" charset="-120"/>
              </a:rPr>
              <a:t>THANK</a:t>
            </a:r>
            <a:endParaRPr lang="en-US" sz="7200" dirty="0"/>
          </a:p>
        </p:txBody>
      </p:sp>
      <p:sp>
        <p:nvSpPr>
          <p:cNvPr id="7" name="Shape 5"/>
          <p:cNvSpPr/>
          <p:nvPr/>
        </p:nvSpPr>
        <p:spPr>
          <a:xfrm>
            <a:off x="320040" y="1463040"/>
            <a:ext cx="1920240" cy="82296"/>
          </a:xfrm>
          <a:prstGeom prst="rect">
            <a:avLst/>
          </a:prstGeom>
          <a:solidFill>
            <a:srgbClr val="00BCD4"/>
          </a:solidFill>
          <a:ln w="12700">
            <a:solidFill>
              <a:srgbClr val="00BCD4"/>
            </a:solidFill>
            <a:prstDash val="solid"/>
          </a:ln>
        </p:spPr>
      </p:sp>
      <p:sp>
        <p:nvSpPr>
          <p:cNvPr id="8" name="Text 6"/>
          <p:cNvSpPr/>
          <p:nvPr/>
        </p:nvSpPr>
        <p:spPr>
          <a:xfrm>
            <a:off x="320040" y="1536192"/>
            <a:ext cx="4754880" cy="1097280"/>
          </a:xfrm>
          <a:prstGeom prst="rect">
            <a:avLst/>
          </a:prstGeom>
          <a:noFill/>
          <a:ln/>
        </p:spPr>
        <p:txBody>
          <a:bodyPr wrap="square" lIns="0" tIns="0" rIns="0" bIns="0" rtlCol="0" anchor="ctr"/>
          <a:lstStyle/>
          <a:p>
            <a:pPr marL="0" indent="0">
              <a:buNone/>
            </a:pPr>
            <a:r>
              <a:rPr lang="en-US" sz="7200" b="1" dirty="0">
                <a:solidFill>
                  <a:srgbClr val="00E5FF"/>
                </a:solidFill>
                <a:latin typeface="Nunito" pitchFamily="34" charset="0"/>
                <a:ea typeface="Nunito" pitchFamily="34" charset="-122"/>
                <a:cs typeface="Nunito" pitchFamily="34" charset="-120"/>
              </a:rPr>
              <a:t>YOU</a:t>
            </a:r>
            <a:endParaRPr lang="en-US" sz="7200" dirty="0"/>
          </a:p>
        </p:txBody>
      </p:sp>
      <p:sp>
        <p:nvSpPr>
          <p:cNvPr id="9" name="Shape 7"/>
          <p:cNvSpPr/>
          <p:nvPr/>
        </p:nvSpPr>
        <p:spPr>
          <a:xfrm>
            <a:off x="320040" y="2788920"/>
            <a:ext cx="4846320" cy="1883664"/>
          </a:xfrm>
          <a:prstGeom prst="rect">
            <a:avLst/>
          </a:prstGeom>
          <a:solidFill>
            <a:srgbClr val="1E2B8F"/>
          </a:solidFill>
          <a:ln w="12700">
            <a:solidFill>
              <a:srgbClr val="1E2B8F"/>
            </a:solidFill>
            <a:prstDash val="solid"/>
          </a:ln>
        </p:spPr>
      </p:sp>
      <p:sp>
        <p:nvSpPr>
          <p:cNvPr id="10" name="Shape 8"/>
          <p:cNvSpPr/>
          <p:nvPr/>
        </p:nvSpPr>
        <p:spPr>
          <a:xfrm>
            <a:off x="320040" y="2788920"/>
            <a:ext cx="4846320" cy="54864"/>
          </a:xfrm>
          <a:prstGeom prst="rect">
            <a:avLst/>
          </a:prstGeom>
          <a:solidFill>
            <a:srgbClr val="00BCD4"/>
          </a:solidFill>
          <a:ln w="12700">
            <a:solidFill>
              <a:srgbClr val="00BCD4"/>
            </a:solidFill>
            <a:prstDash val="solid"/>
          </a:ln>
        </p:spPr>
      </p:sp>
      <p:sp>
        <p:nvSpPr>
          <p:cNvPr id="11" name="Text 9"/>
          <p:cNvSpPr/>
          <p:nvPr/>
        </p:nvSpPr>
        <p:spPr>
          <a:xfrm>
            <a:off x="475488" y="2871216"/>
            <a:ext cx="4526280" cy="301752"/>
          </a:xfrm>
          <a:prstGeom prst="rect">
            <a:avLst/>
          </a:prstGeom>
          <a:noFill/>
          <a:ln/>
        </p:spPr>
        <p:txBody>
          <a:bodyPr wrap="square" lIns="0" tIns="0" rIns="0" bIns="0" rtlCol="0" anchor="ctr"/>
          <a:lstStyle/>
          <a:p>
            <a:pPr marL="0" indent="0">
              <a:buNone/>
            </a:pPr>
            <a:r>
              <a:rPr lang="en-US" sz="1050" b="1" dirty="0">
                <a:solidFill>
                  <a:srgbClr val="80DEEA"/>
                </a:solidFill>
                <a:latin typeface="Nunito" pitchFamily="34" charset="0"/>
                <a:ea typeface="Nunito" pitchFamily="34" charset="-122"/>
                <a:cs typeface="Nunito" pitchFamily="34" charset="-120"/>
              </a:rPr>
              <a:t>AI &amp; IoT-Based Brain-Controlled Assistive Home System</a:t>
            </a:r>
            <a:endParaRPr lang="en-US" sz="1050" dirty="0"/>
          </a:p>
        </p:txBody>
      </p:sp>
      <p:sp>
        <p:nvSpPr>
          <p:cNvPr id="12" name="Text 10"/>
          <p:cNvSpPr/>
          <p:nvPr/>
        </p:nvSpPr>
        <p:spPr>
          <a:xfrm>
            <a:off x="475488" y="3200400"/>
            <a:ext cx="4526280" cy="2743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Priyankaba P. Jadeja  ·  priyankaba2611@gmail.com  ·  +91 72858 46840</a:t>
            </a:r>
            <a:endParaRPr lang="en-US" sz="1050" dirty="0"/>
          </a:p>
        </p:txBody>
      </p:sp>
      <p:sp>
        <p:nvSpPr>
          <p:cNvPr id="13" name="Text 11"/>
          <p:cNvSpPr/>
          <p:nvPr/>
        </p:nvSpPr>
        <p:spPr>
          <a:xfrm>
            <a:off x="475488" y="3493008"/>
            <a:ext cx="4526280" cy="274320"/>
          </a:xfrm>
          <a:prstGeom prst="rect">
            <a:avLst/>
          </a:prstGeom>
          <a:noFill/>
          <a:ln/>
        </p:spPr>
        <p:txBody>
          <a:bodyPr wrap="square" lIns="0" tIns="0" rIns="0" bIns="0" rtlCol="0" anchor="ctr"/>
          <a:lstStyle/>
          <a:p>
            <a:pPr marL="0" indent="0">
              <a:buNone/>
            </a:pPr>
            <a:r>
              <a:rPr lang="en-US" sz="1000" dirty="0">
                <a:solidFill>
                  <a:srgbClr val="B0BEC5"/>
                </a:solidFill>
                <a:latin typeface="Calibri" pitchFamily="34" charset="0"/>
                <a:ea typeface="Calibri" pitchFamily="34" charset="-122"/>
                <a:cs typeface="Calibri" pitchFamily="34" charset="-120"/>
              </a:rPr>
              <a:t>MSc (CA &amp; IT), Semester 4  ·  Dept. of CS, KSKV Kachchh University, Bhuj</a:t>
            </a:r>
            <a:endParaRPr lang="en-US" sz="1000" dirty="0"/>
          </a:p>
        </p:txBody>
      </p:sp>
      <p:sp>
        <p:nvSpPr>
          <p:cNvPr id="14" name="Text 12"/>
          <p:cNvSpPr/>
          <p:nvPr/>
        </p:nvSpPr>
        <p:spPr>
          <a:xfrm>
            <a:off x="475488" y="3822192"/>
            <a:ext cx="4526280" cy="274320"/>
          </a:xfrm>
          <a:prstGeom prst="rect">
            <a:avLst/>
          </a:prstGeom>
          <a:noFill/>
          <a:ln/>
        </p:spPr>
        <p:txBody>
          <a:bodyPr wrap="square" lIns="0" tIns="0" rIns="0" bIns="0" rtlCol="0" anchor="ctr"/>
          <a:lstStyle/>
          <a:p>
            <a:pPr marL="0" indent="0">
              <a:buNone/>
            </a:pPr>
            <a:r>
              <a:rPr lang="en-US" sz="1000" dirty="0">
                <a:solidFill>
                  <a:srgbClr val="00E5FF"/>
                </a:solidFill>
                <a:latin typeface="Calibri" pitchFamily="34" charset="0"/>
                <a:ea typeface="Calibri" pitchFamily="34" charset="-122"/>
                <a:cs typeface="Calibri" pitchFamily="34" charset="-120"/>
              </a:rPr>
              <a:t>Mentor: Dr. Mahesh D. Mulani  ·  mdm@kskvku.ac.in</a:t>
            </a:r>
            <a:endParaRPr lang="en-US" sz="1000" dirty="0"/>
          </a:p>
        </p:txBody>
      </p:sp>
      <p:sp>
        <p:nvSpPr>
          <p:cNvPr id="15" name="Text 13"/>
          <p:cNvSpPr/>
          <p:nvPr/>
        </p:nvSpPr>
        <p:spPr>
          <a:xfrm>
            <a:off x="475488" y="4133088"/>
            <a:ext cx="4526280" cy="256032"/>
          </a:xfrm>
          <a:prstGeom prst="rect">
            <a:avLst/>
          </a:prstGeom>
          <a:noFill/>
          <a:ln/>
        </p:spPr>
        <p:txBody>
          <a:bodyPr wrap="square" lIns="0" tIns="0" rIns="0" bIns="0" rtlCol="0" anchor="ctr"/>
          <a:lstStyle/>
          <a:p>
            <a:pPr marL="0" indent="0">
              <a:buNone/>
            </a:pPr>
            <a:r>
              <a:rPr lang="en-US" sz="950" dirty="0">
                <a:solidFill>
                  <a:srgbClr val="B0BEC5"/>
                </a:solidFill>
                <a:latin typeface="Calibri" pitchFamily="34" charset="0"/>
                <a:ea typeface="Calibri" pitchFamily="34" charset="-122"/>
                <a:cs typeface="Calibri" pitchFamily="34" charset="-120"/>
              </a:rPr>
              <a:t>KSKV Kachchh University, Bhuj-Kutch  ·  2026</a:t>
            </a:r>
            <a:endParaRPr lang="en-US" sz="950" dirty="0"/>
          </a:p>
        </p:txBody>
      </p:sp>
      <p:sp>
        <p:nvSpPr>
          <p:cNvPr id="16" name="Shape 14"/>
          <p:cNvSpPr/>
          <p:nvPr/>
        </p:nvSpPr>
        <p:spPr>
          <a:xfrm>
            <a:off x="0" y="4818888"/>
            <a:ext cx="9144000" cy="324612"/>
          </a:xfrm>
          <a:prstGeom prst="rect">
            <a:avLst/>
          </a:prstGeom>
          <a:solidFill>
            <a:srgbClr val="060C38"/>
          </a:solidFill>
          <a:ln w="12700">
            <a:solidFill>
              <a:srgbClr val="060C38"/>
            </a:solidFill>
            <a:prstDash val="solid"/>
          </a:ln>
        </p:spPr>
      </p:sp>
      <p:sp>
        <p:nvSpPr>
          <p:cNvPr id="17" name="Shape 15"/>
          <p:cNvSpPr/>
          <p:nvPr/>
        </p:nvSpPr>
        <p:spPr>
          <a:xfrm>
            <a:off x="0" y="4818888"/>
            <a:ext cx="118872" cy="324612"/>
          </a:xfrm>
          <a:prstGeom prst="rect">
            <a:avLst/>
          </a:prstGeom>
          <a:solidFill>
            <a:srgbClr val="00E5FF"/>
          </a:solidFill>
          <a:ln w="12700">
            <a:solidFill>
              <a:srgbClr val="00E5FF"/>
            </a:solidFill>
            <a:prstDash val="solid"/>
          </a:ln>
        </p:spPr>
      </p:sp>
      <p:sp>
        <p:nvSpPr>
          <p:cNvPr id="18" name="Text 16"/>
          <p:cNvSpPr/>
          <p:nvPr/>
        </p:nvSpPr>
        <p:spPr>
          <a:xfrm>
            <a:off x="182880" y="4841748"/>
            <a:ext cx="4572000" cy="274320"/>
          </a:xfrm>
          <a:prstGeom prst="rect">
            <a:avLst/>
          </a:prstGeom>
          <a:noFill/>
          <a:ln/>
        </p:spPr>
        <p:txBody>
          <a:bodyPr wrap="square" lIns="0" tIns="0" rIns="0" bIns="0" rtlCol="0" anchor="ctr"/>
          <a:lstStyle/>
          <a:p>
            <a:pPr marL="0" indent="0">
              <a:buNone/>
            </a:pPr>
            <a:r>
              <a:rPr lang="en-US" sz="850" dirty="0">
                <a:solidFill>
                  <a:srgbClr val="7986CB"/>
                </a:solidFill>
                <a:latin typeface="Calibri" pitchFamily="34" charset="0"/>
                <a:ea typeface="Calibri" pitchFamily="34" charset="-122"/>
                <a:cs typeface="Calibri" pitchFamily="34" charset="-120"/>
              </a:rPr>
              <a:t>BCI Assistive Home System</a:t>
            </a:r>
            <a:endParaRPr lang="en-US" sz="850" dirty="0"/>
          </a:p>
        </p:txBody>
      </p:sp>
      <p:sp>
        <p:nvSpPr>
          <p:cNvPr id="19" name="Text 17"/>
          <p:cNvSpPr/>
          <p:nvPr/>
        </p:nvSpPr>
        <p:spPr>
          <a:xfrm>
            <a:off x="3931920" y="4841748"/>
            <a:ext cx="1828800" cy="274320"/>
          </a:xfrm>
          <a:prstGeom prst="rect">
            <a:avLst/>
          </a:prstGeom>
          <a:noFill/>
          <a:ln/>
        </p:spPr>
        <p:txBody>
          <a:bodyPr wrap="square" lIns="0" tIns="0" rIns="0" bIns="0" rtlCol="0" anchor="ctr"/>
          <a:lstStyle/>
          <a:p>
            <a:pPr algn="ctr"/>
            <a:r>
              <a:rPr lang="en-US" sz="850" dirty="0">
                <a:solidFill>
                  <a:srgbClr val="7986CB"/>
                </a:solidFill>
                <a:latin typeface="Calibri" pitchFamily="34" charset="0"/>
                <a:ea typeface="Calibri" pitchFamily="34" charset="-122"/>
                <a:cs typeface="Calibri" pitchFamily="34" charset="-120"/>
              </a:rPr>
              <a:t>Priyankaba Jadej</a:t>
            </a:r>
            <a:endParaRPr lang="en-US" sz="850" dirty="0"/>
          </a:p>
        </p:txBody>
      </p:sp>
      <p:sp>
        <p:nvSpPr>
          <p:cNvPr id="20" name="Text 18"/>
          <p:cNvSpPr/>
          <p:nvPr/>
        </p:nvSpPr>
        <p:spPr>
          <a:xfrm>
            <a:off x="6858000" y="4832604"/>
            <a:ext cx="2176272" cy="292608"/>
          </a:xfrm>
          <a:prstGeom prst="rect">
            <a:avLst/>
          </a:prstGeom>
          <a:noFill/>
          <a:ln/>
        </p:spPr>
        <p:txBody>
          <a:bodyPr wrap="square" lIns="0" tIns="0" rIns="0" bIns="0" rtlCol="0" anchor="ctr"/>
          <a:lstStyle/>
          <a:p>
            <a:pPr marL="0" indent="0" algn="r">
              <a:buNone/>
            </a:pPr>
            <a:r>
              <a:rPr lang="en-US" sz="950" b="1" dirty="0">
                <a:solidFill>
                  <a:srgbClr val="00E5FF"/>
                </a:solidFill>
                <a:latin typeface="Nunito" pitchFamily="34" charset="0"/>
                <a:ea typeface="Nunito" pitchFamily="34" charset="-122"/>
                <a:cs typeface="Nunito" pitchFamily="34" charset="-120"/>
              </a:rPr>
              <a:t>13 / 17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716</TotalTime>
  <Words>1308</Words>
  <Application>Microsoft Office PowerPoint</Application>
  <PresentationFormat>On-screen Show (16:9)</PresentationFormat>
  <Paragraphs>287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Nunito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Priyankaba Jadeja</cp:lastModifiedBy>
  <cp:revision>7</cp:revision>
  <dcterms:created xsi:type="dcterms:W3CDTF">2026-03-05T07:40:52Z</dcterms:created>
  <dcterms:modified xsi:type="dcterms:W3CDTF">2026-03-07T09:31:08Z</dcterms:modified>
</cp:coreProperties>
</file>