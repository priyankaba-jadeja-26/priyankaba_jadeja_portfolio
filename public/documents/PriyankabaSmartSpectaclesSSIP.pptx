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226" y="-33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B8A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7F-4D9F-9612-AC2EB05B5422}"/>
              </c:ext>
            </c:extLst>
          </c:dPt>
          <c:dPt>
            <c:idx val="1"/>
            <c:bubble3D val="0"/>
            <c:spPr>
              <a:solidFill>
                <a:srgbClr val="0D7A8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7F-4D9F-9612-AC2EB05B5422}"/>
              </c:ext>
            </c:extLst>
          </c:dPt>
          <c:dPt>
            <c:idx val="2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7F-4D9F-9612-AC2EB05B5422}"/>
              </c:ext>
            </c:extLst>
          </c:dPt>
          <c:dPt>
            <c:idx val="3"/>
            <c:bubble3D val="0"/>
            <c:spPr>
              <a:solidFill>
                <a:srgbClr val="148F7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7F-4D9F-9612-AC2EB05B5422}"/>
              </c:ext>
            </c:extLst>
          </c:dPt>
          <c:dPt>
            <c:idx val="4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37F-4D9F-9612-AC2EB05B5422}"/>
              </c:ext>
            </c:extLst>
          </c:dPt>
          <c:dPt>
            <c:idx val="5"/>
            <c:bubble3D val="0"/>
            <c:spPr>
              <a:solidFill>
                <a:srgbClr val="117A6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37F-4D9F-9612-AC2EB05B5422}"/>
              </c:ext>
            </c:extLst>
          </c:dPt>
          <c:dPt>
            <c:idx val="6"/>
            <c:bubble3D val="0"/>
            <c:spPr>
              <a:solidFill>
                <a:srgbClr val="1F61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37F-4D9F-9612-AC2EB05B5422}"/>
              </c:ext>
            </c:extLst>
          </c:dPt>
          <c:dPt>
            <c:idx val="7"/>
            <c:bubble3D val="0"/>
            <c:spPr>
              <a:solidFill>
                <a:srgbClr val="45B3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37F-4D9F-9612-AC2EB05B5422}"/>
              </c:ext>
            </c:extLst>
          </c:dPt>
          <c:cat>
            <c:strRef>
              <c:f>Sheet1!$A$2:$A$9</c:f>
              <c:strCache>
                <c:ptCount val="8"/>
                <c:pt idx="0">
                  <c:v>Spectacle Frame …</c:v>
                </c:pt>
                <c:pt idx="1">
                  <c:v>Mini Camera Modu…</c:v>
                </c:pt>
                <c:pt idx="2">
                  <c:v>Processing Unit …</c:v>
                </c:pt>
                <c:pt idx="3">
                  <c:v>Battery &amp; Power …</c:v>
                </c:pt>
                <c:pt idx="4">
                  <c:v>Software &amp; AI De…</c:v>
                </c:pt>
                <c:pt idx="5">
                  <c:v>App / Interface …</c:v>
                </c:pt>
                <c:pt idx="6">
                  <c:v>Assembly &amp; Testing</c:v>
                </c:pt>
                <c:pt idx="7">
                  <c:v>Miscellaneous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2250</c:v>
                </c:pt>
                <c:pt idx="1">
                  <c:v>10050</c:v>
                </c:pt>
                <c:pt idx="2">
                  <c:v>7559</c:v>
                </c:pt>
                <c:pt idx="3">
                  <c:v>2500</c:v>
                </c:pt>
                <c:pt idx="4">
                  <c:v>5000</c:v>
                </c:pt>
                <c:pt idx="5">
                  <c:v>5500</c:v>
                </c:pt>
                <c:pt idx="6">
                  <c:v>2000</c:v>
                </c:pt>
                <c:pt idx="7">
                  <c:v>3500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137F-4D9F-9612-AC2EB05B54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0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  <c:userShapes r:id="rId2"/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0.49655</cdr:x>
      <cdr:y>0.13824</cdr:y>
    </cdr:from>
    <cdr:to>
      <cdr:x>0.57931</cdr:x>
      <cdr:y>0.25637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27DD0D71-4923-5EC6-7E8F-5A20FA564C32}"/>
            </a:ext>
          </a:extLst>
        </cdr:cNvPr>
        <cdr:cNvSpPr txBox="1"/>
      </cdr:nvSpPr>
      <cdr:spPr>
        <a:xfrm xmlns:a="http://schemas.openxmlformats.org/drawingml/2006/main">
          <a:off x="2633472" y="429768"/>
          <a:ext cx="438912" cy="36728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kern="1200" dirty="0">
              <a:solidFill>
                <a:schemeClr val="bg1">
                  <a:lumMod val="95000"/>
                </a:schemeClr>
              </a:solidFill>
            </a:rPr>
            <a:t>5.9%</a:t>
          </a:r>
          <a:endParaRPr lang="en-IN" sz="1100" kern="1200" dirty="0">
            <a:solidFill>
              <a:schemeClr val="bg1">
                <a:lumMod val="9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0.61839</cdr:x>
      <cdr:y>0.36814</cdr:y>
    </cdr:from>
    <cdr:to>
      <cdr:x>0.70115</cdr:x>
      <cdr:y>0.48627</cdr:y>
    </cdr:to>
    <cdr:sp macro="" textlink="">
      <cdr:nvSpPr>
        <cdr:cNvPr id="3" name="TextBox 1">
          <a:extLst xmlns:a="http://schemas.openxmlformats.org/drawingml/2006/main">
            <a:ext uri="{FF2B5EF4-FFF2-40B4-BE49-F238E27FC236}">
              <a16:creationId xmlns:a16="http://schemas.microsoft.com/office/drawing/2014/main" id="{97B74651-44B0-0976-F2DF-8C914CFF96B0}"/>
            </a:ext>
          </a:extLst>
        </cdr:cNvPr>
        <cdr:cNvSpPr txBox="1"/>
      </cdr:nvSpPr>
      <cdr:spPr>
        <a:xfrm xmlns:a="http://schemas.openxmlformats.org/drawingml/2006/main">
          <a:off x="3279648" y="1144524"/>
          <a:ext cx="438912" cy="36728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wrap="none" rtlCol="0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US" kern="1200" dirty="0">
              <a:solidFill>
                <a:schemeClr val="bg1">
                  <a:lumMod val="95000"/>
                </a:schemeClr>
              </a:solidFill>
            </a:rPr>
            <a:t>26</a:t>
          </a:r>
          <a:r>
            <a:rPr lang="en-US" sz="1100" kern="1200" dirty="0">
              <a:solidFill>
                <a:schemeClr val="bg1">
                  <a:lumMod val="95000"/>
                </a:schemeClr>
              </a:solidFill>
            </a:rPr>
            <a:t>.2%</a:t>
          </a:r>
          <a:endParaRPr lang="en-IN" sz="1100" kern="1200" dirty="0">
            <a:solidFill>
              <a:schemeClr val="bg1">
                <a:lumMod val="9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0.41523</cdr:x>
      <cdr:y>0.23235</cdr:y>
    </cdr:from>
    <cdr:to>
      <cdr:x>0.58764</cdr:x>
      <cdr:y>0.52647</cdr:y>
    </cdr:to>
    <cdr:sp macro="" textlink="">
      <cdr:nvSpPr>
        <cdr:cNvPr id="4" name="TextBox 3">
          <a:extLst xmlns:a="http://schemas.openxmlformats.org/drawingml/2006/main">
            <a:ext uri="{FF2B5EF4-FFF2-40B4-BE49-F238E27FC236}">
              <a16:creationId xmlns:a16="http://schemas.microsoft.com/office/drawing/2014/main" id="{FBBAEACE-98F4-95CB-91E2-974AD5830DA6}"/>
            </a:ext>
          </a:extLst>
        </cdr:cNvPr>
        <cdr:cNvSpPr txBox="1"/>
      </cdr:nvSpPr>
      <cdr:spPr>
        <a:xfrm xmlns:a="http://schemas.openxmlformats.org/drawingml/2006/main">
          <a:off x="2202180" y="722376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IN" sz="1100" kern="1200" dirty="0"/>
        </a:p>
      </cdr:txBody>
    </cdr:sp>
  </cdr:relSizeAnchor>
  <cdr:relSizeAnchor xmlns:cdr="http://schemas.openxmlformats.org/drawingml/2006/chartDrawing">
    <cdr:from>
      <cdr:x>0.32119</cdr:x>
      <cdr:y>0.21176</cdr:y>
    </cdr:from>
    <cdr:to>
      <cdr:x>0.40022</cdr:x>
      <cdr:y>0.31471</cdr:y>
    </cdr:to>
    <cdr:sp macro="" textlink="">
      <cdr:nvSpPr>
        <cdr:cNvPr id="5" name="TextBox 4">
          <a:extLst xmlns:a="http://schemas.openxmlformats.org/drawingml/2006/main">
            <a:ext uri="{FF2B5EF4-FFF2-40B4-BE49-F238E27FC236}">
              <a16:creationId xmlns:a16="http://schemas.microsoft.com/office/drawing/2014/main" id="{A6A8E9FF-45D8-B304-94AE-5AACAA51D0E2}"/>
            </a:ext>
          </a:extLst>
        </cdr:cNvPr>
        <cdr:cNvSpPr txBox="1"/>
      </cdr:nvSpPr>
      <cdr:spPr>
        <a:xfrm xmlns:a="http://schemas.openxmlformats.org/drawingml/2006/main">
          <a:off x="1703460" y="658368"/>
          <a:ext cx="419100" cy="32004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kern="1200" dirty="0">
              <a:solidFill>
                <a:schemeClr val="bg1">
                  <a:lumMod val="95000"/>
                </a:schemeClr>
              </a:solidFill>
            </a:rPr>
            <a:t>5.2%</a:t>
          </a:r>
          <a:endParaRPr lang="en-IN" sz="1100" kern="1200" dirty="0">
            <a:solidFill>
              <a:schemeClr val="bg1">
                <a:lumMod val="9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0.27299</cdr:x>
      <cdr:y>0.38824</cdr:y>
    </cdr:from>
    <cdr:to>
      <cdr:x>0.36494</cdr:x>
      <cdr:y>0.49412</cdr:y>
    </cdr:to>
    <cdr:sp macro="" textlink="">
      <cdr:nvSpPr>
        <cdr:cNvPr id="6" name="TextBox 5">
          <a:extLst xmlns:a="http://schemas.openxmlformats.org/drawingml/2006/main">
            <a:ext uri="{FF2B5EF4-FFF2-40B4-BE49-F238E27FC236}">
              <a16:creationId xmlns:a16="http://schemas.microsoft.com/office/drawing/2014/main" id="{E1B539FD-033E-5A78-CCA1-AAE686ED7CAD}"/>
            </a:ext>
          </a:extLst>
        </cdr:cNvPr>
        <cdr:cNvSpPr txBox="1"/>
      </cdr:nvSpPr>
      <cdr:spPr>
        <a:xfrm xmlns:a="http://schemas.openxmlformats.org/drawingml/2006/main">
          <a:off x="1447800" y="1207008"/>
          <a:ext cx="487680" cy="329184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kern="1200" dirty="0">
              <a:solidFill>
                <a:schemeClr val="bg1">
                  <a:lumMod val="95000"/>
                </a:schemeClr>
              </a:solidFill>
            </a:rPr>
            <a:t>14.3%</a:t>
          </a:r>
          <a:endParaRPr lang="en-IN" sz="1100" kern="1200" dirty="0">
            <a:solidFill>
              <a:schemeClr val="bg1">
                <a:lumMod val="9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0.30977</cdr:x>
      <cdr:y>0.65441</cdr:y>
    </cdr:from>
    <cdr:to>
      <cdr:x>0.3908</cdr:x>
      <cdr:y>0.75245</cdr:y>
    </cdr:to>
    <cdr:sp macro="" textlink="">
      <cdr:nvSpPr>
        <cdr:cNvPr id="7" name="TextBox 6">
          <a:extLst xmlns:a="http://schemas.openxmlformats.org/drawingml/2006/main">
            <a:ext uri="{FF2B5EF4-FFF2-40B4-BE49-F238E27FC236}">
              <a16:creationId xmlns:a16="http://schemas.microsoft.com/office/drawing/2014/main" id="{21502773-9C7D-3E3C-8E66-8EC363B27B50}"/>
            </a:ext>
          </a:extLst>
        </cdr:cNvPr>
        <cdr:cNvSpPr txBox="1"/>
      </cdr:nvSpPr>
      <cdr:spPr>
        <a:xfrm xmlns:a="http://schemas.openxmlformats.org/drawingml/2006/main">
          <a:off x="1642872" y="2034540"/>
          <a:ext cx="429768" cy="304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kern="1200" dirty="0">
              <a:solidFill>
                <a:schemeClr val="bg1">
                  <a:lumMod val="95000"/>
                </a:schemeClr>
              </a:solidFill>
            </a:rPr>
            <a:t>13%</a:t>
          </a:r>
          <a:endParaRPr lang="en-IN" sz="1100" kern="1200" dirty="0">
            <a:solidFill>
              <a:schemeClr val="bg1">
                <a:lumMod val="9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0.40367</cdr:x>
      <cdr:y>0.75441</cdr:y>
    </cdr:from>
    <cdr:to>
      <cdr:x>0.47931</cdr:x>
      <cdr:y>0.85588</cdr:y>
    </cdr:to>
    <cdr:sp macro="" textlink="">
      <cdr:nvSpPr>
        <cdr:cNvPr id="8" name="TextBox 7">
          <a:extLst xmlns:a="http://schemas.openxmlformats.org/drawingml/2006/main">
            <a:ext uri="{FF2B5EF4-FFF2-40B4-BE49-F238E27FC236}">
              <a16:creationId xmlns:a16="http://schemas.microsoft.com/office/drawing/2014/main" id="{977D259F-CEB8-B7D4-0916-61500064A784}"/>
            </a:ext>
          </a:extLst>
        </cdr:cNvPr>
        <cdr:cNvSpPr txBox="1"/>
      </cdr:nvSpPr>
      <cdr:spPr>
        <a:xfrm xmlns:a="http://schemas.openxmlformats.org/drawingml/2006/main">
          <a:off x="2140848" y="2345436"/>
          <a:ext cx="401184" cy="315468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kern="1200" dirty="0">
              <a:solidFill>
                <a:schemeClr val="bg1">
                  <a:lumMod val="95000"/>
                </a:schemeClr>
              </a:solidFill>
            </a:rPr>
            <a:t>6.5%</a:t>
          </a:r>
          <a:endParaRPr lang="en-IN" sz="1100" kern="1200" dirty="0">
            <a:solidFill>
              <a:schemeClr val="bg1">
                <a:lumMod val="95000"/>
              </a:schemeClr>
            </a:solidFill>
          </a:endParaRPr>
        </a:p>
      </cdr:txBody>
    </cdr:sp>
  </cdr:relSizeAnchor>
  <cdr:relSizeAnchor xmlns:cdr="http://schemas.openxmlformats.org/drawingml/2006/chartDrawing">
    <cdr:from>
      <cdr:x>0.53103</cdr:x>
      <cdr:y>0.74412</cdr:y>
    </cdr:from>
    <cdr:to>
      <cdr:x>0.62586</cdr:x>
      <cdr:y>0.85588</cdr:y>
    </cdr:to>
    <cdr:sp macro="" textlink="">
      <cdr:nvSpPr>
        <cdr:cNvPr id="9" name="TextBox 8">
          <a:extLst xmlns:a="http://schemas.openxmlformats.org/drawingml/2006/main">
            <a:ext uri="{FF2B5EF4-FFF2-40B4-BE49-F238E27FC236}">
              <a16:creationId xmlns:a16="http://schemas.microsoft.com/office/drawing/2014/main" id="{4F9C953B-C88A-43ED-8E33-A12FDC92921A}"/>
            </a:ext>
          </a:extLst>
        </cdr:cNvPr>
        <cdr:cNvSpPr txBox="1"/>
      </cdr:nvSpPr>
      <cdr:spPr>
        <a:xfrm xmlns:a="http://schemas.openxmlformats.org/drawingml/2006/main">
          <a:off x="2816352" y="2313432"/>
          <a:ext cx="502920" cy="347472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1100" kern="1200" dirty="0">
              <a:solidFill>
                <a:schemeClr val="bg1">
                  <a:lumMod val="95000"/>
                </a:schemeClr>
              </a:solidFill>
            </a:rPr>
            <a:t>19.7%</a:t>
          </a:r>
          <a:endParaRPr lang="en-IN" sz="1100" kern="1200" dirty="0">
            <a:solidFill>
              <a:schemeClr val="bg1">
                <a:lumMod val="95000"/>
              </a:schemeClr>
            </a:solidFill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513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chart" Target="../charts/chart1.xml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7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9260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82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2026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566160" y="502920"/>
            <a:ext cx="594360" cy="594360"/>
          </a:xfrm>
          <a:prstGeom prst="ellipse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8" y="594360"/>
            <a:ext cx="384048" cy="384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97680" y="502920"/>
            <a:ext cx="594360" cy="594360"/>
          </a:xfrm>
          <a:prstGeom prst="ellipse">
            <a:avLst/>
          </a:prstGeom>
          <a:solidFill>
            <a:srgbClr val="E8ECF0"/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7408" y="5943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123444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Smart Spectacles for Eye Health,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Monitoring, and Mental Well-Being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828800" y="2240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2026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57200" y="2697480"/>
            <a:ext cx="37490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436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94360" y="292608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Priyankaba P. Jadeja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318211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(CA &amp; IT), Semester 4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KSKV Kachchh University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94360" y="36393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priyankaba2611@gmail.com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+91 72858 46840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4572000" y="2697480"/>
            <a:ext cx="411480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709160" y="27432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709160" y="2926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Maheshkumar D. Mulani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09160" y="318211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&amp; Head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KSKV Kachchh University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4709160" y="3639312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mdm@kskvku.ac.in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+91 94094 93497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0" y="4251960"/>
            <a:ext cx="9144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 KU/SSIP/Proposals/2025-2026/01      📍 Bhuj-Kachchh, Gujarat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82880" y="48463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KSKV Kachchh University | Department of Computer Science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5029200" y="484632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Startup and Innovation Policy (SSIP)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&amp; Mentor Details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621792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49808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41248"/>
            <a:ext cx="502920" cy="502920"/>
          </a:xfrm>
          <a:prstGeom prst="ellipse">
            <a:avLst/>
          </a:prstGeom>
          <a:solidFill>
            <a:srgbClr val="E8F5F3"/>
          </a:solidFill>
          <a:ln w="12700">
            <a:solidFill>
              <a:srgbClr val="0D9B8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9326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1389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502920" y="15544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Priyankaba P. Jadeja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18288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(CA &amp; IT) • Semester 4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0292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KSKV Kachchh University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02920" y="24231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Focus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02920" y="26060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for Digital Health &amp; Wearable Technology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28529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Skills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02920" y="3063240"/>
            <a:ext cx="1760220" cy="228600"/>
          </a:xfrm>
          <a:prstGeom prst="roundRect">
            <a:avLst>
              <a:gd name="adj" fmla="val 20000"/>
            </a:avLst>
          </a:prstGeom>
          <a:solidFill>
            <a:srgbClr val="E8F5F3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3063240"/>
            <a:ext cx="17602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336292" y="3063240"/>
            <a:ext cx="1211580" cy="228600"/>
          </a:xfrm>
          <a:prstGeom prst="roundRect">
            <a:avLst>
              <a:gd name="adj" fmla="val 20000"/>
            </a:avLst>
          </a:prstGeom>
          <a:solidFill>
            <a:srgbClr val="E8F5F3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336292" y="3063240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3621024" y="3063240"/>
            <a:ext cx="457200" cy="228600"/>
          </a:xfrm>
          <a:prstGeom prst="roundRect">
            <a:avLst>
              <a:gd name="adj" fmla="val 20000"/>
            </a:avLst>
          </a:prstGeom>
          <a:solidFill>
            <a:srgbClr val="E8F5F3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21024" y="30632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02920" y="3337560"/>
            <a:ext cx="594360" cy="228600"/>
          </a:xfrm>
          <a:prstGeom prst="roundRect">
            <a:avLst>
              <a:gd name="adj" fmla="val 20000"/>
            </a:avLst>
          </a:prstGeom>
          <a:solidFill>
            <a:srgbClr val="E8F5F3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337560"/>
            <a:ext cx="594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1170432" y="3337560"/>
            <a:ext cx="1211580" cy="228600"/>
          </a:xfrm>
          <a:prstGeom prst="roundRect">
            <a:avLst>
              <a:gd name="adj" fmla="val 20000"/>
            </a:avLst>
          </a:prstGeom>
          <a:solidFill>
            <a:srgbClr val="E8F5F3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70432" y="3337560"/>
            <a:ext cx="12115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2455164" y="3337560"/>
            <a:ext cx="1005840" cy="228600"/>
          </a:xfrm>
          <a:prstGeom prst="roundRect">
            <a:avLst>
              <a:gd name="adj" fmla="val 20000"/>
            </a:avLst>
          </a:prstGeom>
          <a:solidFill>
            <a:srgbClr val="E8F5F3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455164" y="3337560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02920" y="3611880"/>
            <a:ext cx="868680" cy="228600"/>
          </a:xfrm>
          <a:prstGeom prst="roundRect">
            <a:avLst>
              <a:gd name="adj" fmla="val 20000"/>
            </a:avLst>
          </a:prstGeom>
          <a:solidFill>
            <a:srgbClr val="E8F5F3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3611880"/>
            <a:ext cx="868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92252" y="38770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92252" y="40827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priyankaba2611@gmail.com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 +91 72858 46840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2920" y="447598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 : Priyankaba-Jadeja-26  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4754880" y="749808"/>
            <a:ext cx="41148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83480" y="841248"/>
            <a:ext cx="502920" cy="502920"/>
          </a:xfrm>
          <a:prstGeom prst="ellipse">
            <a:avLst/>
          </a:prstGeom>
          <a:solidFill>
            <a:srgbClr val="E8F5F3"/>
          </a:solidFill>
          <a:ln w="12700">
            <a:solidFill>
              <a:srgbClr val="0D9B8A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3208" y="932688"/>
            <a:ext cx="292608" cy="292608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4983480" y="1389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MENTOR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983480" y="15544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Maheshkumar D. Mulani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4983480" y="182880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 &amp; Head of Department</a:t>
            </a:r>
            <a:endParaRPr lang="en-US" sz="950" dirty="0"/>
          </a:p>
        </p:txBody>
      </p:sp>
      <p:sp>
        <p:nvSpPr>
          <p:cNvPr id="37" name="Text 33"/>
          <p:cNvSpPr/>
          <p:nvPr/>
        </p:nvSpPr>
        <p:spPr>
          <a:xfrm>
            <a:off x="498348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KSKV Kachchh University, Bhuj-Kachchh</a:t>
            </a:r>
            <a:endParaRPr lang="en-US" sz="950" dirty="0"/>
          </a:p>
        </p:txBody>
      </p:sp>
      <p:sp>
        <p:nvSpPr>
          <p:cNvPr id="38" name="Text 34"/>
          <p:cNvSpPr/>
          <p:nvPr/>
        </p:nvSpPr>
        <p:spPr>
          <a:xfrm>
            <a:off x="4983480" y="242316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of Expertise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4983480" y="26243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Artificial Intelligence &amp; Machine Learning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Computer Science &amp; Data Analytics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Applied Research &amp; Innovation</a:t>
            </a:r>
            <a:endParaRPr lang="en-US" sz="950" dirty="0"/>
          </a:p>
        </p:txBody>
      </p:sp>
      <p:sp>
        <p:nvSpPr>
          <p:cNvPr id="40" name="Text 36"/>
          <p:cNvSpPr/>
          <p:nvPr/>
        </p:nvSpPr>
        <p:spPr>
          <a:xfrm>
            <a:off x="4983480" y="3154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 &amp; Experience</a:t>
            </a:r>
            <a:endParaRPr lang="en-US" sz="1000" dirty="0"/>
          </a:p>
        </p:txBody>
      </p:sp>
      <p:sp>
        <p:nvSpPr>
          <p:cNvPr id="41" name="Text 37"/>
          <p:cNvSpPr/>
          <p:nvPr/>
        </p:nvSpPr>
        <p:spPr>
          <a:xfrm>
            <a:off x="49834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publications in computer science and AI domains with extensive academic and research supervision experience.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4983480" y="382219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in Project</a:t>
            </a:r>
            <a:endParaRPr lang="en-US" sz="1000" dirty="0"/>
          </a:p>
        </p:txBody>
      </p:sp>
      <p:sp>
        <p:nvSpPr>
          <p:cNvPr id="43" name="Text 39"/>
          <p:cNvSpPr/>
          <p:nvPr/>
        </p:nvSpPr>
        <p:spPr>
          <a:xfrm>
            <a:off x="4983480" y="40050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Mentor &amp; Research Supervisor</a:t>
            </a:r>
            <a:endParaRPr lang="en-US" sz="950" dirty="0"/>
          </a:p>
        </p:txBody>
      </p:sp>
      <p:sp>
        <p:nvSpPr>
          <p:cNvPr id="44" name="Text 40"/>
          <p:cNvSpPr/>
          <p:nvPr/>
        </p:nvSpPr>
        <p:spPr>
          <a:xfrm>
            <a:off x="4983480" y="422452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4983480" y="44074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mdm@kskvku.ac.in     📞  +91 94094 93497</a:t>
            </a:r>
            <a:endParaRPr lang="en-US" sz="900" dirty="0"/>
          </a:p>
        </p:txBody>
      </p:sp>
      <p:sp>
        <p:nvSpPr>
          <p:cNvPr id="46" name="Shape 4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Progress Report | KSKV Kachchh University | Page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Potential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85800"/>
            <a:ext cx="4114800" cy="1828800"/>
          </a:xfrm>
          <a:prstGeom prst="rect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502920" cy="502920"/>
          </a:xfrm>
          <a:prstGeom prst="ellipse">
            <a:avLst/>
          </a:prstGeom>
          <a:solidFill>
            <a:srgbClr val="0A7A6C"/>
          </a:solidFill>
          <a:ln w="12700">
            <a:solidFill>
              <a:srgbClr val="0A7A6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9144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1389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1645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eye strain and computer vision syndrome affect over 300 million users globally. Students and working professionals face prolonged screen exposure (8-12 hours daily) leading to eye fatigue, stress, reduced productivity, and mental health concerns.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High-risk digital users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685800"/>
            <a:ext cx="4114800" cy="1828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937760" y="822960"/>
            <a:ext cx="502920" cy="50292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91440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37760" y="1389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937760" y="1645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wearable smart spectacles with miniature inward facing cameras analyze real-time eye behavior including blink rate, gaze patterns, and fatigue biomarkers. Goes beyond screen-time tracking with behavioral analytics.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4937760" y="22402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First-of-its-kind wearable solution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4320" y="2606040"/>
            <a:ext cx="4114800" cy="18288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57200" y="2743200"/>
            <a:ext cx="502920" cy="50292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834640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7200" y="3310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it will Cover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35661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wearable technology and digital health market projected to exceed $96 billion by 2027. Growing demand in education, corporate wellness, and healthcare sectors.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57200" y="4160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Multi-billion dollar addressable market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754880" y="2606040"/>
            <a:ext cx="4114800" cy="1828800"/>
          </a:xfrm>
          <a:prstGeom prst="rect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937760" y="2743200"/>
            <a:ext cx="502920" cy="502920"/>
          </a:xfrm>
          <a:prstGeom prst="ellipse">
            <a:avLst/>
          </a:prstGeom>
          <a:solidFill>
            <a:srgbClr val="0A7A6C"/>
          </a:solidFill>
          <a:ln w="12700">
            <a:solidFill>
              <a:srgbClr val="0A7A6C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2834640"/>
            <a:ext cx="292608" cy="29260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937760" y="33101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Startup Potential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937760" y="35661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property on eye-behavior analytics algorithms. Strategic partnerships with educational institutions, optometry clinics, and corporate wellness programs. Subscription-based dashboard for continuous health monitoring and insights.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4937760" y="416052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business model with IP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274320" y="4498848"/>
            <a:ext cx="8595360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4535424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21792" y="45354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Advantage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2926080" y="453542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real-time monitoring • AI-driven personalized insights • Wearable form factor • Early fatigue detection • Preventive healthcare approach • Patent-eligible technology • Multi sector applicability</a:t>
            </a:r>
            <a:endParaRPr lang="en-US" sz="750" dirty="0"/>
          </a:p>
        </p:txBody>
      </p:sp>
      <p:sp>
        <p:nvSpPr>
          <p:cNvPr id="32" name="Shape 2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0" y="4864608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Progress Report | KSKV Kachchh University | Page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13232"/>
            <a:ext cx="4114800" cy="1828800"/>
          </a:xfrm>
          <a:prstGeom prst="rect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841248"/>
            <a:ext cx="502920" cy="502920"/>
          </a:xfrm>
          <a:prstGeom prst="ellipse">
            <a:avLst/>
          </a:prstGeom>
          <a:solidFill>
            <a:srgbClr val="0A7A6C"/>
          </a:solidFill>
          <a:ln w="12700">
            <a:solidFill>
              <a:srgbClr val="0A7A6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2848" y="93268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65760" y="167335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non-intrusive wearable system (prototype) to continuously monitor eye movement, blink rate, and visual fatigue patterns in real-time using AI-powered smart spectacles, enabling early detection of digital eye strain and stress indicators.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4754880" y="713232"/>
            <a:ext cx="4114800" cy="1828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0" y="841248"/>
            <a:ext cx="502920" cy="50292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932688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14173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Technology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46320" y="1673352"/>
            <a:ext cx="3840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Miniature inward-facing cameras integrated into spectacle frames capture eye behavior data. Computer Vision algorithms (OpenCV library) analyze blink frequency, gaze patterns, and PERCLOS metrics to generate health insights.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274320" y="2633472"/>
            <a:ext cx="4114800" cy="18288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103120" y="2761488"/>
            <a:ext cx="502920" cy="50292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8" y="2852928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5760" y="3337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65760" y="35935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Goes beyond traditional screen-time tracking by analyzing behavioral biomarkers such as blink closure duration, and fatigue trends. Provides actionable insights rather than passive monitoring.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4754880" y="2633472"/>
            <a:ext cx="4114800" cy="1828800"/>
          </a:xfrm>
          <a:prstGeom prst="rect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0" y="2761488"/>
            <a:ext cx="502920" cy="502920"/>
          </a:xfrm>
          <a:prstGeom prst="ellipse">
            <a:avLst/>
          </a:prstGeom>
          <a:solidFill>
            <a:srgbClr val="0A7A6C"/>
          </a:solidFill>
          <a:ln w="12700">
            <a:solidFill>
              <a:srgbClr val="0A7A6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2852928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846320" y="3337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846320" y="3593592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eye strain and mental stress leading to healthier digital habits. Promotes student wellness, improved productivity, and preventive healthcare approach for the growing digital-native population.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274320" y="4553712"/>
            <a:ext cx="85953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74320" y="4572000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Target: Students &amp; Professionals     🖥 Platform: Wearable + AI Analytics     📈 Outcome: Real-Time Health Monitoring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Progress Report | KSKV Kachchh University | Page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13232"/>
            <a:ext cx="3200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70432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E8ECF0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7043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&amp; Digital Devices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645920" y="155448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E8ECF0"/>
          </a:solidFill>
          <a:ln w="12700">
            <a:solidFill>
              <a:srgbClr val="AABB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5564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Screen Exposure (8-12 hrs/day)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645920" y="2139696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340864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FCE8E8"/>
          </a:solidFill>
          <a:ln w="12700">
            <a:solidFill>
              <a:srgbClr val="E888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408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Eye Strain &amp; Reduced Blinking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645920" y="272491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292608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FCE8E8"/>
          </a:solidFill>
          <a:ln w="12700">
            <a:solidFill>
              <a:srgbClr val="E888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92608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Fatigue &amp; Mental Stress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2920" y="3511296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FCE8E8"/>
          </a:solidFill>
          <a:ln w="12700">
            <a:solidFill>
              <a:srgbClr val="E888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51891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Disruption &amp; Reduced Focus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0" y="713232"/>
            <a:ext cx="5212080" cy="914400"/>
          </a:xfrm>
          <a:prstGeom prst="rect">
            <a:avLst/>
          </a:prstGeom>
          <a:solidFill>
            <a:srgbClr val="FFECE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786384"/>
            <a:ext cx="201168" cy="201168"/>
          </a:xfrm>
          <a:prstGeom prst="ellipse">
            <a:avLst/>
          </a:prstGeom>
          <a:solidFill>
            <a:srgbClr val="E04040"/>
          </a:solidFill>
          <a:ln w="12700">
            <a:solidFill>
              <a:srgbClr val="E040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0" y="758952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49040" y="103327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screen exposure (8-12 hours daily) among students and professionals leads to eye strain, fatigue, sleep disruption, and reduced mental focus. Current awareness methods are insufficient and reactive.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57600" y="1700784"/>
            <a:ext cx="5212080" cy="914400"/>
          </a:xfrm>
          <a:prstGeom prst="rect">
            <a:avLst/>
          </a:prstGeom>
          <a:solidFill>
            <a:srgbClr val="FFFC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1773936"/>
            <a:ext cx="201168" cy="201168"/>
          </a:xfrm>
          <a:prstGeom prst="ellipse">
            <a:avLst/>
          </a:prstGeom>
          <a:solidFill>
            <a:srgbClr val="E0A800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0" y="1746504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49040" y="202082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digital reliance in education and work environments creates urgent need for objective, real-time wellness indicators. Lack of preventive tools in academic settings puts student health at risk.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0" y="2688336"/>
            <a:ext cx="5212080" cy="914400"/>
          </a:xfrm>
          <a:prstGeom prst="rect">
            <a:avLst/>
          </a:prstGeom>
          <a:solidFill>
            <a:srgbClr val="FFF3E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2761488"/>
            <a:ext cx="201168" cy="201168"/>
          </a:xfrm>
          <a:prstGeom prst="ellipse">
            <a:avLst/>
          </a:prstGeom>
          <a:solidFill>
            <a:srgbClr val="E07000"/>
          </a:solidFill>
          <a:ln w="12700">
            <a:solidFill>
              <a:srgbClr val="E07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2734056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Challenges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749040" y="300837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Screen-time tracking apps miss true eye behavior patterns. Medical eye examinations are episodic and intrusive. No continuous, non-invasive monitoring exists for real-time fatigue detection.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657600" y="3675888"/>
            <a:ext cx="5212080" cy="914400"/>
          </a:xfrm>
          <a:prstGeom prst="rect">
            <a:avLst/>
          </a:prstGeom>
          <a:solidFill>
            <a:srgbClr val="E8F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49040" y="3749040"/>
            <a:ext cx="201168" cy="201168"/>
          </a:xfrm>
          <a:prstGeom prst="ellipse">
            <a:avLst/>
          </a:prstGeom>
          <a:solidFill>
            <a:srgbClr val="2040A0"/>
          </a:solidFill>
          <a:ln w="12700">
            <a:solidFill>
              <a:srgbClr val="2040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0" y="37216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Contribution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749040" y="399592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Non-intrusive wearable system providing continuous, interpretable fatigue and stress insights. Empowers users with actionable data to develop healthier digital habits and improve well-being.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0" y="4572000"/>
            <a:ext cx="9144000" cy="25603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590288"/>
            <a:ext cx="8778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300M+  Affected Users Globally     🔴 8-12 hrs  Daily Screen Time     📈 65%+  Students Report Eye Strain     🔄 Real-Time  Continuous Monitoring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Progress Report | KSKV Kachchh University | Page 5</a:t>
            </a:r>
            <a:endParaRPr lang="en-US" sz="800" dirty="0"/>
          </a:p>
        </p:txBody>
      </p:sp>
      <p:sp>
        <p:nvSpPr>
          <p:cNvPr id="39" name="Text 12">
            <a:extLst>
              <a:ext uri="{FF2B5EF4-FFF2-40B4-BE49-F238E27FC236}">
                <a16:creationId xmlns:a16="http://schemas.microsoft.com/office/drawing/2014/main" id="{EAEDB8F1-9BFB-EFCC-B5C3-992DEC23CA7A}"/>
              </a:ext>
            </a:extLst>
          </p:cNvPr>
          <p:cNvSpPr/>
          <p:nvPr/>
        </p:nvSpPr>
        <p:spPr>
          <a:xfrm>
            <a:off x="1630680" y="32811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02920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AAAAA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713232"/>
            <a:ext cx="182880" cy="182880"/>
          </a:xfrm>
          <a:prstGeom prst="ellipse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48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48869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 &amp; Reddy: Computer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Syndrome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383280" y="713232"/>
            <a:ext cx="182880" cy="182880"/>
          </a:xfrm>
          <a:prstGeom prst="ellipse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548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834640" y="856489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Sheppard &amp; Wolffsohn: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Eye Strain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760720" y="713232"/>
            <a:ext cx="182880" cy="182880"/>
          </a:xfrm>
          <a:prstGeom prst="ellipse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548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204460" y="848869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Kaur et al.: Comprehensive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Review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8138160" y="713232"/>
            <a:ext cx="182880" cy="182880"/>
          </a:xfrm>
          <a:prstGeom prst="ellipse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0" y="5486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9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581900" y="856489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Project: AI Wearable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7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092933"/>
              </p:ext>
            </p:extLst>
          </p:nvPr>
        </p:nvGraphicFramePr>
        <p:xfrm>
          <a:off x="182880" y="1171956"/>
          <a:ext cx="8778239" cy="3863340"/>
        </p:xfrm>
        <a:graphic>
          <a:graphicData uri="http://schemas.openxmlformats.org/drawingml/2006/table">
            <a:tbl>
              <a:tblPr/>
              <a:tblGrid>
                <a:gridCol w="18677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552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5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47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Study / Source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Key Findings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Limitations / Gaps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930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Sheppard &amp; Wolffsohn (2018)</a:t>
                      </a:r>
                      <a:endParaRPr lang="en-US" sz="750" dirty="0"/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BMJ Open Ophthalmology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Digital eye strain is prevalent among screen users. Symptoms include tired eyes, dryness, headaches, and difficulty focusing. Measurement and amelioration strategies were discussed.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Focuses on symptom reporting and surveys. No real-time continuous monitoring. Limited objective behavioral metrics like blink rate analysis.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Kaur et al. (2022)</a:t>
                      </a:r>
                      <a:endParaRPr lang="en-US" sz="750" dirty="0"/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Ophthalmology and Therapy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Comprehensive review highlighting reduced blinking during screen use increases eye fatigue and discomfort. Behavioral factors play significant role in digital eye strain.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Retrospective analysis. Lacks wearable technology implementation. No AI-driven fatigue scoring or continuous data collection.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Loh &amp; Reddy (2008)</a:t>
                      </a:r>
                      <a:endParaRPr lang="en-US" sz="750" dirty="0"/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Malaysian Family Physician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Identified computer vision syndrome causes: poor lighting, prolonged screen time, improper viewing distance. Emphasised need for awareness and prevention strategies.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Relies on self-reported data. No technological intervention proposed. Limited quantitative behavioral monitoring.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5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American Optometric Association</a:t>
                      </a:r>
                      <a:endParaRPr lang="en-US" sz="750" dirty="0"/>
                    </a:p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</a:rPr>
                        <a:t>Clinical Guidelines</a:t>
                      </a:r>
                      <a:endParaRPr lang="en-US" sz="7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Excessive screen use linked to stress, poor sleep quality, and reduced productivity. Recommends regular breaks and ergonomic adjustments for computer users.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Passive recommendations only. No active monitoring system. Lacks personalized, data-driven intervention tools.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6" name="Shape 21"/>
          <p:cNvSpPr/>
          <p:nvPr/>
        </p:nvSpPr>
        <p:spPr>
          <a:xfrm>
            <a:off x="0" y="4969764"/>
            <a:ext cx="9144000" cy="3154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-1" y="49789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Progress Report | KSKV Kachchh University | Page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Methodology: End-to-End Workflow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49808"/>
            <a:ext cx="1664208" cy="2057400"/>
          </a:xfrm>
          <a:prstGeom prst="rect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868680"/>
            <a:ext cx="502920" cy="502920"/>
          </a:xfrm>
          <a:prstGeom prst="ellipse">
            <a:avLst/>
          </a:prstGeom>
          <a:solidFill>
            <a:srgbClr val="0A7A6C"/>
          </a:solidFill>
          <a:ln w="12700">
            <a:solidFill>
              <a:srgbClr val="0A7A6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96012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43560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274320" y="1609344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Capture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1883664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Miniature cameras record pupil activity, blink frequency, and eye closure duration continuously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1938528" y="14630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103120" y="749808"/>
            <a:ext cx="1664208" cy="2057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88336" y="868680"/>
            <a:ext cx="502920" cy="50292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064" y="9601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03120" y="143560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2103120" y="1609344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Transmission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2148840" y="1883664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captured data to microcontroller or edge processor for real-time processing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3767328" y="14630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3931920" y="749808"/>
            <a:ext cx="1664208" cy="2057400"/>
          </a:xfrm>
          <a:prstGeom prst="rect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17136" y="868680"/>
            <a:ext cx="502920" cy="502920"/>
          </a:xfrm>
          <a:prstGeom prst="ellipse">
            <a:avLst/>
          </a:prstGeom>
          <a:solidFill>
            <a:srgbClr val="0A7A6C"/>
          </a:solidFill>
          <a:ln w="12700">
            <a:solidFill>
              <a:srgbClr val="0A7A6C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6864" y="960120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31920" y="143560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3931920" y="1609344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Filtering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3977640" y="1883664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models estimate blink rate, PERCLOS, and fatigue indicators using OpenCV.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5596128" y="14630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5760720" y="749808"/>
            <a:ext cx="1664208" cy="2057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345936" y="868680"/>
            <a:ext cx="502920" cy="502920"/>
          </a:xfrm>
          <a:prstGeom prst="ellipse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960120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760720" y="143560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5760720" y="1609344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806440" y="1883664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eye health, fatigue, and stress scores by correlating them with pre and post use cases.</a:t>
            </a:r>
            <a:endParaRPr lang="en-US" sz="750" dirty="0"/>
          </a:p>
        </p:txBody>
      </p:sp>
      <p:sp>
        <p:nvSpPr>
          <p:cNvPr id="31" name="Text 25"/>
          <p:cNvSpPr/>
          <p:nvPr/>
        </p:nvSpPr>
        <p:spPr>
          <a:xfrm>
            <a:off x="7424928" y="14630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7589520" y="749808"/>
            <a:ext cx="1664208" cy="2057400"/>
          </a:xfrm>
          <a:prstGeom prst="rect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8174736" y="868680"/>
            <a:ext cx="502920" cy="502920"/>
          </a:xfrm>
          <a:prstGeom prst="ellipse">
            <a:avLst/>
          </a:prstGeom>
          <a:solidFill>
            <a:srgbClr val="0A7A6C"/>
          </a:solidFill>
          <a:ln w="12700">
            <a:solidFill>
              <a:srgbClr val="0A7A6C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464" y="960120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589520" y="1435608"/>
            <a:ext cx="166420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7589520" y="1609344"/>
            <a:ext cx="16642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635240" y="1883664"/>
            <a:ext cx="157276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displays insights and how it has damaged users eye health &amp; mental well being.</a:t>
            </a:r>
            <a:endParaRPr lang="en-US" sz="750" dirty="0"/>
          </a:p>
        </p:txBody>
      </p:sp>
      <p:sp>
        <p:nvSpPr>
          <p:cNvPr id="38" name="Shape 31"/>
          <p:cNvSpPr/>
          <p:nvPr/>
        </p:nvSpPr>
        <p:spPr>
          <a:xfrm>
            <a:off x="320040" y="2971800"/>
            <a:ext cx="365760" cy="365760"/>
          </a:xfrm>
          <a:prstGeom prst="ellipse">
            <a:avLst/>
          </a:prstGeom>
          <a:solidFill>
            <a:srgbClr val="E8ECF0"/>
          </a:solidFill>
          <a:ln w="12700">
            <a:solidFill>
              <a:srgbClr val="AAAAAA"/>
            </a:solidFill>
            <a:prstDash val="solid"/>
          </a:ln>
        </p:spPr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048" y="3026664"/>
            <a:ext cx="228600" cy="22860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749808" y="29992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Collected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749808" y="3182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frequency, PERCLOS (eye closure percentage), gaze patterns, screen exposure time, and pupil dilation metrics.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4846320" y="2971800"/>
            <a:ext cx="365760" cy="365760"/>
          </a:xfrm>
          <a:prstGeom prst="ellipse">
            <a:avLst/>
          </a:prstGeom>
          <a:solidFill>
            <a:srgbClr val="E8ECF0"/>
          </a:solidFill>
          <a:ln w="12700">
            <a:solidFill>
              <a:srgbClr val="AAAAAA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3026664"/>
            <a:ext cx="228600" cy="22860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285232" y="29992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</a:t>
            </a:r>
            <a:endParaRPr lang="en-US" sz="1000" dirty="0"/>
          </a:p>
        </p:txBody>
      </p:sp>
      <p:sp>
        <p:nvSpPr>
          <p:cNvPr id="45" name="Text 36"/>
          <p:cNvSpPr/>
          <p:nvPr/>
        </p:nvSpPr>
        <p:spPr>
          <a:xfrm>
            <a:off x="5285232" y="318211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video processing, feature extraction, classification models, fatigue scoring algorithms, and personalized threshold calibration.</a:t>
            </a:r>
            <a:endParaRPr lang="en-US" sz="850" dirty="0"/>
          </a:p>
        </p:txBody>
      </p:sp>
      <p:sp>
        <p:nvSpPr>
          <p:cNvPr id="46" name="Shape 37"/>
          <p:cNvSpPr/>
          <p:nvPr/>
        </p:nvSpPr>
        <p:spPr>
          <a:xfrm>
            <a:off x="0" y="4259580"/>
            <a:ext cx="914400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457200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384048" y="437997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49" name="Text 40"/>
          <p:cNvSpPr/>
          <p:nvPr/>
        </p:nvSpPr>
        <p:spPr>
          <a:xfrm>
            <a:off x="274320" y="437997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🐍 Python</a:t>
            </a:r>
            <a:endParaRPr lang="en-US" sz="800" dirty="0"/>
          </a:p>
        </p:txBody>
      </p:sp>
      <p:sp>
        <p:nvSpPr>
          <p:cNvPr id="50" name="Shape 41"/>
          <p:cNvSpPr/>
          <p:nvPr/>
        </p:nvSpPr>
        <p:spPr>
          <a:xfrm>
            <a:off x="1780032" y="439216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1754124" y="437997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OpenCV</a:t>
            </a:r>
            <a:endParaRPr lang="en-US" sz="800" dirty="0"/>
          </a:p>
        </p:txBody>
      </p:sp>
      <p:sp>
        <p:nvSpPr>
          <p:cNvPr id="52" name="Shape 43"/>
          <p:cNvSpPr/>
          <p:nvPr/>
        </p:nvSpPr>
        <p:spPr>
          <a:xfrm>
            <a:off x="3182112" y="4384548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3A5A9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53" name="Text 44"/>
          <p:cNvSpPr/>
          <p:nvPr/>
        </p:nvSpPr>
        <p:spPr>
          <a:xfrm>
            <a:off x="3169920" y="4370832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TensorFlow</a:t>
            </a:r>
            <a:endParaRPr lang="en-US" sz="800" dirty="0"/>
          </a:p>
        </p:txBody>
      </p:sp>
      <p:sp>
        <p:nvSpPr>
          <p:cNvPr id="54" name="Shape 45"/>
          <p:cNvSpPr/>
          <p:nvPr/>
        </p:nvSpPr>
        <p:spPr>
          <a:xfrm>
            <a:off x="4750308" y="4370832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4732020" y="43571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🍓 Raspberry Pi</a:t>
            </a:r>
            <a:endParaRPr lang="en-US" sz="800" dirty="0"/>
          </a:p>
        </p:txBody>
      </p:sp>
      <p:sp>
        <p:nvSpPr>
          <p:cNvPr id="56" name="Shape 47"/>
          <p:cNvSpPr/>
          <p:nvPr/>
        </p:nvSpPr>
        <p:spPr>
          <a:xfrm>
            <a:off x="6201156" y="4370832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57" name="Text 48"/>
          <p:cNvSpPr/>
          <p:nvPr/>
        </p:nvSpPr>
        <p:spPr>
          <a:xfrm>
            <a:off x="6184392" y="43571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Microcontroller</a:t>
            </a:r>
            <a:endParaRPr lang="en-US" sz="800" dirty="0"/>
          </a:p>
        </p:txBody>
      </p:sp>
      <p:sp>
        <p:nvSpPr>
          <p:cNvPr id="58" name="Shape 49"/>
          <p:cNvSpPr/>
          <p:nvPr/>
        </p:nvSpPr>
        <p:spPr>
          <a:xfrm>
            <a:off x="7680960" y="4357116"/>
            <a:ext cx="1170432" cy="256032"/>
          </a:xfrm>
          <a:prstGeom prst="roundRect">
            <a:avLst>
              <a:gd name="adj" fmla="val 14286"/>
            </a:avLst>
          </a:prstGeom>
          <a:solidFill>
            <a:srgbClr val="1E3A6E"/>
          </a:solidFill>
          <a:ln w="12700">
            <a:solidFill>
              <a:srgbClr val="3A5A9A"/>
            </a:solidFill>
            <a:prstDash val="solid"/>
          </a:ln>
        </p:spPr>
      </p:sp>
      <p:sp>
        <p:nvSpPr>
          <p:cNvPr id="59" name="Text 50"/>
          <p:cNvSpPr/>
          <p:nvPr/>
        </p:nvSpPr>
        <p:spPr>
          <a:xfrm>
            <a:off x="7699248" y="4357116"/>
            <a:ext cx="1170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&lt;/&gt; NumPy/Pandas</a:t>
            </a:r>
            <a:endParaRPr lang="en-US" sz="800" dirty="0"/>
          </a:p>
        </p:txBody>
      </p:sp>
      <p:sp>
        <p:nvSpPr>
          <p:cNvPr id="60" name="Shape 5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1" name="Text 52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Progress Report | KSKV Kachchh University | Page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72009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99516"/>
            <a:ext cx="9121140" cy="41148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23444"/>
            <a:ext cx="6858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00" b="1" dirty="0">
                <a:solidFill>
                  <a:srgbClr val="0D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</a:t>
            </a:r>
            <a:r>
              <a:rPr lang="en-US" sz="2100" b="1" dirty="0">
                <a:solidFill>
                  <a:srgbClr val="00A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(Total ₹38,359)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05740" y="822960"/>
            <a:ext cx="4183380" cy="315468"/>
          </a:xfrm>
          <a:prstGeom prst="rect">
            <a:avLst/>
          </a:prstGeom>
          <a:solidFill>
            <a:srgbClr val="0D2D4A"/>
          </a:solidFill>
          <a:ln w="12700">
            <a:solidFill>
              <a:srgbClr val="0D2D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8036" y="870966"/>
            <a:ext cx="2606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88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Category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2914650" y="870966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Amount (₹)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3737610" y="870966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88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(%)</a:t>
            </a:r>
            <a:endParaRPr lang="en-US" sz="788" dirty="0"/>
          </a:p>
        </p:txBody>
      </p:sp>
      <p:sp>
        <p:nvSpPr>
          <p:cNvPr id="9" name="Shape 7"/>
          <p:cNvSpPr/>
          <p:nvPr/>
        </p:nvSpPr>
        <p:spPr>
          <a:xfrm>
            <a:off x="205740" y="1138428"/>
            <a:ext cx="418338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F0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186434"/>
            <a:ext cx="219456" cy="219456"/>
          </a:xfrm>
          <a:prstGeom prst="ellipse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" y="1207008"/>
            <a:ext cx="150876" cy="1508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62356" y="1172718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Spectacle Frame &amp; Fitting</a:t>
            </a:r>
            <a:endParaRPr lang="en-US" sz="713" dirty="0"/>
          </a:p>
        </p:txBody>
      </p:sp>
      <p:sp>
        <p:nvSpPr>
          <p:cNvPr id="13" name="Text 10"/>
          <p:cNvSpPr/>
          <p:nvPr/>
        </p:nvSpPr>
        <p:spPr>
          <a:xfrm>
            <a:off x="2914650" y="1186434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₹2,250</a:t>
            </a:r>
            <a:endParaRPr lang="en-US" sz="713" dirty="0"/>
          </a:p>
        </p:txBody>
      </p:sp>
      <p:sp>
        <p:nvSpPr>
          <p:cNvPr id="14" name="Text 11"/>
          <p:cNvSpPr/>
          <p:nvPr/>
        </p:nvSpPr>
        <p:spPr>
          <a:xfrm>
            <a:off x="3737610" y="1186434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5.9%</a:t>
            </a:r>
            <a:endParaRPr lang="en-US" sz="713" dirty="0"/>
          </a:p>
        </p:txBody>
      </p:sp>
      <p:sp>
        <p:nvSpPr>
          <p:cNvPr id="15" name="Shape 12"/>
          <p:cNvSpPr/>
          <p:nvPr/>
        </p:nvSpPr>
        <p:spPr>
          <a:xfrm>
            <a:off x="205740" y="1453896"/>
            <a:ext cx="4183380" cy="315468"/>
          </a:xfrm>
          <a:prstGeom prst="rect">
            <a:avLst/>
          </a:prstGeom>
          <a:solidFill>
            <a:srgbClr val="F2FBFB"/>
          </a:solidFill>
          <a:ln w="12700">
            <a:solidFill>
              <a:srgbClr val="DDF0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74320" y="1501902"/>
            <a:ext cx="219456" cy="219456"/>
          </a:xfrm>
          <a:prstGeom prst="ellipse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610" y="1522476"/>
            <a:ext cx="150876" cy="1508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62356" y="1488186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Camera Modules</a:t>
            </a:r>
            <a:endParaRPr lang="en-US" sz="713" dirty="0"/>
          </a:p>
        </p:txBody>
      </p:sp>
      <p:sp>
        <p:nvSpPr>
          <p:cNvPr id="19" name="Text 15"/>
          <p:cNvSpPr/>
          <p:nvPr/>
        </p:nvSpPr>
        <p:spPr>
          <a:xfrm>
            <a:off x="2914650" y="1501902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₹10,050</a:t>
            </a:r>
            <a:endParaRPr lang="en-US" sz="713" dirty="0"/>
          </a:p>
        </p:txBody>
      </p:sp>
      <p:sp>
        <p:nvSpPr>
          <p:cNvPr id="20" name="Text 16"/>
          <p:cNvSpPr/>
          <p:nvPr/>
        </p:nvSpPr>
        <p:spPr>
          <a:xfrm>
            <a:off x="3737610" y="1501902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26.2%</a:t>
            </a:r>
            <a:endParaRPr lang="en-US" sz="713" dirty="0"/>
          </a:p>
        </p:txBody>
      </p:sp>
      <p:sp>
        <p:nvSpPr>
          <p:cNvPr id="21" name="Shape 17"/>
          <p:cNvSpPr/>
          <p:nvPr/>
        </p:nvSpPr>
        <p:spPr>
          <a:xfrm>
            <a:off x="205740" y="1769364"/>
            <a:ext cx="418338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F0E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74320" y="1817370"/>
            <a:ext cx="219456" cy="219456"/>
          </a:xfrm>
          <a:prstGeom prst="ellipse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610" y="1837944"/>
            <a:ext cx="150876" cy="15087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62356" y="1803654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Unit (Raspberry Pi / sim.)</a:t>
            </a:r>
            <a:endParaRPr lang="en-US" sz="713" dirty="0"/>
          </a:p>
        </p:txBody>
      </p:sp>
      <p:sp>
        <p:nvSpPr>
          <p:cNvPr id="25" name="Text 20"/>
          <p:cNvSpPr/>
          <p:nvPr/>
        </p:nvSpPr>
        <p:spPr>
          <a:xfrm>
            <a:off x="2914650" y="1817370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₹7,559</a:t>
            </a:r>
            <a:endParaRPr lang="en-US" sz="713" dirty="0"/>
          </a:p>
        </p:txBody>
      </p:sp>
      <p:sp>
        <p:nvSpPr>
          <p:cNvPr id="26" name="Text 21"/>
          <p:cNvSpPr/>
          <p:nvPr/>
        </p:nvSpPr>
        <p:spPr>
          <a:xfrm>
            <a:off x="3737610" y="1817370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19.7%</a:t>
            </a:r>
            <a:endParaRPr lang="en-US" sz="713" dirty="0"/>
          </a:p>
        </p:txBody>
      </p:sp>
      <p:sp>
        <p:nvSpPr>
          <p:cNvPr id="27" name="Shape 22"/>
          <p:cNvSpPr/>
          <p:nvPr/>
        </p:nvSpPr>
        <p:spPr>
          <a:xfrm>
            <a:off x="205740" y="2084832"/>
            <a:ext cx="4183380" cy="315468"/>
          </a:xfrm>
          <a:prstGeom prst="rect">
            <a:avLst/>
          </a:prstGeom>
          <a:solidFill>
            <a:srgbClr val="F2FBFB"/>
          </a:solidFill>
          <a:ln w="12700">
            <a:solidFill>
              <a:srgbClr val="DDF0EE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274320" y="2132838"/>
            <a:ext cx="219456" cy="219456"/>
          </a:xfrm>
          <a:prstGeom prst="ellipse">
            <a:avLst/>
          </a:prstGeom>
          <a:solidFill>
            <a:srgbClr val="148F7A"/>
          </a:solidFill>
          <a:ln w="12700">
            <a:solidFill>
              <a:srgbClr val="148F7A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8610" y="2153412"/>
            <a:ext cx="150876" cy="15087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2356" y="2119122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Power Supply</a:t>
            </a:r>
            <a:endParaRPr lang="en-US" sz="713" dirty="0"/>
          </a:p>
        </p:txBody>
      </p:sp>
      <p:sp>
        <p:nvSpPr>
          <p:cNvPr id="31" name="Text 25"/>
          <p:cNvSpPr/>
          <p:nvPr/>
        </p:nvSpPr>
        <p:spPr>
          <a:xfrm>
            <a:off x="2914650" y="2132838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</a:t>
            </a:r>
            <a:endParaRPr lang="en-US" sz="713" dirty="0"/>
          </a:p>
        </p:txBody>
      </p:sp>
      <p:sp>
        <p:nvSpPr>
          <p:cNvPr id="32" name="Text 26"/>
          <p:cNvSpPr/>
          <p:nvPr/>
        </p:nvSpPr>
        <p:spPr>
          <a:xfrm>
            <a:off x="3737610" y="2132838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</a:t>
            </a:r>
            <a:endParaRPr lang="en-US" sz="713" dirty="0"/>
          </a:p>
        </p:txBody>
      </p:sp>
      <p:sp>
        <p:nvSpPr>
          <p:cNvPr id="33" name="Shape 27"/>
          <p:cNvSpPr/>
          <p:nvPr/>
        </p:nvSpPr>
        <p:spPr>
          <a:xfrm>
            <a:off x="205740" y="2400300"/>
            <a:ext cx="418338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F0E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274320" y="2448306"/>
            <a:ext cx="219456" cy="219456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8610" y="2468880"/>
            <a:ext cx="150876" cy="150876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62356" y="2434590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AI Development</a:t>
            </a:r>
            <a:endParaRPr lang="en-US" sz="713" dirty="0"/>
          </a:p>
        </p:txBody>
      </p:sp>
      <p:sp>
        <p:nvSpPr>
          <p:cNvPr id="37" name="Text 30"/>
          <p:cNvSpPr/>
          <p:nvPr/>
        </p:nvSpPr>
        <p:spPr>
          <a:xfrm>
            <a:off x="2914650" y="2448306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₹5,000</a:t>
            </a:r>
            <a:endParaRPr lang="en-US" sz="713" dirty="0"/>
          </a:p>
        </p:txBody>
      </p:sp>
      <p:sp>
        <p:nvSpPr>
          <p:cNvPr id="38" name="Text 31"/>
          <p:cNvSpPr/>
          <p:nvPr/>
        </p:nvSpPr>
        <p:spPr>
          <a:xfrm>
            <a:off x="3737610" y="2448306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713" dirty="0"/>
          </a:p>
        </p:txBody>
      </p:sp>
      <p:sp>
        <p:nvSpPr>
          <p:cNvPr id="39" name="Shape 32"/>
          <p:cNvSpPr/>
          <p:nvPr/>
        </p:nvSpPr>
        <p:spPr>
          <a:xfrm>
            <a:off x="205740" y="2715768"/>
            <a:ext cx="4183380" cy="315468"/>
          </a:xfrm>
          <a:prstGeom prst="rect">
            <a:avLst/>
          </a:prstGeom>
          <a:solidFill>
            <a:srgbClr val="F2FBFB"/>
          </a:solidFill>
          <a:ln w="12700">
            <a:solidFill>
              <a:srgbClr val="DDF0EE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74320" y="2763774"/>
            <a:ext cx="219456" cy="219456"/>
          </a:xfrm>
          <a:prstGeom prst="ellipse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8610" y="2784348"/>
            <a:ext cx="150876" cy="15087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562356" y="2750058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Interface Development</a:t>
            </a:r>
            <a:endParaRPr lang="en-US" sz="713" dirty="0"/>
          </a:p>
        </p:txBody>
      </p:sp>
      <p:sp>
        <p:nvSpPr>
          <p:cNvPr id="43" name="Text 35"/>
          <p:cNvSpPr/>
          <p:nvPr/>
        </p:nvSpPr>
        <p:spPr>
          <a:xfrm>
            <a:off x="2914650" y="2763774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₹5,500</a:t>
            </a:r>
            <a:endParaRPr lang="en-US" sz="713" dirty="0"/>
          </a:p>
        </p:txBody>
      </p:sp>
      <p:sp>
        <p:nvSpPr>
          <p:cNvPr id="44" name="Text 36"/>
          <p:cNvSpPr/>
          <p:nvPr/>
        </p:nvSpPr>
        <p:spPr>
          <a:xfrm>
            <a:off x="3737610" y="2763774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14.3%</a:t>
            </a:r>
            <a:endParaRPr lang="en-US" sz="713" dirty="0"/>
          </a:p>
        </p:txBody>
      </p:sp>
      <p:sp>
        <p:nvSpPr>
          <p:cNvPr id="45" name="Shape 37"/>
          <p:cNvSpPr/>
          <p:nvPr/>
        </p:nvSpPr>
        <p:spPr>
          <a:xfrm>
            <a:off x="205740" y="3031236"/>
            <a:ext cx="4183380" cy="3154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F0EE"/>
            </a:solidFill>
            <a:prstDash val="solid"/>
          </a:ln>
        </p:spPr>
      </p:sp>
      <p:sp>
        <p:nvSpPr>
          <p:cNvPr id="46" name="Shape 38"/>
          <p:cNvSpPr/>
          <p:nvPr/>
        </p:nvSpPr>
        <p:spPr>
          <a:xfrm>
            <a:off x="274320" y="3079242"/>
            <a:ext cx="219456" cy="219456"/>
          </a:xfrm>
          <a:prstGeom prst="ellipse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610" y="3099816"/>
            <a:ext cx="150876" cy="150876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562356" y="3065526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&amp; Testing</a:t>
            </a:r>
            <a:endParaRPr lang="en-US" sz="713" dirty="0"/>
          </a:p>
        </p:txBody>
      </p:sp>
      <p:sp>
        <p:nvSpPr>
          <p:cNvPr id="49" name="Text 40"/>
          <p:cNvSpPr/>
          <p:nvPr/>
        </p:nvSpPr>
        <p:spPr>
          <a:xfrm>
            <a:off x="2914650" y="3079242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₹2,000</a:t>
            </a:r>
            <a:endParaRPr lang="en-US" sz="713" dirty="0"/>
          </a:p>
        </p:txBody>
      </p:sp>
      <p:sp>
        <p:nvSpPr>
          <p:cNvPr id="50" name="Text 41"/>
          <p:cNvSpPr/>
          <p:nvPr/>
        </p:nvSpPr>
        <p:spPr>
          <a:xfrm>
            <a:off x="3737610" y="3079242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5.2%</a:t>
            </a:r>
            <a:endParaRPr lang="en-US" sz="713" dirty="0"/>
          </a:p>
        </p:txBody>
      </p:sp>
      <p:sp>
        <p:nvSpPr>
          <p:cNvPr id="51" name="Shape 42"/>
          <p:cNvSpPr/>
          <p:nvPr/>
        </p:nvSpPr>
        <p:spPr>
          <a:xfrm>
            <a:off x="205740" y="3346704"/>
            <a:ext cx="4183380" cy="315468"/>
          </a:xfrm>
          <a:prstGeom prst="rect">
            <a:avLst/>
          </a:prstGeom>
          <a:solidFill>
            <a:srgbClr val="F2FBFB"/>
          </a:solidFill>
          <a:ln w="12700">
            <a:solidFill>
              <a:srgbClr val="DDF0EE"/>
            </a:solidFill>
            <a:prstDash val="solid"/>
          </a:ln>
        </p:spPr>
      </p:sp>
      <p:sp>
        <p:nvSpPr>
          <p:cNvPr id="52" name="Shape 43"/>
          <p:cNvSpPr/>
          <p:nvPr/>
        </p:nvSpPr>
        <p:spPr>
          <a:xfrm>
            <a:off x="274320" y="3394710"/>
            <a:ext cx="219456" cy="219456"/>
          </a:xfrm>
          <a:prstGeom prst="ellipse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pic>
        <p:nvPicPr>
          <p:cNvPr id="53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8610" y="3415284"/>
            <a:ext cx="150876" cy="150876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562356" y="3380994"/>
            <a:ext cx="226314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13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</a:t>
            </a:r>
            <a:endParaRPr lang="en-US" sz="713" dirty="0"/>
          </a:p>
        </p:txBody>
      </p:sp>
      <p:sp>
        <p:nvSpPr>
          <p:cNvPr id="55" name="Text 45"/>
          <p:cNvSpPr/>
          <p:nvPr/>
        </p:nvSpPr>
        <p:spPr>
          <a:xfrm>
            <a:off x="2914650" y="3394710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D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₹3,500</a:t>
            </a:r>
            <a:endParaRPr lang="en-US" sz="713" dirty="0"/>
          </a:p>
        </p:txBody>
      </p:sp>
      <p:sp>
        <p:nvSpPr>
          <p:cNvPr id="56" name="Text 46"/>
          <p:cNvSpPr/>
          <p:nvPr/>
        </p:nvSpPr>
        <p:spPr>
          <a:xfrm>
            <a:off x="3737610" y="3394710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13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713" dirty="0"/>
          </a:p>
        </p:txBody>
      </p:sp>
      <p:sp>
        <p:nvSpPr>
          <p:cNvPr id="57" name="Shape 47"/>
          <p:cNvSpPr/>
          <p:nvPr/>
        </p:nvSpPr>
        <p:spPr>
          <a:xfrm>
            <a:off x="205740" y="3662172"/>
            <a:ext cx="4183380" cy="315468"/>
          </a:xfrm>
          <a:prstGeom prst="rect">
            <a:avLst/>
          </a:prstGeom>
          <a:solidFill>
            <a:srgbClr val="0D2D4A"/>
          </a:solidFill>
          <a:ln w="12700">
            <a:solidFill>
              <a:srgbClr val="0D2D4A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288036" y="3710178"/>
            <a:ext cx="257175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PROJECT BUDGET</a:t>
            </a:r>
            <a:endParaRPr lang="en-US" sz="750" dirty="0"/>
          </a:p>
        </p:txBody>
      </p:sp>
      <p:sp>
        <p:nvSpPr>
          <p:cNvPr id="59" name="Text 49"/>
          <p:cNvSpPr/>
          <p:nvPr/>
        </p:nvSpPr>
        <p:spPr>
          <a:xfrm>
            <a:off x="2914650" y="3710178"/>
            <a:ext cx="7543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38,359</a:t>
            </a:r>
            <a:endParaRPr lang="en-US" sz="750" dirty="0"/>
          </a:p>
        </p:txBody>
      </p:sp>
      <p:sp>
        <p:nvSpPr>
          <p:cNvPr id="60" name="Text 50"/>
          <p:cNvSpPr/>
          <p:nvPr/>
        </p:nvSpPr>
        <p:spPr>
          <a:xfrm>
            <a:off x="3737610" y="3710178"/>
            <a:ext cx="6172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750" dirty="0"/>
          </a:p>
        </p:txBody>
      </p:sp>
      <p:sp>
        <p:nvSpPr>
          <p:cNvPr id="61" name="Shape 51"/>
          <p:cNvSpPr/>
          <p:nvPr/>
        </p:nvSpPr>
        <p:spPr>
          <a:xfrm>
            <a:off x="224790" y="4066794"/>
            <a:ext cx="4183380" cy="87096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2" name="Text 52"/>
          <p:cNvSpPr/>
          <p:nvPr/>
        </p:nvSpPr>
        <p:spPr>
          <a:xfrm>
            <a:off x="274320" y="4135374"/>
            <a:ext cx="246888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 Funding Required</a:t>
            </a:r>
            <a:endParaRPr lang="en-US" sz="825" dirty="0"/>
          </a:p>
        </p:txBody>
      </p:sp>
      <p:sp>
        <p:nvSpPr>
          <p:cNvPr id="63" name="Text 53"/>
          <p:cNvSpPr/>
          <p:nvPr/>
        </p:nvSpPr>
        <p:spPr>
          <a:xfrm>
            <a:off x="2537460" y="4162806"/>
            <a:ext cx="1714500" cy="692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₹38,359</a:t>
            </a:r>
            <a:endParaRPr lang="en-US" sz="2400" dirty="0"/>
          </a:p>
        </p:txBody>
      </p:sp>
      <p:sp>
        <p:nvSpPr>
          <p:cNvPr id="64" name="Text 54"/>
          <p:cNvSpPr/>
          <p:nvPr/>
        </p:nvSpPr>
        <p:spPr>
          <a:xfrm>
            <a:off x="4526280" y="8229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975" b="1" dirty="0">
                <a:solidFill>
                  <a:srgbClr val="0D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 Distribution</a:t>
            </a:r>
            <a:endParaRPr lang="en-US" sz="975" dirty="0"/>
          </a:p>
        </p:txBody>
      </p:sp>
      <p:sp>
        <p:nvSpPr>
          <p:cNvPr id="65" name="Shape 55"/>
          <p:cNvSpPr/>
          <p:nvPr/>
        </p:nvSpPr>
        <p:spPr>
          <a:xfrm>
            <a:off x="4526280" y="1097280"/>
            <a:ext cx="4389120" cy="24003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66" name="Chart 0"/>
          <p:cNvGraphicFramePr/>
          <p:nvPr/>
        </p:nvGraphicFramePr>
        <p:xfrm>
          <a:off x="4732020" y="1131570"/>
          <a:ext cx="39776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67" name="Shape 56"/>
          <p:cNvSpPr/>
          <p:nvPr/>
        </p:nvSpPr>
        <p:spPr>
          <a:xfrm>
            <a:off x="4526280" y="3634740"/>
            <a:ext cx="43891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F0EF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8" name="Text 57"/>
          <p:cNvSpPr/>
          <p:nvPr/>
        </p:nvSpPr>
        <p:spPr>
          <a:xfrm>
            <a:off x="4649724" y="3703320"/>
            <a:ext cx="39776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>
                <a:solidFill>
                  <a:srgbClr val="0D2D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 Allocation Key</a:t>
            </a:r>
            <a:endParaRPr lang="en-US" sz="750" dirty="0"/>
          </a:p>
        </p:txBody>
      </p:sp>
      <p:sp>
        <p:nvSpPr>
          <p:cNvPr id="69" name="Shape 58"/>
          <p:cNvSpPr/>
          <p:nvPr/>
        </p:nvSpPr>
        <p:spPr>
          <a:xfrm>
            <a:off x="4649724" y="3970782"/>
            <a:ext cx="96012" cy="96012"/>
          </a:xfrm>
          <a:prstGeom prst="rect">
            <a:avLst/>
          </a:prstGeom>
          <a:solidFill>
            <a:srgbClr val="00B8A9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70" name="Text 59"/>
          <p:cNvSpPr/>
          <p:nvPr/>
        </p:nvSpPr>
        <p:spPr>
          <a:xfrm>
            <a:off x="4786884" y="3922776"/>
            <a:ext cx="18859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5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Spectacle Frame &amp; Fitt… (5.9%)</a:t>
            </a:r>
            <a:endParaRPr lang="en-US" sz="615" dirty="0"/>
          </a:p>
        </p:txBody>
      </p:sp>
      <p:sp>
        <p:nvSpPr>
          <p:cNvPr id="71" name="Shape 60"/>
          <p:cNvSpPr/>
          <p:nvPr/>
        </p:nvSpPr>
        <p:spPr>
          <a:xfrm>
            <a:off x="6707124" y="3970782"/>
            <a:ext cx="96012" cy="96012"/>
          </a:xfrm>
          <a:prstGeom prst="rect">
            <a:avLst/>
          </a:prstGeom>
          <a:solidFill>
            <a:srgbClr val="0D7A8A"/>
          </a:solidFill>
          <a:ln w="12700">
            <a:solidFill>
              <a:srgbClr val="0D7A8A"/>
            </a:solidFill>
            <a:prstDash val="solid"/>
          </a:ln>
        </p:spPr>
      </p:sp>
      <p:sp>
        <p:nvSpPr>
          <p:cNvPr id="72" name="Text 61"/>
          <p:cNvSpPr/>
          <p:nvPr/>
        </p:nvSpPr>
        <p:spPr>
          <a:xfrm>
            <a:off x="6844284" y="3922776"/>
            <a:ext cx="18859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5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Camera Modules (26.2%)</a:t>
            </a:r>
            <a:endParaRPr lang="en-US" sz="615" dirty="0"/>
          </a:p>
        </p:txBody>
      </p:sp>
      <p:sp>
        <p:nvSpPr>
          <p:cNvPr id="73" name="Shape 62"/>
          <p:cNvSpPr/>
          <p:nvPr/>
        </p:nvSpPr>
        <p:spPr>
          <a:xfrm>
            <a:off x="4649724" y="4217670"/>
            <a:ext cx="96012" cy="9601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74" name="Text 63"/>
          <p:cNvSpPr/>
          <p:nvPr/>
        </p:nvSpPr>
        <p:spPr>
          <a:xfrm>
            <a:off x="4786884" y="4169664"/>
            <a:ext cx="18859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5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Unit (Raspb… (19.7%)</a:t>
            </a:r>
            <a:endParaRPr lang="en-US" sz="615" dirty="0"/>
          </a:p>
        </p:txBody>
      </p:sp>
      <p:sp>
        <p:nvSpPr>
          <p:cNvPr id="75" name="Shape 64"/>
          <p:cNvSpPr/>
          <p:nvPr/>
        </p:nvSpPr>
        <p:spPr>
          <a:xfrm>
            <a:off x="6707124" y="4217670"/>
            <a:ext cx="96012" cy="96012"/>
          </a:xfrm>
          <a:prstGeom prst="rect">
            <a:avLst/>
          </a:prstGeom>
          <a:solidFill>
            <a:srgbClr val="148F7A"/>
          </a:solidFill>
          <a:ln w="12700">
            <a:solidFill>
              <a:srgbClr val="148F7A"/>
            </a:solidFill>
            <a:prstDash val="solid"/>
          </a:ln>
        </p:spPr>
      </p:sp>
      <p:sp>
        <p:nvSpPr>
          <p:cNvPr id="76" name="Text 65"/>
          <p:cNvSpPr/>
          <p:nvPr/>
        </p:nvSpPr>
        <p:spPr>
          <a:xfrm>
            <a:off x="6844284" y="4169664"/>
            <a:ext cx="18859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5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&amp; Power Supply (6.5%)</a:t>
            </a:r>
            <a:endParaRPr lang="en-US" sz="615" dirty="0"/>
          </a:p>
        </p:txBody>
      </p:sp>
      <p:sp>
        <p:nvSpPr>
          <p:cNvPr id="77" name="Shape 66"/>
          <p:cNvSpPr/>
          <p:nvPr/>
        </p:nvSpPr>
        <p:spPr>
          <a:xfrm>
            <a:off x="4649724" y="4464558"/>
            <a:ext cx="96012" cy="9601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</p:sp>
      <p:sp>
        <p:nvSpPr>
          <p:cNvPr id="78" name="Text 67"/>
          <p:cNvSpPr/>
          <p:nvPr/>
        </p:nvSpPr>
        <p:spPr>
          <a:xfrm>
            <a:off x="4786884" y="4416552"/>
            <a:ext cx="18859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5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&amp; AI Developm… (13%)</a:t>
            </a:r>
            <a:endParaRPr lang="en-US" sz="615" dirty="0"/>
          </a:p>
        </p:txBody>
      </p:sp>
      <p:sp>
        <p:nvSpPr>
          <p:cNvPr id="79" name="Shape 68"/>
          <p:cNvSpPr/>
          <p:nvPr/>
        </p:nvSpPr>
        <p:spPr>
          <a:xfrm>
            <a:off x="6707124" y="4464558"/>
            <a:ext cx="96012" cy="9601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80" name="Text 69"/>
          <p:cNvSpPr/>
          <p:nvPr/>
        </p:nvSpPr>
        <p:spPr>
          <a:xfrm>
            <a:off x="6844284" y="4416552"/>
            <a:ext cx="18859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5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/ Interface Develo… (14.3%)</a:t>
            </a:r>
            <a:endParaRPr lang="en-US" sz="615" dirty="0"/>
          </a:p>
        </p:txBody>
      </p:sp>
      <p:sp>
        <p:nvSpPr>
          <p:cNvPr id="81" name="Shape 70"/>
          <p:cNvSpPr/>
          <p:nvPr/>
        </p:nvSpPr>
        <p:spPr>
          <a:xfrm>
            <a:off x="4649724" y="4711446"/>
            <a:ext cx="96012" cy="96012"/>
          </a:xfrm>
          <a:prstGeom prst="rect">
            <a:avLst/>
          </a:prstGeom>
          <a:solidFill>
            <a:srgbClr val="1F618D"/>
          </a:solidFill>
          <a:ln w="12700">
            <a:solidFill>
              <a:srgbClr val="1F618D"/>
            </a:solidFill>
            <a:prstDash val="solid"/>
          </a:ln>
        </p:spPr>
      </p:sp>
      <p:sp>
        <p:nvSpPr>
          <p:cNvPr id="82" name="Text 71"/>
          <p:cNvSpPr/>
          <p:nvPr/>
        </p:nvSpPr>
        <p:spPr>
          <a:xfrm>
            <a:off x="4786884" y="4663440"/>
            <a:ext cx="18859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5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&amp; Testing (5.2%)</a:t>
            </a:r>
            <a:endParaRPr lang="en-US" sz="615" dirty="0"/>
          </a:p>
        </p:txBody>
      </p:sp>
      <p:sp>
        <p:nvSpPr>
          <p:cNvPr id="83" name="Shape 72"/>
          <p:cNvSpPr/>
          <p:nvPr/>
        </p:nvSpPr>
        <p:spPr>
          <a:xfrm>
            <a:off x="6707124" y="4711446"/>
            <a:ext cx="96012" cy="96012"/>
          </a:xfrm>
          <a:prstGeom prst="rect">
            <a:avLst/>
          </a:prstGeom>
          <a:solidFill>
            <a:srgbClr val="45B39D"/>
          </a:solidFill>
          <a:ln w="12700">
            <a:solidFill>
              <a:srgbClr val="45B39D"/>
            </a:solidFill>
            <a:prstDash val="solid"/>
          </a:ln>
        </p:spPr>
      </p:sp>
      <p:sp>
        <p:nvSpPr>
          <p:cNvPr id="84" name="Text 73"/>
          <p:cNvSpPr/>
          <p:nvPr/>
        </p:nvSpPr>
        <p:spPr>
          <a:xfrm>
            <a:off x="6844284" y="4663440"/>
            <a:ext cx="188595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15" dirty="0">
                <a:solidFill>
                  <a:srgbClr val="3A5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Miscellaneous (9.1%)</a:t>
            </a:r>
            <a:endParaRPr lang="en-US" sz="615" dirty="0"/>
          </a:p>
        </p:txBody>
      </p:sp>
      <p:sp>
        <p:nvSpPr>
          <p:cNvPr id="85" name="Shape 74"/>
          <p:cNvSpPr/>
          <p:nvPr/>
        </p:nvSpPr>
        <p:spPr>
          <a:xfrm>
            <a:off x="0" y="4951476"/>
            <a:ext cx="9121140" cy="192024"/>
          </a:xfrm>
          <a:prstGeom prst="rect">
            <a:avLst/>
          </a:prstGeom>
          <a:solidFill>
            <a:srgbClr val="0D2D4A"/>
          </a:solidFill>
          <a:ln w="12700">
            <a:solidFill>
              <a:srgbClr val="0D2D4A"/>
            </a:solidFill>
            <a:prstDash val="solid"/>
          </a:ln>
        </p:spPr>
      </p:sp>
      <p:sp>
        <p:nvSpPr>
          <p:cNvPr id="86" name="Text 75"/>
          <p:cNvSpPr/>
          <p:nvPr/>
        </p:nvSpPr>
        <p:spPr>
          <a:xfrm>
            <a:off x="0" y="4951476"/>
            <a:ext cx="91211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Progress Report  |  KSKV Kachchh University  |  Budget Slide</a:t>
            </a:r>
            <a:endParaRPr lang="en-US" sz="563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72D5184-FFF9-1042-1D14-2B04F2DB0415}"/>
              </a:ext>
            </a:extLst>
          </p:cNvPr>
          <p:cNvSpPr txBox="1"/>
          <p:nvPr/>
        </p:nvSpPr>
        <p:spPr>
          <a:xfrm>
            <a:off x="6358230" y="1476562"/>
            <a:ext cx="393056" cy="2192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25" dirty="0">
                <a:solidFill>
                  <a:schemeClr val="bg1">
                    <a:lumMod val="95000"/>
                  </a:schemeClr>
                </a:solidFill>
              </a:rPr>
              <a:t>9.1%</a:t>
            </a:r>
            <a:endParaRPr lang="en-IN" sz="825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(8 Months)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685800"/>
            <a:ext cx="8595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20240" y="7772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807208" y="7772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94176" y="7772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81144" y="7772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68112" y="7772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5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355080" y="7772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242048" y="7772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129016" y="777240"/>
            <a:ext cx="886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8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0040" y="11155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Literature Review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20240" y="11155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07208" y="11155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94176" y="11155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81144" y="11155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8112" y="11155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1155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42048" y="11155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29016" y="11155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65960" y="1143000"/>
            <a:ext cx="1682496" cy="219456"/>
          </a:xfrm>
          <a:prstGeom prst="roundRect">
            <a:avLst>
              <a:gd name="adj" fmla="val 16667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1143000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M1-M2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20040" y="14356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Hardware Selection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920240" y="14356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07208" y="14356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94176" y="14356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81144" y="14356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68112" y="14356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14356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42048" y="14356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29016" y="14356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52928" y="1463040"/>
            <a:ext cx="1682496" cy="219456"/>
          </a:xfrm>
          <a:prstGeom prst="roundRect">
            <a:avLst>
              <a:gd name="adj" fmla="val 16667"/>
            </a:avLst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52928" y="1463040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M2-M3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20040" y="175564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(Pilot)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1920240" y="175564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07208" y="175564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94176" y="175564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81144" y="175564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468112" y="175564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55080" y="175564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42048" y="175564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29016" y="175564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39896" y="1783080"/>
            <a:ext cx="1682496" cy="219456"/>
          </a:xfrm>
          <a:prstGeom prst="roundRect">
            <a:avLst>
              <a:gd name="adj" fmla="val 16667"/>
            </a:avLst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39896" y="1783080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M3-M4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320040" y="207568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(CV + Fatigue)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920240" y="207568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807208" y="207568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694176" y="207568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81144" y="207568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468112" y="207568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355080" y="207568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242048" y="207568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129016" y="207568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26864" y="2103120"/>
            <a:ext cx="1682496" cy="219456"/>
          </a:xfrm>
          <a:prstGeom prst="roundRect">
            <a:avLst>
              <a:gd name="adj" fmla="val 16667"/>
            </a:avLst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26864" y="2103120"/>
            <a:ext cx="16824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M4-M5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320040" y="23957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Integration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1920240" y="239572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807208" y="239572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694176" y="239572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81144" y="239572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468112" y="239572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55080" y="239572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242048" y="239572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29016" y="239572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400800" y="2423160"/>
            <a:ext cx="795528" cy="219456"/>
          </a:xfrm>
          <a:prstGeom prst="roundRect">
            <a:avLst>
              <a:gd name="adj" fmla="val 16667"/>
            </a:avLst>
          </a:prstGeom>
          <a:solidFill>
            <a:srgbClr val="2A5AA0"/>
          </a:solidFill>
          <a:ln w="12700">
            <a:solidFill>
              <a:srgbClr val="2A5AA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2423160"/>
            <a:ext cx="795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320040" y="271576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920240" y="27157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807208" y="27157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694176" y="27157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581144" y="27157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68112" y="27157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355080" y="27157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242048" y="27157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129016" y="271576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287768" y="2743200"/>
            <a:ext cx="795528" cy="219456"/>
          </a:xfrm>
          <a:prstGeom prst="roundRect">
            <a:avLst>
              <a:gd name="adj" fmla="val 16667"/>
            </a:avLst>
          </a:prstGeom>
          <a:solidFill>
            <a:srgbClr val="2A5AA0"/>
          </a:solidFill>
          <a:ln w="12700">
            <a:solidFill>
              <a:srgbClr val="2A5AA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87768" y="2743200"/>
            <a:ext cx="795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M7</a:t>
            </a:r>
            <a:endParaRPr lang="en-US" sz="750" dirty="0"/>
          </a:p>
        </p:txBody>
      </p:sp>
      <p:sp>
        <p:nvSpPr>
          <p:cNvPr id="79" name="Text 77"/>
          <p:cNvSpPr/>
          <p:nvPr/>
        </p:nvSpPr>
        <p:spPr>
          <a:xfrm>
            <a:off x="320040" y="303580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Writing &amp; Presentation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1920240" y="30358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807208" y="30358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3694176" y="30358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581144" y="30358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468112" y="30358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55080" y="30358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242048" y="30358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129016" y="3035808"/>
            <a:ext cx="886968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74736" y="3063240"/>
            <a:ext cx="795528" cy="219456"/>
          </a:xfrm>
          <a:prstGeom prst="roundRect">
            <a:avLst>
              <a:gd name="adj" fmla="val 16667"/>
            </a:avLst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174736" y="3063240"/>
            <a:ext cx="795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274320" y="3547872"/>
            <a:ext cx="8595360" cy="12146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74320" y="3611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 &amp; Deliverables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502920" y="3913632"/>
            <a:ext cx="411480" cy="41148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C0C8E0"/>
            </a:solidFill>
            <a:prstDash val="solid"/>
          </a:ln>
        </p:spPr>
      </p:sp>
      <p:pic>
        <p:nvPicPr>
          <p:cNvPr id="9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986784"/>
            <a:ext cx="256032" cy="256032"/>
          </a:xfrm>
          <a:prstGeom prst="rect">
            <a:avLst/>
          </a:prstGeom>
        </p:spPr>
      </p:pic>
      <p:sp>
        <p:nvSpPr>
          <p:cNvPr id="94" name="Text 91"/>
          <p:cNvSpPr/>
          <p:nvPr/>
        </p:nvSpPr>
        <p:spPr>
          <a:xfrm>
            <a:off x="393192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700" dirty="0"/>
          </a:p>
        </p:txBody>
      </p:sp>
      <p:sp>
        <p:nvSpPr>
          <p:cNvPr id="95" name="Shape 92"/>
          <p:cNvSpPr/>
          <p:nvPr/>
        </p:nvSpPr>
        <p:spPr>
          <a:xfrm>
            <a:off x="1709928" y="3913632"/>
            <a:ext cx="411480" cy="41148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C0C8E0"/>
            </a:solidFill>
            <a:prstDash val="solid"/>
          </a:ln>
        </p:spPr>
      </p:sp>
      <p:pic>
        <p:nvPicPr>
          <p:cNvPr id="9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986784"/>
            <a:ext cx="256032" cy="256032"/>
          </a:xfrm>
          <a:prstGeom prst="rect">
            <a:avLst/>
          </a:prstGeom>
        </p:spPr>
      </p:pic>
      <p:sp>
        <p:nvSpPr>
          <p:cNvPr id="97" name="Text 93"/>
          <p:cNvSpPr/>
          <p:nvPr/>
        </p:nvSpPr>
        <p:spPr>
          <a:xfrm>
            <a:off x="1600200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Finalized</a:t>
            </a:r>
            <a:endParaRPr lang="en-US" sz="700" dirty="0"/>
          </a:p>
        </p:txBody>
      </p:sp>
      <p:sp>
        <p:nvSpPr>
          <p:cNvPr id="98" name="Shape 94"/>
          <p:cNvSpPr/>
          <p:nvPr/>
        </p:nvSpPr>
        <p:spPr>
          <a:xfrm>
            <a:off x="2916936" y="3913632"/>
            <a:ext cx="411480" cy="41148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C0C8E0"/>
            </a:solidFill>
            <a:prstDash val="solid"/>
          </a:ln>
        </p:spPr>
      </p:sp>
      <p:pic>
        <p:nvPicPr>
          <p:cNvPr id="9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088" y="3986784"/>
            <a:ext cx="256032" cy="256032"/>
          </a:xfrm>
          <a:prstGeom prst="rect">
            <a:avLst/>
          </a:prstGeom>
        </p:spPr>
      </p:pic>
      <p:sp>
        <p:nvSpPr>
          <p:cNvPr id="100" name="Text 95"/>
          <p:cNvSpPr/>
          <p:nvPr/>
        </p:nvSpPr>
        <p:spPr>
          <a:xfrm>
            <a:off x="2807208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700" dirty="0"/>
          </a:p>
        </p:txBody>
      </p:sp>
      <p:sp>
        <p:nvSpPr>
          <p:cNvPr id="101" name="Shape 96"/>
          <p:cNvSpPr/>
          <p:nvPr/>
        </p:nvSpPr>
        <p:spPr>
          <a:xfrm>
            <a:off x="4123944" y="3913632"/>
            <a:ext cx="411480" cy="41148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C0C8E0"/>
            </a:solidFill>
            <a:prstDash val="solid"/>
          </a:ln>
        </p:spPr>
      </p:sp>
      <p:pic>
        <p:nvPicPr>
          <p:cNvPr id="10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7096" y="3986784"/>
            <a:ext cx="256032" cy="256032"/>
          </a:xfrm>
          <a:prstGeom prst="rect">
            <a:avLst/>
          </a:prstGeom>
        </p:spPr>
      </p:pic>
      <p:sp>
        <p:nvSpPr>
          <p:cNvPr id="103" name="Text 97"/>
          <p:cNvSpPr/>
          <p:nvPr/>
        </p:nvSpPr>
        <p:spPr>
          <a:xfrm>
            <a:off x="4014216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Trained</a:t>
            </a:r>
            <a:endParaRPr lang="en-US" sz="700" dirty="0"/>
          </a:p>
        </p:txBody>
      </p:sp>
      <p:sp>
        <p:nvSpPr>
          <p:cNvPr id="104" name="Shape 98"/>
          <p:cNvSpPr/>
          <p:nvPr/>
        </p:nvSpPr>
        <p:spPr>
          <a:xfrm>
            <a:off x="5330952" y="3913632"/>
            <a:ext cx="411480" cy="41148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C0C8E0"/>
            </a:solidFill>
            <a:prstDash val="solid"/>
          </a:ln>
        </p:spPr>
      </p:sp>
      <p:pic>
        <p:nvPicPr>
          <p:cNvPr id="10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4104" y="3986784"/>
            <a:ext cx="256032" cy="256032"/>
          </a:xfrm>
          <a:prstGeom prst="rect">
            <a:avLst/>
          </a:prstGeom>
        </p:spPr>
      </p:pic>
      <p:sp>
        <p:nvSpPr>
          <p:cNvPr id="106" name="Text 99"/>
          <p:cNvSpPr/>
          <p:nvPr/>
        </p:nvSpPr>
        <p:spPr>
          <a:xfrm>
            <a:off x="5221224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700" dirty="0"/>
          </a:p>
        </p:txBody>
      </p:sp>
      <p:sp>
        <p:nvSpPr>
          <p:cNvPr id="107" name="Shape 100"/>
          <p:cNvSpPr/>
          <p:nvPr/>
        </p:nvSpPr>
        <p:spPr>
          <a:xfrm>
            <a:off x="6537960" y="3913632"/>
            <a:ext cx="411480" cy="41148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C0C8E0"/>
            </a:solidFill>
            <a:prstDash val="solid"/>
          </a:ln>
        </p:spPr>
      </p:sp>
      <p:pic>
        <p:nvPicPr>
          <p:cNvPr id="10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1112" y="3986784"/>
            <a:ext cx="256032" cy="256032"/>
          </a:xfrm>
          <a:prstGeom prst="rect">
            <a:avLst/>
          </a:prstGeom>
        </p:spPr>
      </p:pic>
      <p:sp>
        <p:nvSpPr>
          <p:cNvPr id="109" name="Text 101"/>
          <p:cNvSpPr/>
          <p:nvPr/>
        </p:nvSpPr>
        <p:spPr>
          <a:xfrm>
            <a:off x="6428232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Validated</a:t>
            </a:r>
            <a:endParaRPr lang="en-US" sz="700" dirty="0"/>
          </a:p>
        </p:txBody>
      </p:sp>
      <p:sp>
        <p:nvSpPr>
          <p:cNvPr id="110" name="Shape 102"/>
          <p:cNvSpPr/>
          <p:nvPr/>
        </p:nvSpPr>
        <p:spPr>
          <a:xfrm>
            <a:off x="7744968" y="3913632"/>
            <a:ext cx="411480" cy="411480"/>
          </a:xfrm>
          <a:prstGeom prst="ellipse">
            <a:avLst/>
          </a:prstGeom>
          <a:solidFill>
            <a:srgbClr val="E8ECF4"/>
          </a:solidFill>
          <a:ln w="12700">
            <a:solidFill>
              <a:srgbClr val="C0C8E0"/>
            </a:solidFill>
            <a:prstDash val="solid"/>
          </a:ln>
        </p:spPr>
      </p:sp>
      <p:pic>
        <p:nvPicPr>
          <p:cNvPr id="11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986784"/>
            <a:ext cx="256032" cy="256032"/>
          </a:xfrm>
          <a:prstGeom prst="rect">
            <a:avLst/>
          </a:prstGeom>
        </p:spPr>
      </p:pic>
      <p:sp>
        <p:nvSpPr>
          <p:cNvPr id="112" name="Text 103"/>
          <p:cNvSpPr/>
          <p:nvPr/>
        </p:nvSpPr>
        <p:spPr>
          <a:xfrm>
            <a:off x="7635240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</a:t>
            </a:r>
            <a:endParaRPr lang="en-US" sz="7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700" dirty="0"/>
          </a:p>
        </p:txBody>
      </p:sp>
      <p:sp>
        <p:nvSpPr>
          <p:cNvPr id="113" name="Shape 104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14" name="Text 105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Progress Report | KSKV Kachchh University | Page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Outcomes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8412480" cy="27432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713232"/>
            <a:ext cx="2834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822960"/>
            <a:ext cx="502920" cy="502920"/>
          </a:xfrm>
          <a:prstGeom prst="ellipse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68" y="9144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13898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Smart Spectacles Prototype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65760" y="17373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wearable device with integrated miniature cameras capable of capturing eye behavior in real-time. Complete hardware-software integration with on-device processing capabilities.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3291840" y="713232"/>
            <a:ext cx="2834640" cy="20574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822960"/>
            <a:ext cx="502920" cy="502920"/>
          </a:xfrm>
          <a:prstGeom prst="ellipse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0288" y="91440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83280" y="13898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Eye Activity Monitoring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383280" y="17373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tracking of blink frequency, gaze patterns, eye closure duration (PERCLOS), and pupil behaviors. Non-intrusive monitoring system providing second-by-second eye health insights.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6309360" y="713232"/>
            <a:ext cx="2834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498080" y="822960"/>
            <a:ext cx="502920" cy="502920"/>
          </a:xfrm>
          <a:prstGeom prst="ellipse">
            <a:avLst/>
          </a:prstGeom>
          <a:solidFill>
            <a:srgbClr val="0D9B8A"/>
          </a:solidFill>
          <a:ln w="12700">
            <a:solidFill>
              <a:srgbClr val="0D9B8A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91440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13898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AI-Derived Fatigue &amp; Stress Scores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400800" y="173736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generating personalized fatigue levels, stress indicators, and mental well-being scores. Predictive analytics with alerts for preventive health intervention.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1333500" y="2831475"/>
            <a:ext cx="3017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2651760" y="2971800"/>
            <a:ext cx="457200" cy="45720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488" y="3063240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4930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Wellness Dashboard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463040" y="380390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mobile interface displaying real-time health metrics, historical trends, and actionable insights. Personalized health nudges and break reminders to promote healthier digital habits.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4590288" y="2831475"/>
            <a:ext cx="3017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035040" y="2971800"/>
            <a:ext cx="457200" cy="457200"/>
          </a:xfrm>
          <a:prstGeom prst="ellipse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4768" y="3063240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46320" y="34930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Eye Health Solution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846320" y="3803904"/>
            <a:ext cx="2834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 scalable smart spectacles system that can assist students, professionals, and healthcare researchers in monitoring eye health and reducing digital eye strain.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274320" y="4583958"/>
            <a:ext cx="8595360" cy="270099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274320" y="4634601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Student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</a:t>
            </a:r>
            <a:endParaRPr lang="en-US" sz="750" dirty="0"/>
          </a:p>
        </p:txBody>
      </p:sp>
      <p:sp>
        <p:nvSpPr>
          <p:cNvPr id="31" name="Text 24"/>
          <p:cNvSpPr/>
          <p:nvPr/>
        </p:nvSpPr>
        <p:spPr>
          <a:xfrm>
            <a:off x="2057400" y="46268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Healthcare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750" dirty="0"/>
          </a:p>
        </p:txBody>
      </p:sp>
      <p:sp>
        <p:nvSpPr>
          <p:cNvPr id="32" name="Text 25"/>
          <p:cNvSpPr/>
          <p:nvPr/>
        </p:nvSpPr>
        <p:spPr>
          <a:xfrm>
            <a:off x="3749040" y="46268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5440680" y="46268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Data-Driven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750" dirty="0"/>
          </a:p>
        </p:txBody>
      </p:sp>
      <p:sp>
        <p:nvSpPr>
          <p:cNvPr id="34" name="Text 27"/>
          <p:cNvSpPr/>
          <p:nvPr/>
        </p:nvSpPr>
        <p:spPr>
          <a:xfrm>
            <a:off x="7132320" y="4626864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Startup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750" dirty="0"/>
          </a:p>
        </p:txBody>
      </p:sp>
      <p:sp>
        <p:nvSpPr>
          <p:cNvPr id="35" name="Shape 28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0" y="486460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SSIP Research Proposal Progress Report | KSKV Kachchh University | Page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91C532-91B4-E402-8149-1CAEF2C58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433060"/>
          </a:xfrm>
          <a:prstGeom prst="rect">
            <a:avLst/>
          </a:prstGeom>
        </p:spPr>
      </p:pic>
      <p:sp>
        <p:nvSpPr>
          <p:cNvPr id="4" name="Shape 22">
            <a:extLst>
              <a:ext uri="{FF2B5EF4-FFF2-40B4-BE49-F238E27FC236}">
                <a16:creationId xmlns:a16="http://schemas.microsoft.com/office/drawing/2014/main" id="{9B95076F-E7CE-A3CC-7615-10EBFD407963}"/>
              </a:ext>
            </a:extLst>
          </p:cNvPr>
          <p:cNvSpPr/>
          <p:nvPr/>
        </p:nvSpPr>
        <p:spPr>
          <a:xfrm>
            <a:off x="396240" y="4417256"/>
            <a:ext cx="8161020" cy="619564"/>
          </a:xfrm>
          <a:prstGeom prst="rect">
            <a:avLst/>
          </a:prstGeom>
          <a:ln w="12700">
            <a:solidFill>
              <a:srgbClr val="DDDDDD"/>
            </a:solidFill>
            <a:prstDash val="solid"/>
          </a:ln>
        </p:spPr>
        <p:style>
          <a:lnRef idx="0">
            <a:scrgbClr r="0" g="0" b="0"/>
          </a:lnRef>
          <a:fillRef idx="1002">
            <a:schemeClr val="lt1"/>
          </a:fillRef>
          <a:effectRef idx="0">
            <a:scrgbClr r="0" g="0" b="0"/>
          </a:effectRef>
          <a:fontRef idx="major"/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0EBFD6-C951-4A3D-30DE-7DCE748D30AE}"/>
              </a:ext>
            </a:extLst>
          </p:cNvPr>
          <p:cNvSpPr txBox="1"/>
          <p:nvPr/>
        </p:nvSpPr>
        <p:spPr>
          <a:xfrm>
            <a:off x="2898671" y="4688562"/>
            <a:ext cx="2839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The above are the references I have referred.</a:t>
            </a: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endParaRPr lang="en-IN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7819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1740</Words>
  <Application>Microsoft Office PowerPoint</Application>
  <PresentationFormat>On-screen Show (16:9)</PresentationFormat>
  <Paragraphs>290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AI-Based Smart Spectacles for Eye Health, Stress Monitoring, and Mental Well-Being</dc:title>
  <dc:subject>PptxGenJS Presentation</dc:subject>
  <dc:creator>PptxGenJS</dc:creator>
  <cp:lastModifiedBy>Priyankaba Jadeja</cp:lastModifiedBy>
  <cp:revision>3</cp:revision>
  <dcterms:created xsi:type="dcterms:W3CDTF">2026-03-07T04:17:41Z</dcterms:created>
  <dcterms:modified xsi:type="dcterms:W3CDTF">2026-03-07T05:17:35Z</dcterms:modified>
</cp:coreProperties>
</file>